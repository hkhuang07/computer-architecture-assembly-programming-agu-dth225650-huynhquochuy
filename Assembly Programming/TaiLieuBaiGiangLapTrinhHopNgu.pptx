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300" r:id="rId33"/>
    <p:sldId id="301" r:id="rId34"/>
    <p:sldId id="302" r:id="rId35"/>
    <p:sldId id="303" r:id="rId36"/>
    <p:sldId id="296" r:id="rId37"/>
    <p:sldId id="297" r:id="rId38"/>
    <p:sldId id="298" r:id="rId39"/>
    <p:sldId id="299" r:id="rId40"/>
    <p:sldId id="287" r:id="rId41"/>
    <p:sldId id="288" r:id="rId42"/>
    <p:sldId id="289" r:id="rId43"/>
    <p:sldId id="290" r:id="rId44"/>
    <p:sldId id="291" r:id="rId45"/>
    <p:sldId id="292" r:id="rId46"/>
    <p:sldId id="293" r:id="rId47"/>
    <p:sldId id="294" r:id="rId48"/>
    <p:sldId id="295" r:id="rId4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F7D6C-19BE-4D36-A8ED-EAC62A7BE8AA}" type="datetimeFigureOut">
              <a:rPr lang="en-US" smtClean="0"/>
              <a:t>23/01/2014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231F2-57C4-4EF2-820C-9BF1B4E67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8691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F7D6C-19BE-4D36-A8ED-EAC62A7BE8AA}" type="datetimeFigureOut">
              <a:rPr lang="en-US" smtClean="0"/>
              <a:t>23/01/2014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231F2-57C4-4EF2-820C-9BF1B4E67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0616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F7D6C-19BE-4D36-A8ED-EAC62A7BE8AA}" type="datetimeFigureOut">
              <a:rPr lang="en-US" smtClean="0"/>
              <a:t>23/01/2014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231F2-57C4-4EF2-820C-9BF1B4E67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1586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F7D6C-19BE-4D36-A8ED-EAC62A7BE8AA}" type="datetimeFigureOut">
              <a:rPr lang="en-US" smtClean="0"/>
              <a:t>23/01/2014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231F2-57C4-4EF2-820C-9BF1B4E67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9191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F7D6C-19BE-4D36-A8ED-EAC62A7BE8AA}" type="datetimeFigureOut">
              <a:rPr lang="en-US" smtClean="0"/>
              <a:t>23/01/2014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231F2-57C4-4EF2-820C-9BF1B4E67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1449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F7D6C-19BE-4D36-A8ED-EAC62A7BE8AA}" type="datetimeFigureOut">
              <a:rPr lang="en-US" smtClean="0"/>
              <a:t>23/01/2014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231F2-57C4-4EF2-820C-9BF1B4E67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3182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F7D6C-19BE-4D36-A8ED-EAC62A7BE8AA}" type="datetimeFigureOut">
              <a:rPr lang="en-US" smtClean="0"/>
              <a:t>23/01/2014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231F2-57C4-4EF2-820C-9BF1B4E67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6705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F7D6C-19BE-4D36-A8ED-EAC62A7BE8AA}" type="datetimeFigureOut">
              <a:rPr lang="en-US" smtClean="0"/>
              <a:t>23/01/2014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231F2-57C4-4EF2-820C-9BF1B4E67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063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F7D6C-19BE-4D36-A8ED-EAC62A7BE8AA}" type="datetimeFigureOut">
              <a:rPr lang="en-US" smtClean="0"/>
              <a:t>23/01/2014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231F2-57C4-4EF2-820C-9BF1B4E67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9371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F7D6C-19BE-4D36-A8ED-EAC62A7BE8AA}" type="datetimeFigureOut">
              <a:rPr lang="en-US" smtClean="0"/>
              <a:t>23/01/2014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231F2-57C4-4EF2-820C-9BF1B4E67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6952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F7D6C-19BE-4D36-A8ED-EAC62A7BE8AA}" type="datetimeFigureOut">
              <a:rPr lang="en-US" smtClean="0"/>
              <a:t>23/01/2014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231F2-57C4-4EF2-820C-9BF1B4E67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612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4F7D6C-19BE-4D36-A8ED-EAC62A7BE8AA}" type="datetimeFigureOut">
              <a:rPr lang="en-US" smtClean="0"/>
              <a:t>23/01/2014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A231F2-57C4-4EF2-820C-9BF1B4E67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6523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LẬP TRÌNH HỢP NGỮ MIPS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0223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8077200" cy="1470025"/>
          </a:xfrm>
        </p:spPr>
        <p:txBody>
          <a:bodyPr>
            <a:normAutofit fontScale="90000"/>
          </a:bodyPr>
          <a:lstStyle/>
          <a:p>
            <a:pPr lvl="0"/>
            <a:r>
              <a:rPr lang="en-US" dirty="0" err="1" smtClean="0"/>
              <a:t>Cấu</a:t>
            </a:r>
            <a:r>
              <a:rPr lang="en-US" dirty="0" smtClean="0"/>
              <a:t> </a:t>
            </a:r>
            <a:r>
              <a:rPr lang="en-US" dirty="0" err="1" smtClean="0"/>
              <a:t>trúc</a:t>
            </a:r>
            <a:r>
              <a:rPr lang="en-US" dirty="0" smtClean="0"/>
              <a:t> </a:t>
            </a:r>
            <a:r>
              <a:rPr lang="en-US" dirty="0" err="1" smtClean="0"/>
              <a:t>chương</a:t>
            </a:r>
            <a:r>
              <a:rPr lang="en-US" dirty="0" smtClean="0"/>
              <a:t> </a:t>
            </a:r>
            <a:r>
              <a:rPr lang="en-US" dirty="0" err="1" smtClean="0"/>
              <a:t>trình</a:t>
            </a:r>
            <a:r>
              <a:rPr lang="en-US" dirty="0" smtClean="0"/>
              <a:t> </a:t>
            </a:r>
            <a:r>
              <a:rPr lang="en-US" dirty="0" err="1" smtClean="0"/>
              <a:t>hợp</a:t>
            </a:r>
            <a:r>
              <a:rPr lang="en-US" dirty="0" smtClean="0"/>
              <a:t> </a:t>
            </a:r>
            <a:r>
              <a:rPr lang="en-US" dirty="0" err="1" smtClean="0"/>
              <a:t>ngữ</a:t>
            </a:r>
            <a:r>
              <a:rPr lang="en-US" dirty="0" smtClean="0"/>
              <a:t> MIPS: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286000"/>
            <a:ext cx="6553200" cy="2971800"/>
          </a:xfrm>
        </p:spPr>
        <p:txBody>
          <a:bodyPr>
            <a:normAutofit fontScale="92500"/>
          </a:bodyPr>
          <a:lstStyle/>
          <a:p>
            <a:pPr algn="l"/>
            <a:r>
              <a:rPr lang="en-US" dirty="0" smtClean="0"/>
              <a:t>.</a:t>
            </a:r>
            <a:r>
              <a:rPr lang="en-US" dirty="0"/>
              <a:t>data	# </a:t>
            </a:r>
            <a:r>
              <a:rPr lang="en-US" dirty="0" err="1"/>
              <a:t>khai</a:t>
            </a:r>
            <a:r>
              <a:rPr lang="en-US" dirty="0"/>
              <a:t> </a:t>
            </a:r>
            <a:r>
              <a:rPr lang="en-US" dirty="0" err="1"/>
              <a:t>báo</a:t>
            </a:r>
            <a:r>
              <a:rPr lang="en-US" dirty="0"/>
              <a:t> </a:t>
            </a:r>
            <a:r>
              <a:rPr lang="en-US" dirty="0" err="1"/>
              <a:t>biến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thị</a:t>
            </a:r>
            <a:r>
              <a:rPr lang="en-US" dirty="0"/>
              <a:t> </a:t>
            </a:r>
            <a:r>
              <a:rPr lang="en-US" dirty="0" err="1"/>
              <a:t>này</a:t>
            </a:r>
            <a:endParaRPr lang="en-US" dirty="0"/>
          </a:p>
          <a:p>
            <a:pPr algn="l"/>
            <a:r>
              <a:rPr lang="en-US" dirty="0"/>
              <a:t>...</a:t>
            </a:r>
          </a:p>
          <a:p>
            <a:pPr algn="l"/>
            <a:r>
              <a:rPr lang="en-US" dirty="0"/>
              <a:t>.text	# </a:t>
            </a:r>
            <a:r>
              <a:rPr lang="en-US" dirty="0" err="1"/>
              <a:t>viết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lệnh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thị</a:t>
            </a:r>
            <a:r>
              <a:rPr lang="en-US" dirty="0"/>
              <a:t> </a:t>
            </a:r>
            <a:r>
              <a:rPr lang="en-US" dirty="0" err="1"/>
              <a:t>này</a:t>
            </a:r>
            <a:endParaRPr lang="en-US" dirty="0"/>
          </a:p>
          <a:p>
            <a:pPr algn="l"/>
            <a:r>
              <a:rPr lang="en-US" dirty="0"/>
              <a:t>main:	# </a:t>
            </a:r>
            <a:r>
              <a:rPr lang="en-US" dirty="0" err="1"/>
              <a:t>điểm</a:t>
            </a:r>
            <a:r>
              <a:rPr lang="en-US" dirty="0"/>
              <a:t> </a:t>
            </a:r>
            <a:r>
              <a:rPr lang="en-US" dirty="0" err="1"/>
              <a:t>bắt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chương</a:t>
            </a:r>
            <a:r>
              <a:rPr lang="en-US" dirty="0"/>
              <a:t> </a:t>
            </a:r>
            <a:r>
              <a:rPr lang="en-US" dirty="0" err="1"/>
              <a:t>trình</a:t>
            </a:r>
            <a:endParaRPr lang="en-US" dirty="0"/>
          </a:p>
          <a:p>
            <a:pPr algn="l"/>
            <a:r>
              <a:rPr lang="en-US" dirty="0"/>
              <a:t>…</a:t>
            </a: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99798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57200"/>
            <a:ext cx="7772400" cy="1470025"/>
          </a:xfrm>
        </p:spPr>
        <p:txBody>
          <a:bodyPr/>
          <a:lstStyle/>
          <a:p>
            <a:r>
              <a:rPr lang="en-US" dirty="0" err="1" smtClean="0"/>
              <a:t>Khai</a:t>
            </a:r>
            <a:r>
              <a:rPr lang="en-US" dirty="0" smtClean="0"/>
              <a:t> </a:t>
            </a:r>
            <a:r>
              <a:rPr lang="en-US" dirty="0" err="1"/>
              <a:t>báo</a:t>
            </a:r>
            <a:r>
              <a:rPr lang="en-US" dirty="0"/>
              <a:t> </a:t>
            </a:r>
            <a:r>
              <a:rPr lang="en-US" dirty="0" err="1"/>
              <a:t>biến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0" y="2209800"/>
            <a:ext cx="8534400" cy="3962400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en-US" dirty="0" err="1"/>
              <a:t>tên_biến</a:t>
            </a:r>
            <a:r>
              <a:rPr lang="en-US" dirty="0"/>
              <a:t>: </a:t>
            </a:r>
            <a:r>
              <a:rPr lang="en-US" dirty="0" err="1"/>
              <a:t>kiểu_lưu_trữ_giá_trị</a:t>
            </a:r>
            <a:endParaRPr lang="en-US" dirty="0"/>
          </a:p>
          <a:p>
            <a:pPr algn="l"/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kiểu</a:t>
            </a:r>
            <a:r>
              <a:rPr lang="en-US" dirty="0"/>
              <a:t> </a:t>
            </a:r>
            <a:r>
              <a:rPr lang="en-US" dirty="0" err="1"/>
              <a:t>lưu</a:t>
            </a:r>
            <a:r>
              <a:rPr lang="en-US" dirty="0"/>
              <a:t> </a:t>
            </a:r>
            <a:r>
              <a:rPr lang="en-US" dirty="0" err="1"/>
              <a:t>trữ</a:t>
            </a:r>
            <a:r>
              <a:rPr lang="en-US" dirty="0"/>
              <a:t> </a:t>
            </a:r>
            <a:r>
              <a:rPr lang="en-US" dirty="0" err="1"/>
              <a:t>hỗ</a:t>
            </a:r>
            <a:r>
              <a:rPr lang="en-US" dirty="0"/>
              <a:t> </a:t>
            </a:r>
            <a:r>
              <a:rPr lang="en-US" dirty="0" err="1"/>
              <a:t>trợ</a:t>
            </a:r>
            <a:r>
              <a:rPr lang="en-US" dirty="0"/>
              <a:t>: .word, .byte, .</a:t>
            </a:r>
            <a:r>
              <a:rPr lang="en-US" dirty="0" err="1"/>
              <a:t>ascii</a:t>
            </a:r>
            <a:r>
              <a:rPr lang="en-US" dirty="0"/>
              <a:t>, .</a:t>
            </a:r>
            <a:r>
              <a:rPr lang="en-US" dirty="0" err="1"/>
              <a:t>asciiz</a:t>
            </a:r>
            <a:r>
              <a:rPr lang="en-US" dirty="0"/>
              <a:t>, .space</a:t>
            </a:r>
          </a:p>
          <a:p>
            <a:pPr algn="l"/>
            <a:r>
              <a:rPr lang="en-US" dirty="0" err="1"/>
              <a:t>Lưu</a:t>
            </a:r>
            <a:r>
              <a:rPr lang="en-US" dirty="0"/>
              <a:t> ý:tên_biến (</a:t>
            </a:r>
            <a:r>
              <a:rPr lang="en-US" dirty="0" err="1"/>
              <a:t>nhãn</a:t>
            </a:r>
            <a:r>
              <a:rPr lang="en-US" dirty="0"/>
              <a:t>) </a:t>
            </a:r>
            <a:r>
              <a:rPr lang="en-US" dirty="0" err="1"/>
              <a:t>phải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bởi</a:t>
            </a:r>
            <a:r>
              <a:rPr lang="en-US" dirty="0"/>
              <a:t> </a:t>
            </a:r>
            <a:r>
              <a:rPr lang="en-US" dirty="0" err="1"/>
              <a:t>dấu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chấm</a:t>
            </a:r>
            <a:r>
              <a:rPr lang="en-US" dirty="0"/>
              <a:t> (:)</a:t>
            </a:r>
          </a:p>
          <a:p>
            <a:pPr algn="l"/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:</a:t>
            </a:r>
          </a:p>
          <a:p>
            <a:pPr algn="l"/>
            <a:r>
              <a:rPr lang="en-US" dirty="0"/>
              <a:t>var1: .word	3	 #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nguyên</a:t>
            </a:r>
            <a:r>
              <a:rPr lang="en-US" dirty="0"/>
              <a:t> 4-byte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khởi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3</a:t>
            </a:r>
          </a:p>
          <a:p>
            <a:pPr algn="l"/>
            <a:r>
              <a:rPr lang="en-US" dirty="0"/>
              <a:t>var2: .byte	’</a:t>
            </a:r>
            <a:r>
              <a:rPr lang="en-US" dirty="0" err="1"/>
              <a:t>a’,’b</a:t>
            </a:r>
            <a:r>
              <a:rPr lang="en-US" dirty="0"/>
              <a:t>’ # </a:t>
            </a:r>
            <a:r>
              <a:rPr lang="en-US" dirty="0" err="1"/>
              <a:t>mảng</a:t>
            </a:r>
            <a:r>
              <a:rPr lang="en-US" dirty="0"/>
              <a:t> 2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tử</a:t>
            </a:r>
            <a:r>
              <a:rPr lang="en-US" dirty="0"/>
              <a:t>, </a:t>
            </a:r>
            <a:r>
              <a:rPr lang="en-US" dirty="0" err="1"/>
              <a:t>khởi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a </a:t>
            </a:r>
            <a:r>
              <a:rPr lang="en-US" dirty="0" err="1"/>
              <a:t>và</a:t>
            </a:r>
            <a:r>
              <a:rPr lang="en-US" dirty="0"/>
              <a:t> b</a:t>
            </a:r>
          </a:p>
          <a:p>
            <a:pPr algn="l"/>
            <a:r>
              <a:rPr lang="en-US" dirty="0"/>
              <a:t>var3: .space	40	# </a:t>
            </a:r>
            <a:r>
              <a:rPr lang="en-US" dirty="0" err="1"/>
              <a:t>cấp</a:t>
            </a:r>
            <a:r>
              <a:rPr lang="en-US" dirty="0"/>
              <a:t> 40-byte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nhớ</a:t>
            </a:r>
            <a:r>
              <a:rPr lang="en-US" dirty="0"/>
              <a:t>, </a:t>
            </a:r>
            <a:r>
              <a:rPr lang="en-US" dirty="0" err="1"/>
              <a:t>chưa</a:t>
            </a:r>
            <a:r>
              <a:rPr lang="en-US" dirty="0"/>
              <a:t> được </a:t>
            </a:r>
            <a:r>
              <a:rPr lang="en-US" dirty="0" err="1"/>
              <a:t>khởi</a:t>
            </a:r>
            <a:r>
              <a:rPr lang="en-US" dirty="0"/>
              <a:t> </a:t>
            </a:r>
            <a:r>
              <a:rPr lang="en-US" dirty="0" err="1"/>
              <a:t>tạo</a:t>
            </a:r>
            <a:endParaRPr lang="en-US" dirty="0"/>
          </a:p>
          <a:p>
            <a:pPr algn="l"/>
            <a:r>
              <a:rPr lang="en-US" dirty="0" err="1"/>
              <a:t>char_array</a:t>
            </a:r>
            <a:r>
              <a:rPr lang="en-US" dirty="0"/>
              <a:t>: 	.byte	'A':10	# </a:t>
            </a:r>
            <a:r>
              <a:rPr lang="en-US" dirty="0" err="1"/>
              <a:t>mảng</a:t>
            </a:r>
            <a:r>
              <a:rPr lang="en-US" dirty="0"/>
              <a:t> 10 </a:t>
            </a:r>
            <a:r>
              <a:rPr lang="en-US" dirty="0" err="1"/>
              <a:t>ký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được </a:t>
            </a:r>
            <a:r>
              <a:rPr lang="en-US" dirty="0" err="1"/>
              <a:t>khởi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'A',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thay</a:t>
            </a:r>
            <a:r>
              <a:rPr lang="en-US" dirty="0"/>
              <a:t> 'A' </a:t>
            </a:r>
            <a:r>
              <a:rPr lang="en-US" dirty="0" err="1"/>
              <a:t>bằng</a:t>
            </a:r>
            <a:r>
              <a:rPr lang="en-US" dirty="0"/>
              <a:t> 65</a:t>
            </a:r>
          </a:p>
          <a:p>
            <a:pPr algn="l"/>
            <a:r>
              <a:rPr lang="en-US" dirty="0" err="1"/>
              <a:t>int_array</a:t>
            </a:r>
            <a:r>
              <a:rPr lang="en-US" dirty="0"/>
              <a:t>:	.word	0:30	# </a:t>
            </a:r>
            <a:r>
              <a:rPr lang="en-US" dirty="0" err="1"/>
              <a:t>mảng</a:t>
            </a:r>
            <a:r>
              <a:rPr lang="en-US" dirty="0"/>
              <a:t> 30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nguyên</a:t>
            </a:r>
            <a:r>
              <a:rPr lang="en-US" dirty="0"/>
              <a:t> được </a:t>
            </a:r>
            <a:r>
              <a:rPr lang="en-US" dirty="0" err="1"/>
              <a:t>khởi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0</a:t>
            </a:r>
          </a:p>
        </p:txBody>
      </p:sp>
    </p:spTree>
    <p:extLst>
      <p:ext uri="{BB962C8B-B14F-4D97-AF65-F5344CB8AC3E}">
        <p14:creationId xmlns:p14="http://schemas.microsoft.com/office/powerpoint/2010/main" val="9732996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381000"/>
            <a:ext cx="7772400" cy="1470025"/>
          </a:xfrm>
        </p:spPr>
        <p:txBody>
          <a:bodyPr/>
          <a:lstStyle/>
          <a:p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thanh</a:t>
            </a:r>
            <a:r>
              <a:rPr lang="en-US" dirty="0"/>
              <a:t> </a:t>
            </a:r>
            <a:r>
              <a:rPr lang="en-US" dirty="0" err="1"/>
              <a:t>ghi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MIPS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1676400"/>
            <a:ext cx="8153400" cy="4114800"/>
          </a:xfrm>
        </p:spPr>
        <p:txBody>
          <a:bodyPr/>
          <a:lstStyle/>
          <a:p>
            <a:pPr marL="457200" indent="-457200" algn="l">
              <a:buFont typeface="Wingdings" pitchFamily="2" charset="2"/>
              <a:buChar char="Ø"/>
            </a:pP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thanh</a:t>
            </a:r>
            <a:r>
              <a:rPr lang="en-US" dirty="0"/>
              <a:t> </a:t>
            </a:r>
            <a:r>
              <a:rPr lang="en-US" dirty="0" err="1"/>
              <a:t>ghi</a:t>
            </a:r>
            <a:r>
              <a:rPr lang="en-US" dirty="0"/>
              <a:t> </a:t>
            </a:r>
            <a:r>
              <a:rPr lang="en-US" dirty="0" err="1"/>
              <a:t>đa</a:t>
            </a:r>
            <a:r>
              <a:rPr lang="en-US" dirty="0"/>
              <a:t> </a:t>
            </a:r>
            <a:r>
              <a:rPr lang="en-US" dirty="0" err="1"/>
              <a:t>năng</a:t>
            </a:r>
            <a:endParaRPr lang="en-US" dirty="0"/>
          </a:p>
        </p:txBody>
      </p:sp>
      <p:pic>
        <p:nvPicPr>
          <p:cNvPr id="4" name="Picture 3"/>
          <p:cNvPicPr/>
          <p:nvPr/>
        </p:nvPicPr>
        <p:blipFill rotWithShape="1">
          <a:blip r:embed="rId2"/>
          <a:srcRect l="11218" t="22650" r="9775" b="22863"/>
          <a:stretch/>
        </p:blipFill>
        <p:spPr bwMode="auto">
          <a:xfrm>
            <a:off x="1447800" y="2514600"/>
            <a:ext cx="5801591" cy="37338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7998096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381000"/>
            <a:ext cx="7772400" cy="1470025"/>
          </a:xfrm>
        </p:spPr>
        <p:txBody>
          <a:bodyPr/>
          <a:lstStyle/>
          <a:p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thanh</a:t>
            </a:r>
            <a:r>
              <a:rPr lang="en-US" dirty="0"/>
              <a:t> </a:t>
            </a:r>
            <a:r>
              <a:rPr lang="en-US" dirty="0" err="1"/>
              <a:t>ghi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MIPS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1676400"/>
            <a:ext cx="8153400" cy="4800600"/>
          </a:xfrm>
        </p:spPr>
        <p:txBody>
          <a:bodyPr>
            <a:normAutofit fontScale="77500" lnSpcReduction="20000"/>
          </a:bodyPr>
          <a:lstStyle/>
          <a:p>
            <a:pPr marL="457200" indent="-457200" algn="l">
              <a:buFont typeface="Wingdings" pitchFamily="2" charset="2"/>
              <a:buChar char="Ø"/>
            </a:pPr>
            <a:r>
              <a:rPr lang="en-US" dirty="0" err="1"/>
              <a:t>Thanh</a:t>
            </a:r>
            <a:r>
              <a:rPr lang="en-US" dirty="0"/>
              <a:t> </a:t>
            </a:r>
            <a:r>
              <a:rPr lang="en-US" dirty="0" err="1"/>
              <a:t>ghi</a:t>
            </a:r>
            <a:r>
              <a:rPr lang="en-US" dirty="0"/>
              <a:t> HI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smtClean="0"/>
              <a:t>LO</a:t>
            </a:r>
          </a:p>
          <a:p>
            <a:pPr algn="l"/>
            <a:endParaRPr lang="en-US" dirty="0" smtClean="0"/>
          </a:p>
          <a:p>
            <a:pPr algn="l"/>
            <a:endParaRPr lang="en-US" dirty="0"/>
          </a:p>
          <a:p>
            <a:pPr algn="l"/>
            <a:endParaRPr lang="en-US" dirty="0" smtClean="0"/>
          </a:p>
          <a:p>
            <a:pPr marL="457200" indent="-457200" algn="l">
              <a:buFont typeface="Wingdings" pitchFamily="2" charset="2"/>
              <a:buChar char="Ø"/>
            </a:pPr>
            <a:endParaRPr lang="en-US" dirty="0" smtClean="0"/>
          </a:p>
          <a:p>
            <a:pPr marL="457200" indent="-457200" algn="l">
              <a:buFont typeface="Wingdings" pitchFamily="2" charset="2"/>
              <a:buChar char="Ø"/>
            </a:pPr>
            <a:endParaRPr lang="en-US" dirty="0"/>
          </a:p>
          <a:p>
            <a:pPr marL="457200" indent="-457200" algn="l">
              <a:buFont typeface="Wingdings" pitchFamily="2" charset="2"/>
              <a:buChar char="Ø"/>
            </a:pPr>
            <a:r>
              <a:rPr lang="en-US" dirty="0" err="1" smtClean="0"/>
              <a:t>Thanh</a:t>
            </a:r>
            <a:r>
              <a:rPr lang="en-US" dirty="0" smtClean="0"/>
              <a:t> </a:t>
            </a:r>
            <a:r>
              <a:rPr lang="en-US" dirty="0" err="1"/>
              <a:t>ghi</a:t>
            </a:r>
            <a:r>
              <a:rPr lang="en-US" dirty="0"/>
              <a:t> </a:t>
            </a:r>
            <a:r>
              <a:rPr lang="en-US" dirty="0" err="1"/>
              <a:t>dấu</a:t>
            </a:r>
            <a:r>
              <a:rPr lang="en-US" dirty="0"/>
              <a:t> </a:t>
            </a:r>
            <a:r>
              <a:rPr lang="en-US" dirty="0" err="1"/>
              <a:t>phẩy</a:t>
            </a:r>
            <a:r>
              <a:rPr lang="en-US" dirty="0"/>
              <a:t> </a:t>
            </a:r>
            <a:r>
              <a:rPr lang="en-US" dirty="0" err="1" smtClean="0"/>
              <a:t>động</a:t>
            </a:r>
            <a:endParaRPr lang="en-US" dirty="0" smtClean="0"/>
          </a:p>
          <a:p>
            <a:pPr algn="l"/>
            <a:r>
              <a:rPr lang="en-US" dirty="0"/>
              <a:t>MIPS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32 </a:t>
            </a:r>
            <a:r>
              <a:rPr lang="en-US" dirty="0" err="1"/>
              <a:t>thanh</a:t>
            </a:r>
            <a:r>
              <a:rPr lang="en-US" dirty="0"/>
              <a:t> </a:t>
            </a:r>
            <a:r>
              <a:rPr lang="en-US" dirty="0" err="1"/>
              <a:t>ghi</a:t>
            </a:r>
            <a:r>
              <a:rPr lang="en-US" dirty="0"/>
              <a:t> </a:t>
            </a:r>
            <a:r>
              <a:rPr lang="en-US" dirty="0" err="1"/>
              <a:t>dấu</a:t>
            </a:r>
            <a:r>
              <a:rPr lang="en-US" dirty="0"/>
              <a:t> </a:t>
            </a:r>
            <a:r>
              <a:rPr lang="en-US" dirty="0" err="1"/>
              <a:t>phẩy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biểu</a:t>
            </a:r>
            <a:r>
              <a:rPr lang="en-US" dirty="0"/>
              <a:t> </a:t>
            </a:r>
            <a:r>
              <a:rPr lang="en-US" dirty="0" err="1"/>
              <a:t>diễn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chính</a:t>
            </a:r>
            <a:r>
              <a:rPr lang="en-US" dirty="0"/>
              <a:t> </a:t>
            </a:r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đơn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.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thanh</a:t>
            </a:r>
            <a:r>
              <a:rPr lang="en-US" dirty="0"/>
              <a:t> </a:t>
            </a:r>
            <a:r>
              <a:rPr lang="en-US" dirty="0" err="1"/>
              <a:t>ghi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tên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: $f0 – $f31.</a:t>
            </a:r>
          </a:p>
          <a:p>
            <a:pPr algn="l"/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biểu</a:t>
            </a:r>
            <a:r>
              <a:rPr lang="en-US" dirty="0"/>
              <a:t> </a:t>
            </a:r>
            <a:r>
              <a:rPr lang="en-US" dirty="0" err="1"/>
              <a:t>diễn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chính</a:t>
            </a:r>
            <a:r>
              <a:rPr lang="en-US" dirty="0"/>
              <a:t> </a:t>
            </a:r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kép</a:t>
            </a:r>
            <a:r>
              <a:rPr lang="en-US" dirty="0"/>
              <a:t> (double precision) </a:t>
            </a:r>
            <a:r>
              <a:rPr lang="en-US" dirty="0" err="1"/>
              <a:t>thì</a:t>
            </a:r>
            <a:r>
              <a:rPr lang="en-US" dirty="0"/>
              <a:t> MIPS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sự</a:t>
            </a:r>
            <a:r>
              <a:rPr lang="en-US" dirty="0"/>
              <a:t> </a:t>
            </a:r>
            <a:r>
              <a:rPr lang="en-US" dirty="0" err="1"/>
              <a:t>ghép</a:t>
            </a:r>
            <a:r>
              <a:rPr lang="en-US" dirty="0"/>
              <a:t> </a:t>
            </a:r>
            <a:r>
              <a:rPr lang="en-US" dirty="0" err="1"/>
              <a:t>đôi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2 </a:t>
            </a:r>
            <a:r>
              <a:rPr lang="en-US" dirty="0" err="1"/>
              <a:t>thanh</a:t>
            </a:r>
            <a:r>
              <a:rPr lang="en-US" dirty="0"/>
              <a:t> </a:t>
            </a:r>
            <a:r>
              <a:rPr lang="en-US" dirty="0" err="1"/>
              <a:t>ghi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chính</a:t>
            </a:r>
            <a:r>
              <a:rPr lang="en-US" dirty="0"/>
              <a:t> </a:t>
            </a:r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đơn</a:t>
            </a:r>
            <a:r>
              <a:rPr lang="en-US" dirty="0"/>
              <a:t>.</a:t>
            </a:r>
          </a:p>
        </p:txBody>
      </p:sp>
      <p:pic>
        <p:nvPicPr>
          <p:cNvPr id="5" name="Picture 4"/>
          <p:cNvPicPr/>
          <p:nvPr/>
        </p:nvPicPr>
        <p:blipFill rotWithShape="1">
          <a:blip r:embed="rId2"/>
          <a:srcRect l="27083" t="32906" r="26122" b="56197"/>
          <a:stretch/>
        </p:blipFill>
        <p:spPr bwMode="auto">
          <a:xfrm>
            <a:off x="1967345" y="2209800"/>
            <a:ext cx="5943600" cy="6858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6" name="Picture 5"/>
          <p:cNvPicPr/>
          <p:nvPr/>
        </p:nvPicPr>
        <p:blipFill rotWithShape="1">
          <a:blip r:embed="rId3"/>
          <a:srcRect l="27083" t="45086" r="25321" b="40812"/>
          <a:stretch/>
        </p:blipFill>
        <p:spPr bwMode="auto">
          <a:xfrm>
            <a:off x="2057400" y="2902527"/>
            <a:ext cx="5867400" cy="8382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5102674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381000"/>
            <a:ext cx="7772400" cy="1470025"/>
          </a:xfrm>
        </p:spPr>
        <p:txBody>
          <a:bodyPr/>
          <a:lstStyle/>
          <a:p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lệnh</a:t>
            </a:r>
            <a:r>
              <a:rPr lang="en-US" dirty="0"/>
              <a:t> </a:t>
            </a:r>
            <a:r>
              <a:rPr lang="en-US" dirty="0" err="1"/>
              <a:t>luận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(logic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800" y="1828800"/>
            <a:ext cx="6781800" cy="4419600"/>
          </a:xfrm>
        </p:spPr>
        <p:txBody>
          <a:bodyPr>
            <a:normAutofit lnSpcReduction="10000"/>
          </a:bodyPr>
          <a:lstStyle/>
          <a:p>
            <a:pPr marL="457200" indent="-457200" algn="l">
              <a:buFont typeface="Wingdings" pitchFamily="2" charset="2"/>
              <a:buChar char="§"/>
            </a:pPr>
            <a:r>
              <a:rPr lang="en-US" dirty="0" err="1"/>
              <a:t>Lệnh</a:t>
            </a:r>
            <a:r>
              <a:rPr lang="en-US" dirty="0"/>
              <a:t> or:</a:t>
            </a:r>
            <a:endParaRPr lang="en-US" sz="2400" dirty="0"/>
          </a:p>
          <a:p>
            <a:pPr algn="l"/>
            <a:r>
              <a:rPr lang="fr-FR" dirty="0"/>
              <a:t>or  d, s, </a:t>
            </a:r>
            <a:r>
              <a:rPr lang="fr-FR" dirty="0" smtClean="0"/>
              <a:t>t</a:t>
            </a:r>
          </a:p>
          <a:p>
            <a:pPr marL="457200" indent="-457200" algn="l">
              <a:buFont typeface="Wingdings" pitchFamily="2" charset="2"/>
              <a:buChar char="§"/>
            </a:pPr>
            <a:r>
              <a:rPr lang="fr-FR" dirty="0" err="1"/>
              <a:t>Lệnh</a:t>
            </a:r>
            <a:r>
              <a:rPr lang="fr-FR" dirty="0"/>
              <a:t> </a:t>
            </a:r>
            <a:r>
              <a:rPr lang="fr-FR" dirty="0" err="1"/>
              <a:t>ori</a:t>
            </a:r>
            <a:r>
              <a:rPr lang="fr-FR" dirty="0"/>
              <a:t> :</a:t>
            </a:r>
            <a:endParaRPr lang="en-US" sz="2400" dirty="0"/>
          </a:p>
          <a:p>
            <a:pPr algn="l"/>
            <a:r>
              <a:rPr lang="en-US" dirty="0" err="1"/>
              <a:t>ori</a:t>
            </a:r>
            <a:r>
              <a:rPr lang="en-US" dirty="0"/>
              <a:t>  d, s, </a:t>
            </a:r>
            <a:r>
              <a:rPr lang="en-US" dirty="0" err="1" smtClean="0"/>
              <a:t>const</a:t>
            </a:r>
            <a:endParaRPr lang="en-US" dirty="0" smtClean="0"/>
          </a:p>
          <a:p>
            <a:pPr marL="457200" indent="-457200" algn="l">
              <a:buFont typeface="Wingdings" pitchFamily="2" charset="2"/>
              <a:buChar char="§"/>
            </a:pPr>
            <a:r>
              <a:rPr lang="en-US" dirty="0" err="1" smtClean="0"/>
              <a:t>Lệnh</a:t>
            </a:r>
            <a:r>
              <a:rPr lang="en-US" dirty="0" smtClean="0"/>
              <a:t> and:</a:t>
            </a:r>
          </a:p>
          <a:p>
            <a:pPr algn="l"/>
            <a:r>
              <a:rPr lang="en-US" dirty="0" smtClean="0"/>
              <a:t>and  d, s, t</a:t>
            </a:r>
          </a:p>
          <a:p>
            <a:pPr marL="457200" indent="-457200" algn="l">
              <a:buFont typeface="Wingdings" pitchFamily="2" charset="2"/>
              <a:buChar char="§"/>
            </a:pPr>
            <a:r>
              <a:rPr lang="en-US" dirty="0" err="1" smtClean="0"/>
              <a:t>Lệnh</a:t>
            </a:r>
            <a:r>
              <a:rPr lang="en-US" dirty="0" smtClean="0"/>
              <a:t> </a:t>
            </a:r>
            <a:r>
              <a:rPr lang="en-US" dirty="0" err="1" smtClean="0"/>
              <a:t>andi</a:t>
            </a:r>
            <a:r>
              <a:rPr lang="en-US" dirty="0" smtClean="0"/>
              <a:t>:</a:t>
            </a:r>
          </a:p>
          <a:p>
            <a:pPr algn="l"/>
            <a:r>
              <a:rPr lang="en-US" dirty="0" err="1" smtClean="0"/>
              <a:t>andi</a:t>
            </a:r>
            <a:r>
              <a:rPr lang="en-US" dirty="0" smtClean="0"/>
              <a:t>  d, s, </a:t>
            </a:r>
            <a:r>
              <a:rPr lang="en-US" dirty="0" err="1" smtClean="0"/>
              <a:t>const</a:t>
            </a:r>
            <a:endParaRPr lang="en-US" dirty="0" smtClean="0"/>
          </a:p>
          <a:p>
            <a:pPr marL="457200" indent="-457200" algn="l">
              <a:buFont typeface="Wingdings" pitchFamily="2" charset="2"/>
              <a:buChar char="§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02086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381000"/>
            <a:ext cx="7772400" cy="1470025"/>
          </a:xfrm>
        </p:spPr>
        <p:txBody>
          <a:bodyPr/>
          <a:lstStyle/>
          <a:p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lệnh</a:t>
            </a:r>
            <a:r>
              <a:rPr lang="en-US" dirty="0"/>
              <a:t> </a:t>
            </a:r>
            <a:r>
              <a:rPr lang="en-US" dirty="0" err="1"/>
              <a:t>luận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(logic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81200" y="1828800"/>
            <a:ext cx="6781800" cy="4419600"/>
          </a:xfrm>
        </p:spPr>
        <p:txBody>
          <a:bodyPr>
            <a:normAutofit/>
          </a:bodyPr>
          <a:lstStyle/>
          <a:p>
            <a:pPr marL="457200" indent="-457200" algn="l">
              <a:buFont typeface="Wingdings" pitchFamily="2" charset="2"/>
              <a:buChar char="§"/>
            </a:pPr>
            <a:r>
              <a:rPr lang="en-US" dirty="0" err="1"/>
              <a:t>Lệnh</a:t>
            </a:r>
            <a:r>
              <a:rPr lang="en-US" dirty="0"/>
              <a:t> </a:t>
            </a:r>
            <a:r>
              <a:rPr lang="en-US" dirty="0" err="1" smtClean="0"/>
              <a:t>xor</a:t>
            </a:r>
            <a:r>
              <a:rPr lang="en-US" dirty="0"/>
              <a:t>:</a:t>
            </a:r>
            <a:endParaRPr lang="en-US" sz="2400" dirty="0"/>
          </a:p>
          <a:p>
            <a:pPr algn="l"/>
            <a:r>
              <a:rPr lang="fr-FR" dirty="0" err="1" smtClean="0"/>
              <a:t>xor</a:t>
            </a:r>
            <a:r>
              <a:rPr lang="fr-FR" dirty="0" smtClean="0"/>
              <a:t>  </a:t>
            </a:r>
            <a:r>
              <a:rPr lang="fr-FR" dirty="0"/>
              <a:t>d, s, </a:t>
            </a:r>
            <a:r>
              <a:rPr lang="fr-FR" dirty="0" smtClean="0"/>
              <a:t>t</a:t>
            </a:r>
          </a:p>
          <a:p>
            <a:pPr marL="457200" indent="-457200" algn="l">
              <a:buFont typeface="Wingdings" pitchFamily="2" charset="2"/>
              <a:buChar char="§"/>
            </a:pPr>
            <a:r>
              <a:rPr lang="fr-FR" dirty="0" err="1"/>
              <a:t>Lệnh</a:t>
            </a:r>
            <a:r>
              <a:rPr lang="fr-FR" dirty="0"/>
              <a:t> </a:t>
            </a:r>
            <a:r>
              <a:rPr lang="fr-FR" dirty="0" err="1" smtClean="0"/>
              <a:t>xori</a:t>
            </a:r>
            <a:r>
              <a:rPr lang="fr-FR" dirty="0"/>
              <a:t> :</a:t>
            </a:r>
            <a:endParaRPr lang="en-US" sz="2400" dirty="0"/>
          </a:p>
          <a:p>
            <a:pPr algn="l"/>
            <a:r>
              <a:rPr lang="en-US" dirty="0" err="1" smtClean="0"/>
              <a:t>xori</a:t>
            </a:r>
            <a:r>
              <a:rPr lang="en-US" dirty="0" smtClean="0"/>
              <a:t>  </a:t>
            </a:r>
            <a:r>
              <a:rPr lang="en-US" dirty="0"/>
              <a:t>d, s, </a:t>
            </a:r>
            <a:r>
              <a:rPr lang="en-US" dirty="0" err="1" smtClean="0"/>
              <a:t>const</a:t>
            </a:r>
            <a:endParaRPr lang="en-US" dirty="0" smtClean="0"/>
          </a:p>
          <a:p>
            <a:pPr marL="457200" indent="-457200" algn="l">
              <a:buFont typeface="Wingdings" pitchFamily="2" charset="2"/>
              <a:buChar char="§"/>
            </a:pPr>
            <a:r>
              <a:rPr lang="en-US" dirty="0" err="1" smtClean="0"/>
              <a:t>Lệnh</a:t>
            </a:r>
            <a:r>
              <a:rPr lang="en-US" dirty="0" smtClean="0"/>
              <a:t> nor:</a:t>
            </a:r>
          </a:p>
          <a:p>
            <a:pPr algn="l"/>
            <a:r>
              <a:rPr lang="en-US" dirty="0" smtClean="0"/>
              <a:t>nor  d, s, t</a:t>
            </a: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05886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27" y="304800"/>
            <a:ext cx="9753600" cy="1470025"/>
          </a:xfrm>
        </p:spPr>
        <p:txBody>
          <a:bodyPr/>
          <a:lstStyle/>
          <a:p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lệnh</a:t>
            </a:r>
            <a:r>
              <a:rPr lang="en-US" dirty="0"/>
              <a:t> </a:t>
            </a:r>
            <a:r>
              <a:rPr lang="en-US" dirty="0" err="1"/>
              <a:t>dịch</a:t>
            </a:r>
            <a:r>
              <a:rPr lang="en-US" dirty="0"/>
              <a:t> </a:t>
            </a:r>
            <a:r>
              <a:rPr lang="en-US" dirty="0" err="1" smtClean="0"/>
              <a:t>chuyển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1524000"/>
            <a:ext cx="7848600" cy="4419600"/>
          </a:xfrm>
        </p:spPr>
        <p:txBody>
          <a:bodyPr>
            <a:normAutofit/>
          </a:bodyPr>
          <a:lstStyle/>
          <a:p>
            <a:pPr marL="457200" indent="-457200" algn="l">
              <a:buFont typeface="Arial" pitchFamily="34" charset="0"/>
              <a:buChar char="•"/>
            </a:pPr>
            <a:r>
              <a:rPr lang="en-US" dirty="0" err="1" smtClean="0"/>
              <a:t>Lệnh</a:t>
            </a:r>
            <a:r>
              <a:rPr lang="en-US" dirty="0" smtClean="0"/>
              <a:t> </a:t>
            </a:r>
            <a:r>
              <a:rPr lang="en-US" dirty="0" err="1"/>
              <a:t>dịch</a:t>
            </a:r>
            <a:r>
              <a:rPr lang="en-US" dirty="0"/>
              <a:t> </a:t>
            </a:r>
            <a:r>
              <a:rPr lang="en-US" dirty="0" err="1"/>
              <a:t>trái</a:t>
            </a:r>
            <a:r>
              <a:rPr lang="en-US" dirty="0"/>
              <a:t> </a:t>
            </a:r>
            <a:r>
              <a:rPr lang="en-US" dirty="0" err="1"/>
              <a:t>luận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sll</a:t>
            </a:r>
            <a:r>
              <a:rPr lang="en-US" dirty="0"/>
              <a:t> (shift left logical):</a:t>
            </a:r>
          </a:p>
          <a:p>
            <a:pPr algn="l"/>
            <a:r>
              <a:rPr lang="en-US" dirty="0" err="1"/>
              <a:t>sll</a:t>
            </a:r>
            <a:r>
              <a:rPr lang="en-US" dirty="0"/>
              <a:t>  d, s, </a:t>
            </a:r>
            <a:r>
              <a:rPr lang="en-US" dirty="0" err="1"/>
              <a:t>shft</a:t>
            </a:r>
            <a:endParaRPr lang="en-US" dirty="0"/>
          </a:p>
          <a:p>
            <a:pPr marL="457200" indent="-457200" algn="l">
              <a:buFont typeface="Arial" pitchFamily="34" charset="0"/>
              <a:buChar char="•"/>
            </a:pPr>
            <a:endParaRPr lang="en-US" dirty="0"/>
          </a:p>
        </p:txBody>
      </p:sp>
      <p:pic>
        <p:nvPicPr>
          <p:cNvPr id="4" name="Picture 3"/>
          <p:cNvPicPr/>
          <p:nvPr/>
        </p:nvPicPr>
        <p:blipFill rotWithShape="1">
          <a:blip r:embed="rId2"/>
          <a:srcRect l="57372" t="29701" r="7051" b="43590"/>
          <a:stretch/>
        </p:blipFill>
        <p:spPr bwMode="auto">
          <a:xfrm>
            <a:off x="2590800" y="2971800"/>
            <a:ext cx="4052888" cy="250507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7651078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27" y="304800"/>
            <a:ext cx="9753600" cy="1470025"/>
          </a:xfrm>
        </p:spPr>
        <p:txBody>
          <a:bodyPr/>
          <a:lstStyle/>
          <a:p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lệnh</a:t>
            </a:r>
            <a:r>
              <a:rPr lang="en-US" dirty="0"/>
              <a:t> </a:t>
            </a:r>
            <a:r>
              <a:rPr lang="en-US" dirty="0" err="1"/>
              <a:t>dịch</a:t>
            </a:r>
            <a:r>
              <a:rPr lang="en-US" dirty="0"/>
              <a:t> </a:t>
            </a:r>
            <a:r>
              <a:rPr lang="en-US" dirty="0" err="1" smtClean="0"/>
              <a:t>chuyển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1524000"/>
            <a:ext cx="8153400" cy="4419600"/>
          </a:xfrm>
        </p:spPr>
        <p:txBody>
          <a:bodyPr>
            <a:normAutofit/>
          </a:bodyPr>
          <a:lstStyle/>
          <a:p>
            <a:pPr marL="457200" indent="-457200" algn="l">
              <a:buFont typeface="Arial" pitchFamily="34" charset="0"/>
              <a:buChar char="•"/>
            </a:pPr>
            <a:r>
              <a:rPr lang="en-US" dirty="0" err="1" smtClean="0"/>
              <a:t>Lệnh</a:t>
            </a:r>
            <a:r>
              <a:rPr lang="en-US" dirty="0" smtClean="0"/>
              <a:t> </a:t>
            </a:r>
            <a:r>
              <a:rPr lang="en-US" dirty="0" err="1"/>
              <a:t>dịch</a:t>
            </a:r>
            <a:r>
              <a:rPr lang="en-US" dirty="0"/>
              <a:t> </a:t>
            </a:r>
            <a:r>
              <a:rPr lang="en-US" dirty="0" err="1" smtClean="0"/>
              <a:t>phải</a:t>
            </a:r>
            <a:r>
              <a:rPr lang="en-US" dirty="0" smtClean="0"/>
              <a:t> </a:t>
            </a:r>
            <a:r>
              <a:rPr lang="en-US" dirty="0" err="1"/>
              <a:t>luận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 smtClean="0"/>
              <a:t>srl</a:t>
            </a:r>
            <a:r>
              <a:rPr lang="en-US" dirty="0" smtClean="0"/>
              <a:t> </a:t>
            </a:r>
            <a:r>
              <a:rPr lang="en-US" dirty="0"/>
              <a:t>(shift </a:t>
            </a:r>
            <a:r>
              <a:rPr lang="en-US" dirty="0" smtClean="0"/>
              <a:t>right logical</a:t>
            </a:r>
            <a:r>
              <a:rPr lang="en-US" dirty="0"/>
              <a:t>):</a:t>
            </a:r>
          </a:p>
          <a:p>
            <a:pPr algn="l"/>
            <a:r>
              <a:rPr lang="en-US" dirty="0" err="1" smtClean="0"/>
              <a:t>srl</a:t>
            </a:r>
            <a:r>
              <a:rPr lang="en-US" dirty="0" smtClean="0"/>
              <a:t>  </a:t>
            </a:r>
            <a:r>
              <a:rPr lang="en-US" dirty="0"/>
              <a:t>d, s, </a:t>
            </a:r>
            <a:r>
              <a:rPr lang="en-US" dirty="0" err="1"/>
              <a:t>shft</a:t>
            </a:r>
            <a:endParaRPr lang="en-US" dirty="0"/>
          </a:p>
          <a:p>
            <a:pPr algn="l"/>
            <a:endParaRPr lang="en-US" dirty="0"/>
          </a:p>
        </p:txBody>
      </p:sp>
      <p:pic>
        <p:nvPicPr>
          <p:cNvPr id="5" name="Picture 4"/>
          <p:cNvPicPr/>
          <p:nvPr/>
        </p:nvPicPr>
        <p:blipFill rotWithShape="1">
          <a:blip r:embed="rId2"/>
          <a:srcRect l="57372" t="30127" r="7051" b="42522"/>
          <a:stretch/>
        </p:blipFill>
        <p:spPr bwMode="auto">
          <a:xfrm>
            <a:off x="2514600" y="3048000"/>
            <a:ext cx="4391025" cy="232886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9434181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27" y="304800"/>
            <a:ext cx="9753600" cy="1470025"/>
          </a:xfrm>
        </p:spPr>
        <p:txBody>
          <a:bodyPr/>
          <a:lstStyle/>
          <a:p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lệnh</a:t>
            </a:r>
            <a:r>
              <a:rPr lang="en-US" dirty="0"/>
              <a:t> </a:t>
            </a:r>
            <a:r>
              <a:rPr lang="en-US" dirty="0" err="1"/>
              <a:t>dịch</a:t>
            </a:r>
            <a:r>
              <a:rPr lang="en-US" dirty="0"/>
              <a:t> </a:t>
            </a:r>
            <a:r>
              <a:rPr lang="en-US" dirty="0" err="1" smtClean="0"/>
              <a:t>chuyển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42912" y="1524000"/>
            <a:ext cx="8534400" cy="4419600"/>
          </a:xfrm>
        </p:spPr>
        <p:txBody>
          <a:bodyPr>
            <a:normAutofit/>
          </a:bodyPr>
          <a:lstStyle/>
          <a:p>
            <a:pPr marL="457200" indent="-457200" algn="l">
              <a:buFont typeface="Arial" pitchFamily="34" charset="0"/>
              <a:buChar char="•"/>
            </a:pPr>
            <a:r>
              <a:rPr lang="en-US" dirty="0" err="1" smtClean="0"/>
              <a:t>Lệnh</a:t>
            </a:r>
            <a:r>
              <a:rPr lang="en-US" dirty="0" smtClean="0"/>
              <a:t> </a:t>
            </a:r>
            <a:r>
              <a:rPr lang="en-US" dirty="0" err="1"/>
              <a:t>dịch</a:t>
            </a:r>
            <a:r>
              <a:rPr lang="en-US" dirty="0"/>
              <a:t> </a:t>
            </a:r>
            <a:r>
              <a:rPr lang="en-US" dirty="0" err="1"/>
              <a:t>phải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sra</a:t>
            </a:r>
            <a:r>
              <a:rPr lang="en-US" dirty="0"/>
              <a:t> (shift right arithmetic</a:t>
            </a:r>
            <a:r>
              <a:rPr lang="en-US" dirty="0" smtClean="0"/>
              <a:t>)</a:t>
            </a:r>
          </a:p>
          <a:p>
            <a:pPr algn="l"/>
            <a:r>
              <a:rPr lang="en-US" dirty="0" err="1"/>
              <a:t>sra</a:t>
            </a:r>
            <a:r>
              <a:rPr lang="en-US" dirty="0"/>
              <a:t>    </a:t>
            </a:r>
            <a:r>
              <a:rPr lang="en-US" dirty="0" err="1"/>
              <a:t>d,s,shft</a:t>
            </a:r>
            <a:r>
              <a:rPr lang="en-US" dirty="0"/>
              <a:t>    #  </a:t>
            </a:r>
            <a:r>
              <a:rPr lang="en-US" dirty="0" err="1"/>
              <a:t>với</a:t>
            </a:r>
            <a:r>
              <a:rPr lang="en-US" dirty="0"/>
              <a:t> 0 ≤ </a:t>
            </a:r>
            <a:r>
              <a:rPr lang="en-US" dirty="0" err="1"/>
              <a:t>shft</a:t>
            </a:r>
            <a:r>
              <a:rPr lang="en-US" dirty="0"/>
              <a:t> &lt; 31</a:t>
            </a:r>
          </a:p>
        </p:txBody>
      </p:sp>
      <p:pic>
        <p:nvPicPr>
          <p:cNvPr id="6" name="Picture 5"/>
          <p:cNvPicPr/>
          <p:nvPr/>
        </p:nvPicPr>
        <p:blipFill rotWithShape="1">
          <a:blip r:embed="rId2"/>
          <a:srcRect l="47455" t="44288" r="24809" b="37475"/>
          <a:stretch/>
        </p:blipFill>
        <p:spPr bwMode="auto">
          <a:xfrm>
            <a:off x="1752600" y="3124200"/>
            <a:ext cx="5614988" cy="267652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2229632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27" y="304800"/>
            <a:ext cx="9753600" cy="1470025"/>
          </a:xfrm>
        </p:spPr>
        <p:txBody>
          <a:bodyPr/>
          <a:lstStyle/>
          <a:p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lệnh</a:t>
            </a:r>
            <a:r>
              <a:rPr lang="en-US" dirty="0"/>
              <a:t> </a:t>
            </a:r>
            <a:r>
              <a:rPr lang="en-US" dirty="0" err="1"/>
              <a:t>cộng</a:t>
            </a:r>
            <a:r>
              <a:rPr lang="en-US" dirty="0"/>
              <a:t> (add)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trừ</a:t>
            </a:r>
            <a:r>
              <a:rPr lang="en-US" dirty="0"/>
              <a:t> (sub)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0" y="2133600"/>
            <a:ext cx="8534400" cy="4419600"/>
          </a:xfrm>
        </p:spPr>
        <p:txBody>
          <a:bodyPr>
            <a:normAutofit/>
          </a:bodyPr>
          <a:lstStyle/>
          <a:p>
            <a:pPr marL="457200" indent="-457200" algn="l">
              <a:buFont typeface="Arial" pitchFamily="34" charset="0"/>
              <a:buChar char="•"/>
            </a:pPr>
            <a:r>
              <a:rPr lang="en-US" dirty="0" err="1" smtClean="0"/>
              <a:t>Lệnh</a:t>
            </a:r>
            <a:r>
              <a:rPr lang="en-US" dirty="0" smtClean="0"/>
              <a:t> </a:t>
            </a:r>
            <a:r>
              <a:rPr lang="en-US" dirty="0"/>
              <a:t>add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addu</a:t>
            </a:r>
            <a:r>
              <a:rPr lang="en-US" dirty="0"/>
              <a:t>:</a:t>
            </a:r>
          </a:p>
          <a:p>
            <a:pPr algn="l"/>
            <a:r>
              <a:rPr lang="en-US" dirty="0"/>
              <a:t>add d, s, </a:t>
            </a:r>
            <a:r>
              <a:rPr lang="en-US" dirty="0" smtClean="0"/>
              <a:t>t		# </a:t>
            </a:r>
            <a:r>
              <a:rPr lang="en-US" dirty="0" err="1" smtClean="0"/>
              <a:t>báo</a:t>
            </a:r>
            <a:r>
              <a:rPr lang="en-US" dirty="0" smtClean="0"/>
              <a:t> </a:t>
            </a:r>
            <a:r>
              <a:rPr lang="en-US" dirty="0" err="1" smtClean="0"/>
              <a:t>tràn</a:t>
            </a:r>
            <a:r>
              <a:rPr lang="en-US" dirty="0" smtClean="0"/>
              <a:t> (overflow)</a:t>
            </a:r>
          </a:p>
          <a:p>
            <a:pPr algn="l"/>
            <a:r>
              <a:rPr lang="en-US" dirty="0" err="1"/>
              <a:t>addu</a:t>
            </a:r>
            <a:r>
              <a:rPr lang="en-US" dirty="0"/>
              <a:t>  d, s, </a:t>
            </a:r>
            <a:r>
              <a:rPr lang="en-US" dirty="0" smtClean="0"/>
              <a:t>t	# </a:t>
            </a:r>
            <a:r>
              <a:rPr lang="en-US" dirty="0" err="1" smtClean="0"/>
              <a:t>bỏ</a:t>
            </a:r>
            <a:r>
              <a:rPr lang="en-US" dirty="0" smtClean="0"/>
              <a:t> qua </a:t>
            </a:r>
            <a:r>
              <a:rPr lang="en-US" dirty="0" err="1" smtClean="0"/>
              <a:t>tràn</a:t>
            </a:r>
            <a:endParaRPr lang="en-US" dirty="0" smtClean="0"/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84632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27" y="304800"/>
            <a:ext cx="9753600" cy="1470025"/>
          </a:xfrm>
        </p:spPr>
        <p:txBody>
          <a:bodyPr/>
          <a:lstStyle/>
          <a:p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lệnh</a:t>
            </a:r>
            <a:r>
              <a:rPr lang="en-US" dirty="0"/>
              <a:t> </a:t>
            </a:r>
            <a:r>
              <a:rPr lang="en-US" dirty="0" err="1"/>
              <a:t>cộng</a:t>
            </a:r>
            <a:r>
              <a:rPr lang="en-US" dirty="0"/>
              <a:t> (add)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trừ</a:t>
            </a:r>
            <a:r>
              <a:rPr lang="en-US" dirty="0"/>
              <a:t> (sub)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0" y="1752600"/>
            <a:ext cx="8534400" cy="4800600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vi-VN" dirty="0"/>
              <a:t>Ví dụ</a:t>
            </a:r>
            <a:r>
              <a:rPr lang="vi-VN" dirty="0" smtClean="0"/>
              <a:t>:</a:t>
            </a:r>
            <a:r>
              <a:rPr lang="en-US" dirty="0" smtClean="0"/>
              <a:t> </a:t>
            </a:r>
            <a:r>
              <a:rPr lang="vi-VN" dirty="0" smtClean="0"/>
              <a:t>chương </a:t>
            </a:r>
            <a:r>
              <a:rPr lang="vi-VN" dirty="0"/>
              <a:t>trình tính tổng +146 và (-82) được lưu dạng bù 2, kết quả lưu vào $10</a:t>
            </a:r>
          </a:p>
          <a:p>
            <a:pPr algn="l"/>
            <a:r>
              <a:rPr lang="vi-VN" dirty="0"/>
              <a:t>.text</a:t>
            </a:r>
          </a:p>
          <a:p>
            <a:pPr algn="l"/>
            <a:r>
              <a:rPr lang="vi-VN" dirty="0"/>
              <a:t>        .globl  main</a:t>
            </a:r>
          </a:p>
          <a:p>
            <a:pPr algn="l"/>
            <a:r>
              <a:rPr lang="vi-VN" dirty="0"/>
              <a:t>main:</a:t>
            </a:r>
          </a:p>
          <a:p>
            <a:pPr algn="l"/>
            <a:r>
              <a:rPr lang="vi-VN" dirty="0"/>
              <a:t>        ori      $7, $0, 146        # đưa +146 vào $7</a:t>
            </a:r>
          </a:p>
          <a:p>
            <a:pPr algn="l"/>
            <a:r>
              <a:rPr lang="vi-VN" dirty="0"/>
              <a:t>        ori      $8, $0,  82        # đưa 82 vào $8</a:t>
            </a:r>
          </a:p>
          <a:p>
            <a:pPr algn="l"/>
            <a:r>
              <a:rPr lang="vi-VN" dirty="0"/>
              <a:t>        nor      $8, $8,  $0        # đảo bít (bù 1)</a:t>
            </a:r>
          </a:p>
          <a:p>
            <a:pPr algn="l"/>
            <a:r>
              <a:rPr lang="vi-VN" dirty="0"/>
              <a:t>        ori      $9, $0,   1        # đưa 1 vào $9</a:t>
            </a:r>
          </a:p>
          <a:p>
            <a:pPr algn="l"/>
            <a:r>
              <a:rPr lang="vi-VN" dirty="0"/>
              <a:t>        addu     $8, $8,  $9        # $8 = -82</a:t>
            </a:r>
          </a:p>
          <a:p>
            <a:pPr algn="l"/>
            <a:r>
              <a:rPr lang="vi-VN" dirty="0"/>
              <a:t>        addu    $10, $7,  $8        # (+146) + (-82)</a:t>
            </a: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46999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27" y="304800"/>
            <a:ext cx="9753600" cy="1470025"/>
          </a:xfrm>
        </p:spPr>
        <p:txBody>
          <a:bodyPr/>
          <a:lstStyle/>
          <a:p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lệnh</a:t>
            </a:r>
            <a:r>
              <a:rPr lang="en-US" dirty="0"/>
              <a:t> </a:t>
            </a:r>
            <a:r>
              <a:rPr lang="en-US" dirty="0" err="1"/>
              <a:t>cộng</a:t>
            </a:r>
            <a:r>
              <a:rPr lang="en-US" dirty="0"/>
              <a:t> (add)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trừ</a:t>
            </a:r>
            <a:r>
              <a:rPr lang="en-US" dirty="0"/>
              <a:t> (sub)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0" y="1752600"/>
            <a:ext cx="8534400" cy="4800600"/>
          </a:xfrm>
        </p:spPr>
        <p:txBody>
          <a:bodyPr>
            <a:normAutofit/>
          </a:bodyPr>
          <a:lstStyle/>
          <a:p>
            <a:pPr marL="457200" indent="-457200" algn="l">
              <a:buFont typeface="Arial" pitchFamily="34" charset="0"/>
              <a:buChar char="•"/>
            </a:pPr>
            <a:r>
              <a:rPr lang="en-US" dirty="0" err="1" smtClean="0"/>
              <a:t>Lệnh</a:t>
            </a:r>
            <a:r>
              <a:rPr lang="en-US" dirty="0" smtClean="0"/>
              <a:t> </a:t>
            </a:r>
            <a:r>
              <a:rPr lang="en-US" dirty="0" err="1"/>
              <a:t>addi</a:t>
            </a:r>
            <a:r>
              <a:rPr lang="en-US" dirty="0"/>
              <a:t> (add immediate)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addiu</a:t>
            </a:r>
            <a:r>
              <a:rPr lang="en-US" dirty="0"/>
              <a:t> (add immediate unsigned):</a:t>
            </a:r>
          </a:p>
          <a:p>
            <a:pPr algn="l"/>
            <a:r>
              <a:rPr lang="en-US" dirty="0" err="1"/>
              <a:t>addi</a:t>
            </a:r>
            <a:r>
              <a:rPr lang="en-US" dirty="0"/>
              <a:t> d, s, </a:t>
            </a:r>
            <a:r>
              <a:rPr lang="en-US" dirty="0" err="1"/>
              <a:t>const</a:t>
            </a:r>
            <a:r>
              <a:rPr lang="en-US" dirty="0"/>
              <a:t>	# </a:t>
            </a:r>
            <a:r>
              <a:rPr lang="en-US" dirty="0" err="1"/>
              <a:t>báo</a:t>
            </a:r>
            <a:r>
              <a:rPr lang="en-US" dirty="0"/>
              <a:t> </a:t>
            </a:r>
            <a:r>
              <a:rPr lang="en-US" dirty="0" err="1"/>
              <a:t>tràn</a:t>
            </a:r>
            <a:r>
              <a:rPr lang="en-US" dirty="0"/>
              <a:t> (overflow) </a:t>
            </a:r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/>
              <a:t>có</a:t>
            </a:r>
            <a:endParaRPr lang="en-US" dirty="0"/>
          </a:p>
          <a:p>
            <a:pPr algn="l"/>
            <a:r>
              <a:rPr lang="en-US" dirty="0" err="1"/>
              <a:t>addiu</a:t>
            </a:r>
            <a:r>
              <a:rPr lang="en-US" dirty="0"/>
              <a:t> d, s, </a:t>
            </a:r>
            <a:r>
              <a:rPr lang="en-US" dirty="0" err="1"/>
              <a:t>const</a:t>
            </a:r>
            <a:r>
              <a:rPr lang="en-US" dirty="0"/>
              <a:t>	# </a:t>
            </a:r>
            <a:r>
              <a:rPr lang="en-US" dirty="0" err="1"/>
              <a:t>bỏ</a:t>
            </a:r>
            <a:r>
              <a:rPr lang="en-US" dirty="0"/>
              <a:t> qua </a:t>
            </a:r>
            <a:r>
              <a:rPr lang="en-US" dirty="0" err="1"/>
              <a:t>tràn</a:t>
            </a:r>
            <a:r>
              <a:rPr lang="en-US" dirty="0"/>
              <a:t> </a:t>
            </a:r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/>
              <a:t>có</a:t>
            </a:r>
            <a:endParaRPr lang="en-US" dirty="0"/>
          </a:p>
          <a:p>
            <a:pPr marL="457200" indent="-457200" algn="l">
              <a:buFont typeface="Arial" pitchFamily="34" charset="0"/>
              <a:buChar char="•"/>
            </a:pPr>
            <a:r>
              <a:rPr lang="en-US" dirty="0" err="1" smtClean="0"/>
              <a:t>Lệnh</a:t>
            </a:r>
            <a:r>
              <a:rPr lang="en-US" dirty="0" smtClean="0"/>
              <a:t> </a:t>
            </a:r>
            <a:r>
              <a:rPr lang="en-US" dirty="0"/>
              <a:t>sub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subu</a:t>
            </a:r>
            <a:r>
              <a:rPr lang="en-US" dirty="0"/>
              <a:t>:</a:t>
            </a:r>
          </a:p>
          <a:p>
            <a:pPr algn="l"/>
            <a:r>
              <a:rPr lang="en-US" dirty="0"/>
              <a:t>sub d, s, t		# </a:t>
            </a:r>
            <a:r>
              <a:rPr lang="en-US" dirty="0" err="1"/>
              <a:t>báo</a:t>
            </a:r>
            <a:r>
              <a:rPr lang="en-US" dirty="0"/>
              <a:t> </a:t>
            </a:r>
            <a:r>
              <a:rPr lang="en-US" dirty="0" err="1"/>
              <a:t>tràn</a:t>
            </a:r>
            <a:r>
              <a:rPr lang="en-US" dirty="0"/>
              <a:t> </a:t>
            </a:r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/>
              <a:t>có</a:t>
            </a:r>
            <a:endParaRPr lang="en-US" dirty="0"/>
          </a:p>
          <a:p>
            <a:pPr algn="l"/>
            <a:r>
              <a:rPr lang="en-US" dirty="0" err="1"/>
              <a:t>subu</a:t>
            </a:r>
            <a:r>
              <a:rPr lang="en-US" dirty="0"/>
              <a:t> d, s, t	# </a:t>
            </a:r>
            <a:r>
              <a:rPr lang="en-US" dirty="0" err="1"/>
              <a:t>bỏ</a:t>
            </a:r>
            <a:r>
              <a:rPr lang="en-US" dirty="0"/>
              <a:t> qua </a:t>
            </a:r>
            <a:r>
              <a:rPr lang="en-US" dirty="0" err="1"/>
              <a:t>tràn</a:t>
            </a:r>
            <a:endParaRPr lang="en-US" dirty="0"/>
          </a:p>
          <a:p>
            <a:pPr marL="457200" indent="-457200" algn="l">
              <a:buFont typeface="Arial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91683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228600" y="228600"/>
            <a:ext cx="9753600" cy="1470025"/>
          </a:xfrm>
        </p:spPr>
        <p:txBody>
          <a:bodyPr/>
          <a:lstStyle/>
          <a:p>
            <a:r>
              <a:rPr lang="fr-FR" dirty="0" err="1"/>
              <a:t>Các</a:t>
            </a:r>
            <a:r>
              <a:rPr lang="fr-FR" dirty="0"/>
              <a:t> </a:t>
            </a:r>
            <a:r>
              <a:rPr lang="fr-FR" dirty="0" err="1"/>
              <a:t>lệnh</a:t>
            </a:r>
            <a:r>
              <a:rPr lang="fr-FR" dirty="0"/>
              <a:t> </a:t>
            </a:r>
            <a:r>
              <a:rPr lang="fr-FR" dirty="0" err="1"/>
              <a:t>nhân</a:t>
            </a:r>
            <a:r>
              <a:rPr lang="fr-FR" dirty="0"/>
              <a:t> </a:t>
            </a:r>
            <a:r>
              <a:rPr lang="fr-FR" dirty="0" err="1"/>
              <a:t>và</a:t>
            </a:r>
            <a:r>
              <a:rPr lang="fr-FR" dirty="0"/>
              <a:t> chia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" y="1752600"/>
            <a:ext cx="8915400" cy="4800600"/>
          </a:xfrm>
        </p:spPr>
        <p:txBody>
          <a:bodyPr>
            <a:normAutofit/>
          </a:bodyPr>
          <a:lstStyle/>
          <a:p>
            <a:pPr marL="457200" indent="-457200" algn="l">
              <a:buFont typeface="Arial" pitchFamily="34" charset="0"/>
              <a:buChar char="•"/>
            </a:pPr>
            <a:r>
              <a:rPr lang="fr-FR" dirty="0" err="1"/>
              <a:t>Lệnh</a:t>
            </a:r>
            <a:r>
              <a:rPr lang="fr-FR" dirty="0"/>
              <a:t> </a:t>
            </a:r>
            <a:r>
              <a:rPr lang="fr-FR" dirty="0" err="1"/>
              <a:t>mult</a:t>
            </a:r>
            <a:r>
              <a:rPr lang="fr-FR" dirty="0"/>
              <a:t> </a:t>
            </a:r>
            <a:r>
              <a:rPr lang="fr-FR" dirty="0" err="1"/>
              <a:t>và</a:t>
            </a:r>
            <a:r>
              <a:rPr lang="fr-FR" dirty="0"/>
              <a:t> </a:t>
            </a:r>
            <a:r>
              <a:rPr lang="fr-FR" dirty="0" err="1"/>
              <a:t>multu</a:t>
            </a:r>
            <a:endParaRPr lang="en-US" dirty="0" smtClean="0"/>
          </a:p>
          <a:p>
            <a:pPr algn="l"/>
            <a:r>
              <a:rPr lang="en-US" dirty="0" err="1" smtClean="0"/>
              <a:t>mult</a:t>
            </a:r>
            <a:r>
              <a:rPr lang="en-US" dirty="0" smtClean="0"/>
              <a:t> </a:t>
            </a:r>
            <a:r>
              <a:rPr lang="en-US" dirty="0"/>
              <a:t>s, </a:t>
            </a:r>
            <a:r>
              <a:rPr lang="en-US" dirty="0" smtClean="0"/>
              <a:t>t    # </a:t>
            </a:r>
            <a:r>
              <a:rPr lang="en-US" dirty="0" err="1"/>
              <a:t>nhân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dấu</a:t>
            </a:r>
            <a:r>
              <a:rPr lang="en-US" dirty="0"/>
              <a:t> (</a:t>
            </a:r>
            <a:r>
              <a:rPr lang="en-US" dirty="0" err="1"/>
              <a:t>biểu</a:t>
            </a:r>
            <a:r>
              <a:rPr lang="en-US" dirty="0"/>
              <a:t> </a:t>
            </a:r>
            <a:r>
              <a:rPr lang="en-US" dirty="0" err="1"/>
              <a:t>diễn</a:t>
            </a:r>
            <a:r>
              <a:rPr lang="en-US" dirty="0"/>
              <a:t> </a:t>
            </a:r>
            <a:r>
              <a:rPr lang="en-US" dirty="0" err="1"/>
              <a:t>bằng</a:t>
            </a:r>
            <a:r>
              <a:rPr lang="en-US" dirty="0"/>
              <a:t> </a:t>
            </a:r>
            <a:r>
              <a:rPr lang="en-US" dirty="0" err="1"/>
              <a:t>bù</a:t>
            </a:r>
            <a:r>
              <a:rPr lang="en-US" dirty="0"/>
              <a:t> 2)</a:t>
            </a:r>
          </a:p>
          <a:p>
            <a:pPr algn="l"/>
            <a:r>
              <a:rPr lang="en-US" dirty="0" err="1"/>
              <a:t>multu</a:t>
            </a:r>
            <a:r>
              <a:rPr lang="en-US" dirty="0"/>
              <a:t> s, t	</a:t>
            </a:r>
            <a:r>
              <a:rPr lang="en-US" dirty="0" smtClean="0"/>
              <a:t># </a:t>
            </a:r>
            <a:r>
              <a:rPr lang="en-US" dirty="0" err="1"/>
              <a:t>nhân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dấu</a:t>
            </a:r>
            <a:endParaRPr lang="en-US" dirty="0"/>
          </a:p>
          <a:p>
            <a:pPr marL="457200" indent="-457200" algn="l">
              <a:buFont typeface="Arial" pitchFamily="34" charset="0"/>
              <a:buChar char="•"/>
            </a:pPr>
            <a:endParaRPr lang="en-US" dirty="0"/>
          </a:p>
        </p:txBody>
      </p:sp>
      <p:pic>
        <p:nvPicPr>
          <p:cNvPr id="4" name="Picture 3"/>
          <p:cNvPicPr/>
          <p:nvPr/>
        </p:nvPicPr>
        <p:blipFill rotWithShape="1">
          <a:blip r:embed="rId2"/>
          <a:srcRect l="33333" t="30513" r="34615" b="60769"/>
          <a:stretch/>
        </p:blipFill>
        <p:spPr bwMode="auto">
          <a:xfrm>
            <a:off x="2057400" y="3962400"/>
            <a:ext cx="4800600" cy="145169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0987085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228600" y="228600"/>
            <a:ext cx="9753600" cy="1470025"/>
          </a:xfrm>
        </p:spPr>
        <p:txBody>
          <a:bodyPr/>
          <a:lstStyle/>
          <a:p>
            <a:r>
              <a:rPr lang="fr-FR" dirty="0" err="1"/>
              <a:t>Các</a:t>
            </a:r>
            <a:r>
              <a:rPr lang="fr-FR" dirty="0"/>
              <a:t> </a:t>
            </a:r>
            <a:r>
              <a:rPr lang="fr-FR" dirty="0" err="1"/>
              <a:t>lệnh</a:t>
            </a:r>
            <a:r>
              <a:rPr lang="fr-FR" dirty="0"/>
              <a:t> </a:t>
            </a:r>
            <a:r>
              <a:rPr lang="fr-FR" dirty="0" err="1"/>
              <a:t>nhân</a:t>
            </a:r>
            <a:r>
              <a:rPr lang="fr-FR" dirty="0"/>
              <a:t> </a:t>
            </a:r>
            <a:r>
              <a:rPr lang="fr-FR" dirty="0" err="1"/>
              <a:t>và</a:t>
            </a:r>
            <a:r>
              <a:rPr lang="fr-FR" dirty="0"/>
              <a:t> chia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" y="2286000"/>
            <a:ext cx="9067800" cy="4800600"/>
          </a:xfrm>
        </p:spPr>
        <p:txBody>
          <a:bodyPr>
            <a:normAutofit/>
          </a:bodyPr>
          <a:lstStyle/>
          <a:p>
            <a:pPr marL="457200" indent="-457200" algn="l">
              <a:buFont typeface="Arial" pitchFamily="34" charset="0"/>
              <a:buChar char="•"/>
            </a:pPr>
            <a:r>
              <a:rPr lang="fr-FR" dirty="0" err="1"/>
              <a:t>Lệnh</a:t>
            </a:r>
            <a:r>
              <a:rPr lang="fr-FR" dirty="0"/>
              <a:t> </a:t>
            </a:r>
            <a:r>
              <a:rPr lang="fr-FR" dirty="0" err="1"/>
              <a:t>mfhi</a:t>
            </a:r>
            <a:r>
              <a:rPr lang="fr-FR" dirty="0"/>
              <a:t> </a:t>
            </a:r>
            <a:r>
              <a:rPr lang="fr-FR" dirty="0" err="1"/>
              <a:t>và</a:t>
            </a:r>
            <a:r>
              <a:rPr lang="fr-FR" dirty="0"/>
              <a:t> </a:t>
            </a:r>
            <a:r>
              <a:rPr lang="fr-FR" dirty="0" err="1"/>
              <a:t>mflo</a:t>
            </a:r>
            <a:r>
              <a:rPr lang="fr-FR" dirty="0" smtClean="0"/>
              <a:t>:</a:t>
            </a:r>
          </a:p>
          <a:p>
            <a:pPr algn="l"/>
            <a:r>
              <a:rPr lang="en-US" dirty="0" err="1"/>
              <a:t>mfhi</a:t>
            </a:r>
            <a:r>
              <a:rPr lang="en-US" dirty="0"/>
              <a:t>  </a:t>
            </a:r>
            <a:r>
              <a:rPr lang="en-US" dirty="0" smtClean="0"/>
              <a:t>d # </a:t>
            </a:r>
            <a:r>
              <a:rPr lang="en-US" dirty="0" err="1"/>
              <a:t>chép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thanh</a:t>
            </a:r>
            <a:r>
              <a:rPr lang="en-US" dirty="0"/>
              <a:t> </a:t>
            </a:r>
            <a:r>
              <a:rPr lang="en-US" dirty="0" err="1"/>
              <a:t>ghi</a:t>
            </a:r>
            <a:r>
              <a:rPr lang="en-US" dirty="0"/>
              <a:t> hi sang </a:t>
            </a:r>
            <a:r>
              <a:rPr lang="en-US" dirty="0" err="1"/>
              <a:t>thanh</a:t>
            </a:r>
            <a:r>
              <a:rPr lang="en-US" dirty="0"/>
              <a:t> </a:t>
            </a:r>
            <a:r>
              <a:rPr lang="en-US" dirty="0" err="1"/>
              <a:t>ghi</a:t>
            </a:r>
            <a:r>
              <a:rPr lang="en-US" dirty="0"/>
              <a:t> d</a:t>
            </a:r>
          </a:p>
          <a:p>
            <a:pPr algn="l"/>
            <a:r>
              <a:rPr lang="en-US" dirty="0" err="1"/>
              <a:t>mfli</a:t>
            </a:r>
            <a:r>
              <a:rPr lang="en-US" dirty="0"/>
              <a:t>  </a:t>
            </a:r>
            <a:r>
              <a:rPr lang="en-US" dirty="0" smtClean="0"/>
              <a:t>d # </a:t>
            </a:r>
            <a:r>
              <a:rPr lang="en-US" dirty="0" err="1"/>
              <a:t>chép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thanh</a:t>
            </a:r>
            <a:r>
              <a:rPr lang="en-US" dirty="0"/>
              <a:t> </a:t>
            </a:r>
            <a:r>
              <a:rPr lang="en-US" dirty="0" err="1"/>
              <a:t>ghi</a:t>
            </a:r>
            <a:r>
              <a:rPr lang="en-US" dirty="0"/>
              <a:t> lo sang </a:t>
            </a:r>
            <a:r>
              <a:rPr lang="en-US" dirty="0" err="1"/>
              <a:t>thanh</a:t>
            </a:r>
            <a:r>
              <a:rPr lang="en-US" dirty="0"/>
              <a:t> </a:t>
            </a:r>
            <a:r>
              <a:rPr lang="en-US" dirty="0" err="1"/>
              <a:t>ghi</a:t>
            </a:r>
            <a:r>
              <a:rPr lang="en-US" dirty="0"/>
              <a:t> d</a:t>
            </a:r>
          </a:p>
          <a:p>
            <a:pPr marL="457200" indent="-457200" algn="l">
              <a:buFont typeface="Arial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27186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228600" y="228600"/>
            <a:ext cx="9753600" cy="1470025"/>
          </a:xfrm>
        </p:spPr>
        <p:txBody>
          <a:bodyPr/>
          <a:lstStyle/>
          <a:p>
            <a:r>
              <a:rPr lang="fr-FR" dirty="0" err="1"/>
              <a:t>Các</a:t>
            </a:r>
            <a:r>
              <a:rPr lang="fr-FR" dirty="0"/>
              <a:t> </a:t>
            </a:r>
            <a:r>
              <a:rPr lang="fr-FR" dirty="0" err="1"/>
              <a:t>lệnh</a:t>
            </a:r>
            <a:r>
              <a:rPr lang="fr-FR" dirty="0"/>
              <a:t> </a:t>
            </a:r>
            <a:r>
              <a:rPr lang="fr-FR" dirty="0" err="1"/>
              <a:t>nhân</a:t>
            </a:r>
            <a:r>
              <a:rPr lang="fr-FR" dirty="0"/>
              <a:t> </a:t>
            </a:r>
            <a:r>
              <a:rPr lang="fr-FR" dirty="0" err="1"/>
              <a:t>và</a:t>
            </a:r>
            <a:r>
              <a:rPr lang="fr-FR" dirty="0"/>
              <a:t> chia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836" y="1752600"/>
            <a:ext cx="9067800" cy="4800600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vi-VN" dirty="0"/>
              <a:t>Ví dụ: chương trình tính biểu thức 5 * x – 74</a:t>
            </a:r>
          </a:p>
          <a:p>
            <a:pPr algn="l"/>
            <a:r>
              <a:rPr lang="vi-VN" dirty="0"/>
              <a:t># $8 chứa x</a:t>
            </a:r>
          </a:p>
          <a:p>
            <a:pPr algn="l"/>
            <a:r>
              <a:rPr lang="vi-VN" dirty="0"/>
              <a:t># $9 chứa kết quả</a:t>
            </a:r>
          </a:p>
          <a:p>
            <a:pPr algn="l"/>
            <a:r>
              <a:rPr lang="vi-VN" dirty="0"/>
              <a:t>.text</a:t>
            </a:r>
          </a:p>
          <a:p>
            <a:pPr algn="l"/>
            <a:r>
              <a:rPr lang="vi-VN" dirty="0"/>
              <a:t>.globl main</a:t>
            </a:r>
          </a:p>
          <a:p>
            <a:pPr algn="l"/>
            <a:r>
              <a:rPr lang="vi-VN" dirty="0"/>
              <a:t>main :</a:t>
            </a:r>
          </a:p>
          <a:p>
            <a:pPr algn="l"/>
            <a:r>
              <a:rPr lang="en-US" dirty="0"/>
              <a:t>	</a:t>
            </a:r>
            <a:r>
              <a:rPr lang="vi-VN" dirty="0" smtClean="0"/>
              <a:t>ori      </a:t>
            </a:r>
            <a:r>
              <a:rPr lang="vi-VN" dirty="0"/>
              <a:t>$8, $0, 12       # đưa x vào $8 (giả sử </a:t>
            </a:r>
            <a:r>
              <a:rPr lang="vi-VN" dirty="0" smtClean="0"/>
              <a:t>x=12)</a:t>
            </a:r>
            <a:endParaRPr lang="en-US" dirty="0" smtClean="0"/>
          </a:p>
          <a:p>
            <a:pPr algn="l"/>
            <a:r>
              <a:rPr lang="en-US" dirty="0"/>
              <a:t>	</a:t>
            </a:r>
            <a:r>
              <a:rPr lang="vi-VN" dirty="0" smtClean="0"/>
              <a:t>ori      </a:t>
            </a:r>
            <a:r>
              <a:rPr lang="vi-VN" dirty="0"/>
              <a:t>$9, $0,  5       # đưa 5 vào $9</a:t>
            </a:r>
          </a:p>
          <a:p>
            <a:pPr algn="l"/>
            <a:r>
              <a:rPr lang="en-US" dirty="0" smtClean="0"/>
              <a:t>	</a:t>
            </a:r>
            <a:r>
              <a:rPr lang="vi-VN" dirty="0" smtClean="0"/>
              <a:t>mult     </a:t>
            </a:r>
            <a:r>
              <a:rPr lang="vi-VN" dirty="0"/>
              <a:t>$9, $8           # lo = 5x</a:t>
            </a:r>
          </a:p>
          <a:p>
            <a:pPr algn="l"/>
            <a:r>
              <a:rPr lang="en-US" dirty="0" smtClean="0"/>
              <a:t>	</a:t>
            </a:r>
            <a:r>
              <a:rPr lang="vi-VN" dirty="0" smtClean="0"/>
              <a:t>mflo     </a:t>
            </a:r>
            <a:r>
              <a:rPr lang="vi-VN" dirty="0"/>
              <a:t>$9               # $9 = 5x</a:t>
            </a:r>
          </a:p>
          <a:p>
            <a:pPr algn="l"/>
            <a:r>
              <a:rPr lang="en-US" dirty="0" smtClean="0"/>
              <a:t>	</a:t>
            </a:r>
            <a:r>
              <a:rPr lang="vi-VN" dirty="0" smtClean="0"/>
              <a:t>addiu    </a:t>
            </a:r>
            <a:r>
              <a:rPr lang="vi-VN" dirty="0"/>
              <a:t>$9, $9,-74       # $9 = 5x – 74</a:t>
            </a: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29441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228600" y="228600"/>
            <a:ext cx="9753600" cy="1470025"/>
          </a:xfrm>
        </p:spPr>
        <p:txBody>
          <a:bodyPr/>
          <a:lstStyle/>
          <a:p>
            <a:r>
              <a:rPr lang="fr-FR" dirty="0" err="1"/>
              <a:t>Các</a:t>
            </a:r>
            <a:r>
              <a:rPr lang="fr-FR" dirty="0"/>
              <a:t> </a:t>
            </a:r>
            <a:r>
              <a:rPr lang="fr-FR" dirty="0" err="1"/>
              <a:t>lệnh</a:t>
            </a:r>
            <a:r>
              <a:rPr lang="fr-FR" dirty="0"/>
              <a:t> </a:t>
            </a:r>
            <a:r>
              <a:rPr lang="fr-FR" dirty="0" err="1"/>
              <a:t>nhân</a:t>
            </a:r>
            <a:r>
              <a:rPr lang="fr-FR" dirty="0"/>
              <a:t> </a:t>
            </a:r>
            <a:r>
              <a:rPr lang="fr-FR" dirty="0" err="1"/>
              <a:t>và</a:t>
            </a:r>
            <a:r>
              <a:rPr lang="fr-FR" dirty="0"/>
              <a:t> chia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836" y="1752600"/>
            <a:ext cx="9067800" cy="4800600"/>
          </a:xfrm>
        </p:spPr>
        <p:txBody>
          <a:bodyPr>
            <a:normAutofit/>
          </a:bodyPr>
          <a:lstStyle/>
          <a:p>
            <a:pPr marL="457200" indent="-457200" algn="l">
              <a:buFont typeface="Arial" pitchFamily="34" charset="0"/>
              <a:buChar char="•"/>
            </a:pPr>
            <a:r>
              <a:rPr lang="fr-FR" dirty="0" err="1"/>
              <a:t>Lệnh</a:t>
            </a:r>
            <a:r>
              <a:rPr lang="fr-FR" dirty="0"/>
              <a:t> div </a:t>
            </a:r>
            <a:r>
              <a:rPr lang="fr-FR" dirty="0" err="1"/>
              <a:t>và</a:t>
            </a:r>
            <a:r>
              <a:rPr lang="fr-FR" dirty="0"/>
              <a:t> </a:t>
            </a:r>
            <a:r>
              <a:rPr lang="fr-FR" dirty="0" err="1" smtClean="0"/>
              <a:t>divu</a:t>
            </a:r>
            <a:endParaRPr lang="fr-FR" dirty="0" smtClean="0"/>
          </a:p>
          <a:p>
            <a:pPr algn="l"/>
            <a:r>
              <a:rPr lang="en-US" dirty="0"/>
              <a:t>div  s, t	# chia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dấu</a:t>
            </a:r>
            <a:r>
              <a:rPr lang="en-US" dirty="0"/>
              <a:t> (</a:t>
            </a:r>
            <a:r>
              <a:rPr lang="en-US" dirty="0" err="1"/>
              <a:t>biểu</a:t>
            </a:r>
            <a:r>
              <a:rPr lang="en-US" dirty="0"/>
              <a:t> </a:t>
            </a:r>
            <a:r>
              <a:rPr lang="en-US" dirty="0" err="1"/>
              <a:t>diễn</a:t>
            </a:r>
            <a:r>
              <a:rPr lang="en-US" dirty="0"/>
              <a:t> </a:t>
            </a:r>
            <a:r>
              <a:rPr lang="en-US" dirty="0" err="1"/>
              <a:t>bằng</a:t>
            </a:r>
            <a:r>
              <a:rPr lang="en-US" dirty="0"/>
              <a:t> </a:t>
            </a:r>
            <a:r>
              <a:rPr lang="en-US" dirty="0" err="1"/>
              <a:t>bù</a:t>
            </a:r>
            <a:r>
              <a:rPr lang="en-US" dirty="0"/>
              <a:t> 2)</a:t>
            </a:r>
          </a:p>
          <a:p>
            <a:pPr algn="l"/>
            <a:r>
              <a:rPr lang="en-US" dirty="0" err="1"/>
              <a:t>divu</a:t>
            </a:r>
            <a:r>
              <a:rPr lang="en-US" dirty="0"/>
              <a:t>  s, t	# chia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dấu</a:t>
            </a:r>
            <a:endParaRPr lang="en-US" dirty="0"/>
          </a:p>
          <a:p>
            <a:pPr algn="l"/>
            <a:endParaRPr lang="en-US" dirty="0"/>
          </a:p>
        </p:txBody>
      </p:sp>
      <p:pic>
        <p:nvPicPr>
          <p:cNvPr id="4" name="Picture 3"/>
          <p:cNvPicPr/>
          <p:nvPr/>
        </p:nvPicPr>
        <p:blipFill rotWithShape="1">
          <a:blip r:embed="rId2"/>
          <a:srcRect l="32545" t="38677" r="33307" b="52906"/>
          <a:stretch/>
        </p:blipFill>
        <p:spPr bwMode="auto">
          <a:xfrm>
            <a:off x="1676400" y="4114800"/>
            <a:ext cx="5581650" cy="128587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8416873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228600" y="6927"/>
            <a:ext cx="9753600" cy="1470025"/>
          </a:xfrm>
        </p:spPr>
        <p:txBody>
          <a:bodyPr/>
          <a:lstStyle/>
          <a:p>
            <a:r>
              <a:rPr lang="fr-FR" dirty="0" err="1"/>
              <a:t>Các</a:t>
            </a:r>
            <a:r>
              <a:rPr lang="fr-FR" dirty="0"/>
              <a:t> </a:t>
            </a:r>
            <a:r>
              <a:rPr lang="fr-FR" dirty="0" err="1"/>
              <a:t>lệnh</a:t>
            </a:r>
            <a:r>
              <a:rPr lang="fr-FR" dirty="0"/>
              <a:t> </a:t>
            </a:r>
            <a:r>
              <a:rPr lang="fr-FR" dirty="0" err="1"/>
              <a:t>nhân</a:t>
            </a:r>
            <a:r>
              <a:rPr lang="fr-FR" dirty="0"/>
              <a:t> </a:t>
            </a:r>
            <a:r>
              <a:rPr lang="fr-FR" dirty="0" err="1"/>
              <a:t>và</a:t>
            </a:r>
            <a:r>
              <a:rPr lang="fr-FR" dirty="0"/>
              <a:t> chia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0" y="1524000"/>
            <a:ext cx="8188036" cy="5257800"/>
          </a:xfrm>
        </p:spPr>
        <p:txBody>
          <a:bodyPr>
            <a:normAutofit fontScale="55000" lnSpcReduction="20000"/>
          </a:bodyPr>
          <a:lstStyle/>
          <a:p>
            <a:pPr algn="l"/>
            <a:r>
              <a:rPr lang="vi-VN" dirty="0"/>
              <a:t>Ví dụ: tính biểu thức (y + x) / (y – x)</a:t>
            </a:r>
          </a:p>
          <a:p>
            <a:pPr algn="l"/>
            <a:r>
              <a:rPr lang="vi-VN" dirty="0"/>
              <a:t>## chương trình tính (y + x) / (y – x)</a:t>
            </a:r>
          </a:p>
          <a:p>
            <a:pPr algn="l"/>
            <a:r>
              <a:rPr lang="vi-VN" dirty="0"/>
              <a:t>## Các thanh ghi sử dụng:</a:t>
            </a:r>
          </a:p>
          <a:p>
            <a:pPr algn="l"/>
            <a:r>
              <a:rPr lang="vi-VN" dirty="0"/>
              <a:t>##  $8   x</a:t>
            </a:r>
          </a:p>
          <a:p>
            <a:pPr algn="l"/>
            <a:r>
              <a:rPr lang="vi-VN" dirty="0"/>
              <a:t>##  $9   y</a:t>
            </a:r>
          </a:p>
          <a:p>
            <a:pPr algn="l"/>
            <a:r>
              <a:rPr lang="vi-VN" dirty="0"/>
              <a:t>##  $10  y+x</a:t>
            </a:r>
          </a:p>
          <a:p>
            <a:pPr algn="l"/>
            <a:r>
              <a:rPr lang="vi-VN" dirty="0"/>
              <a:t>##  $11  y-x</a:t>
            </a:r>
          </a:p>
          <a:p>
            <a:pPr algn="l"/>
            <a:endParaRPr lang="vi-VN" dirty="0"/>
          </a:p>
          <a:p>
            <a:pPr algn="l"/>
            <a:r>
              <a:rPr lang="vi-VN" dirty="0"/>
              <a:t>        .text</a:t>
            </a:r>
          </a:p>
          <a:p>
            <a:pPr algn="l"/>
            <a:r>
              <a:rPr lang="vi-VN" dirty="0"/>
              <a:t>        .globl  main</a:t>
            </a:r>
          </a:p>
          <a:p>
            <a:pPr algn="l"/>
            <a:r>
              <a:rPr lang="vi-VN" dirty="0"/>
              <a:t>main:</a:t>
            </a:r>
          </a:p>
          <a:p>
            <a:pPr algn="l"/>
            <a:r>
              <a:rPr lang="vi-VN" dirty="0"/>
              <a:t>        ori      $8,   $0,  8         # đưa x vào $8 (giả sử x=8)</a:t>
            </a:r>
          </a:p>
          <a:p>
            <a:pPr algn="l"/>
            <a:r>
              <a:rPr lang="vi-VN" dirty="0"/>
              <a:t>        ori      $9,   $0, 36         # đưa y vào $9 (giả sử y=9)</a:t>
            </a:r>
          </a:p>
          <a:p>
            <a:pPr algn="l"/>
            <a:r>
              <a:rPr lang="vi-VN" dirty="0"/>
              <a:t>        addu     $10,  $9, $8         # $10  = (y+x)</a:t>
            </a:r>
          </a:p>
          <a:p>
            <a:pPr algn="l"/>
            <a:r>
              <a:rPr lang="vi-VN" dirty="0"/>
              <a:t>        subu     $11,  $9, $8         # $11  = (y-x)</a:t>
            </a:r>
          </a:p>
          <a:p>
            <a:pPr algn="l"/>
            <a:r>
              <a:rPr lang="vi-VN" dirty="0"/>
              <a:t>        div      $10,  $11            # hilo = (y+x)/(y-x)</a:t>
            </a:r>
          </a:p>
          <a:p>
            <a:pPr algn="l"/>
            <a:r>
              <a:rPr lang="vi-VN" dirty="0"/>
              <a:t>        mflo     $10                  # $10  = thương số</a:t>
            </a:r>
          </a:p>
          <a:p>
            <a:pPr algn="l"/>
            <a:r>
              <a:rPr lang="vi-VN" dirty="0"/>
              <a:t>        mfhi     $11                  # $11  = số dư</a:t>
            </a: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53269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228600" y="6927"/>
            <a:ext cx="9753600" cy="1470025"/>
          </a:xfrm>
        </p:spPr>
        <p:txBody>
          <a:bodyPr/>
          <a:lstStyle/>
          <a:p>
            <a:r>
              <a:rPr lang="fr-FR" dirty="0" err="1"/>
              <a:t>Các</a:t>
            </a:r>
            <a:r>
              <a:rPr lang="fr-FR" dirty="0"/>
              <a:t> </a:t>
            </a:r>
            <a:r>
              <a:rPr lang="fr-FR" dirty="0" err="1"/>
              <a:t>lệnh</a:t>
            </a:r>
            <a:r>
              <a:rPr lang="fr-FR" dirty="0"/>
              <a:t> </a:t>
            </a:r>
            <a:r>
              <a:rPr lang="fr-FR" dirty="0" err="1"/>
              <a:t>truy</a:t>
            </a:r>
            <a:r>
              <a:rPr lang="fr-FR" dirty="0"/>
              <a:t> </a:t>
            </a:r>
            <a:r>
              <a:rPr lang="fr-FR" dirty="0" err="1"/>
              <a:t>cập</a:t>
            </a:r>
            <a:r>
              <a:rPr lang="fr-FR" dirty="0"/>
              <a:t> </a:t>
            </a:r>
            <a:r>
              <a:rPr lang="fr-FR" dirty="0" err="1"/>
              <a:t>bộ</a:t>
            </a:r>
            <a:r>
              <a:rPr lang="fr-FR" dirty="0"/>
              <a:t> </a:t>
            </a:r>
            <a:r>
              <a:rPr lang="fr-FR" dirty="0" err="1"/>
              <a:t>nhớ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3400" y="1371600"/>
            <a:ext cx="8188036" cy="5257800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vi-VN" dirty="0"/>
              <a:t>-	Lệnh lw (load word)</a:t>
            </a:r>
          </a:p>
          <a:p>
            <a:pPr algn="l"/>
            <a:r>
              <a:rPr lang="vi-VN" dirty="0"/>
              <a:t>lw  d, off(b)	# b là thanh ghi, off là số 16 bit (biểu diễn bù 2)</a:t>
            </a:r>
          </a:p>
          <a:p>
            <a:pPr algn="l"/>
            <a:r>
              <a:rPr lang="vi-VN" dirty="0" smtClean="0"/>
              <a:t>-</a:t>
            </a:r>
            <a:r>
              <a:rPr lang="vi-VN" dirty="0"/>
              <a:t>	Lệnh sw (store word)</a:t>
            </a:r>
          </a:p>
          <a:p>
            <a:pPr algn="l"/>
            <a:r>
              <a:rPr lang="vi-VN" dirty="0"/>
              <a:t>sw  t, off(b)	# b là thanh ghi, off là số 16 bit (biểu diễn bù 2)</a:t>
            </a:r>
          </a:p>
          <a:p>
            <a:pPr algn="l"/>
            <a:r>
              <a:rPr lang="vi-VN" dirty="0" smtClean="0"/>
              <a:t>-</a:t>
            </a:r>
            <a:r>
              <a:rPr lang="vi-VN" dirty="0"/>
              <a:t>	Lệnh lui (load upper imediate)</a:t>
            </a:r>
          </a:p>
          <a:p>
            <a:pPr algn="l"/>
            <a:r>
              <a:rPr lang="vi-VN" dirty="0"/>
              <a:t>lui  d, const	# d là thanh ghi, const là số 16 bit</a:t>
            </a:r>
          </a:p>
          <a:p>
            <a:pPr algn="l"/>
            <a:r>
              <a:rPr lang="fr-FR" dirty="0" err="1"/>
              <a:t>lệnh</a:t>
            </a:r>
            <a:r>
              <a:rPr lang="fr-FR" dirty="0"/>
              <a:t> </a:t>
            </a:r>
            <a:r>
              <a:rPr lang="fr-FR" dirty="0" err="1"/>
              <a:t>này</a:t>
            </a:r>
            <a:r>
              <a:rPr lang="fr-FR" dirty="0"/>
              <a:t> </a:t>
            </a:r>
            <a:r>
              <a:rPr lang="fr-FR" dirty="0" err="1"/>
              <a:t>thực</a:t>
            </a:r>
            <a:r>
              <a:rPr lang="fr-FR" dirty="0"/>
              <a:t> </a:t>
            </a:r>
            <a:r>
              <a:rPr lang="fr-FR" dirty="0" err="1"/>
              <a:t>hiện</a:t>
            </a:r>
            <a:r>
              <a:rPr lang="fr-FR" dirty="0"/>
              <a:t> </a:t>
            </a:r>
            <a:r>
              <a:rPr lang="fr-FR" dirty="0" err="1"/>
              <a:t>chép</a:t>
            </a:r>
            <a:r>
              <a:rPr lang="fr-FR" dirty="0"/>
              <a:t> </a:t>
            </a:r>
            <a:r>
              <a:rPr lang="fr-FR" dirty="0" err="1"/>
              <a:t>nội</a:t>
            </a:r>
            <a:r>
              <a:rPr lang="fr-FR" dirty="0"/>
              <a:t> </a:t>
            </a:r>
            <a:r>
              <a:rPr lang="fr-FR" dirty="0" err="1"/>
              <a:t>dung</a:t>
            </a:r>
            <a:r>
              <a:rPr lang="fr-FR" dirty="0"/>
              <a:t> 2 byte </a:t>
            </a:r>
            <a:r>
              <a:rPr lang="fr-FR" dirty="0" err="1"/>
              <a:t>của</a:t>
            </a:r>
            <a:r>
              <a:rPr lang="fr-FR" dirty="0"/>
              <a:t> </a:t>
            </a:r>
            <a:r>
              <a:rPr lang="fr-FR" dirty="0" err="1"/>
              <a:t>const</a:t>
            </a:r>
            <a:r>
              <a:rPr lang="fr-FR" dirty="0"/>
              <a:t> </a:t>
            </a:r>
            <a:r>
              <a:rPr lang="fr-FR" dirty="0" err="1"/>
              <a:t>vào</a:t>
            </a:r>
            <a:r>
              <a:rPr lang="fr-FR" dirty="0"/>
              <a:t> 2 byte </a:t>
            </a:r>
            <a:r>
              <a:rPr lang="fr-FR" dirty="0" err="1"/>
              <a:t>cao</a:t>
            </a:r>
            <a:r>
              <a:rPr lang="fr-FR" dirty="0"/>
              <a:t> </a:t>
            </a:r>
            <a:r>
              <a:rPr lang="fr-FR" dirty="0" err="1"/>
              <a:t>của</a:t>
            </a:r>
            <a:r>
              <a:rPr lang="fr-FR" dirty="0"/>
              <a:t> </a:t>
            </a:r>
            <a:r>
              <a:rPr lang="fr-FR" dirty="0" err="1"/>
              <a:t>thanh</a:t>
            </a:r>
            <a:r>
              <a:rPr lang="fr-FR" dirty="0"/>
              <a:t> </a:t>
            </a:r>
            <a:r>
              <a:rPr lang="fr-FR" dirty="0" err="1"/>
              <a:t>ghi</a:t>
            </a:r>
            <a:r>
              <a:rPr lang="fr-FR" dirty="0"/>
              <a:t> $d </a:t>
            </a:r>
            <a:r>
              <a:rPr lang="fr-FR" dirty="0" err="1"/>
              <a:t>và</a:t>
            </a:r>
            <a:r>
              <a:rPr lang="fr-FR" dirty="0"/>
              <a:t> </a:t>
            </a:r>
            <a:r>
              <a:rPr lang="fr-FR" dirty="0" err="1"/>
              <a:t>xóa</a:t>
            </a:r>
            <a:r>
              <a:rPr lang="fr-FR" dirty="0"/>
              <a:t> 2 byte </a:t>
            </a:r>
            <a:r>
              <a:rPr lang="fr-FR" dirty="0" err="1"/>
              <a:t>thấp</a:t>
            </a:r>
            <a:r>
              <a:rPr lang="fr-FR" dirty="0"/>
              <a:t> </a:t>
            </a:r>
            <a:r>
              <a:rPr lang="fr-FR" dirty="0" err="1"/>
              <a:t>của</a:t>
            </a:r>
            <a:r>
              <a:rPr lang="fr-FR" dirty="0"/>
              <a:t> $d </a:t>
            </a:r>
            <a:r>
              <a:rPr lang="fr-FR" dirty="0" err="1"/>
              <a:t>về</a:t>
            </a:r>
            <a:r>
              <a:rPr lang="fr-FR" dirty="0"/>
              <a:t> 0.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98732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228600" y="6927"/>
            <a:ext cx="9753600" cy="1470025"/>
          </a:xfrm>
        </p:spPr>
        <p:txBody>
          <a:bodyPr/>
          <a:lstStyle/>
          <a:p>
            <a:r>
              <a:rPr lang="fr-FR" dirty="0" err="1"/>
              <a:t>Các</a:t>
            </a:r>
            <a:r>
              <a:rPr lang="fr-FR" dirty="0"/>
              <a:t> </a:t>
            </a:r>
            <a:r>
              <a:rPr lang="fr-FR" dirty="0" err="1"/>
              <a:t>lệnh</a:t>
            </a:r>
            <a:r>
              <a:rPr lang="fr-FR" dirty="0"/>
              <a:t> </a:t>
            </a:r>
            <a:r>
              <a:rPr lang="fr-FR" dirty="0" err="1"/>
              <a:t>truy</a:t>
            </a:r>
            <a:r>
              <a:rPr lang="fr-FR" dirty="0"/>
              <a:t> </a:t>
            </a:r>
            <a:r>
              <a:rPr lang="fr-FR" dirty="0" err="1"/>
              <a:t>cập</a:t>
            </a:r>
            <a:r>
              <a:rPr lang="fr-FR" dirty="0"/>
              <a:t> </a:t>
            </a:r>
            <a:r>
              <a:rPr lang="fr-FR" dirty="0" err="1"/>
              <a:t>bộ</a:t>
            </a:r>
            <a:r>
              <a:rPr lang="fr-FR" dirty="0"/>
              <a:t> </a:t>
            </a:r>
            <a:r>
              <a:rPr lang="fr-FR" dirty="0" err="1"/>
              <a:t>nhớ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3400" y="1371600"/>
            <a:ext cx="8188036" cy="5257800"/>
          </a:xfrm>
        </p:spPr>
        <p:txBody>
          <a:bodyPr>
            <a:normAutofit/>
          </a:bodyPr>
          <a:lstStyle/>
          <a:p>
            <a:pPr marL="457200" indent="-457200" algn="l">
              <a:buFont typeface="Arial" pitchFamily="34" charset="0"/>
              <a:buChar char="•"/>
            </a:pPr>
            <a:r>
              <a:rPr lang="vi-VN" dirty="0" smtClean="0"/>
              <a:t>Ứng </a:t>
            </a:r>
            <a:r>
              <a:rPr lang="vi-VN" dirty="0"/>
              <a:t>dụng: Mảng trong hợp ngữ MIPS</a:t>
            </a:r>
          </a:p>
          <a:p>
            <a:pPr algn="l"/>
            <a:r>
              <a:rPr lang="vi-VN" dirty="0"/>
              <a:t>Ví dụ: khai báo một mảng có 6 phần tử số nguyên, mỗi phần tử được thể hiện là một từ (4 byte)</a:t>
            </a:r>
          </a:p>
          <a:p>
            <a:pPr algn="l"/>
            <a:r>
              <a:rPr lang="vi-VN" dirty="0"/>
              <a:t>int data[] = {0, 1, 2, 3, 4, 5};	// ngôn ngữ C</a:t>
            </a:r>
          </a:p>
          <a:p>
            <a:pPr algn="l"/>
            <a:r>
              <a:rPr lang="vi-VN" dirty="0"/>
              <a:t>int_data:	.word  0, 1, 2, 3, 4, 5	 #  mảng trong MIPS </a:t>
            </a:r>
          </a:p>
          <a:p>
            <a:pPr algn="l"/>
            <a:r>
              <a:rPr lang="vi-VN" dirty="0"/>
              <a:t>khi đó mảng này được tạo trong bộ nhớ như sau:</a:t>
            </a:r>
          </a:p>
          <a:p>
            <a:pPr marL="457200" indent="-457200" algn="l">
              <a:buFont typeface="Arial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50990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228600" y="6927"/>
            <a:ext cx="9753600" cy="1470025"/>
          </a:xfrm>
        </p:spPr>
        <p:txBody>
          <a:bodyPr/>
          <a:lstStyle/>
          <a:p>
            <a:r>
              <a:rPr lang="fr-FR" dirty="0" err="1"/>
              <a:t>Các</a:t>
            </a:r>
            <a:r>
              <a:rPr lang="fr-FR" dirty="0"/>
              <a:t> </a:t>
            </a:r>
            <a:r>
              <a:rPr lang="fr-FR" dirty="0" err="1"/>
              <a:t>lệnh</a:t>
            </a:r>
            <a:r>
              <a:rPr lang="fr-FR" dirty="0"/>
              <a:t> </a:t>
            </a:r>
            <a:r>
              <a:rPr lang="fr-FR" dirty="0" err="1"/>
              <a:t>truy</a:t>
            </a:r>
            <a:r>
              <a:rPr lang="fr-FR" dirty="0"/>
              <a:t> </a:t>
            </a:r>
            <a:r>
              <a:rPr lang="fr-FR" dirty="0" err="1"/>
              <a:t>cập</a:t>
            </a:r>
            <a:r>
              <a:rPr lang="fr-FR" dirty="0"/>
              <a:t> </a:t>
            </a:r>
            <a:r>
              <a:rPr lang="fr-FR" dirty="0" err="1"/>
              <a:t>bộ</a:t>
            </a:r>
            <a:r>
              <a:rPr lang="fr-FR" dirty="0"/>
              <a:t> </a:t>
            </a:r>
            <a:r>
              <a:rPr lang="fr-FR" dirty="0" err="1"/>
              <a:t>nhớ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3400" y="1371600"/>
            <a:ext cx="8188036" cy="5257800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vi-VN" dirty="0"/>
              <a:t>Ví dụ: chương trình tính 5x</a:t>
            </a:r>
            <a:r>
              <a:rPr lang="vi-VN" baseline="30000" dirty="0"/>
              <a:t>2</a:t>
            </a:r>
            <a:r>
              <a:rPr lang="vi-VN" dirty="0"/>
              <a:t> – 12x + 97</a:t>
            </a:r>
          </a:p>
          <a:p>
            <a:pPr algn="l"/>
            <a:r>
              <a:rPr lang="vi-VN" dirty="0"/>
              <a:t>## các thanh ghi sử dụng</a:t>
            </a:r>
          </a:p>
          <a:p>
            <a:pPr algn="l"/>
            <a:r>
              <a:rPr lang="vi-VN" dirty="0"/>
              <a:t>## $10 chứa địa chỉ x</a:t>
            </a:r>
          </a:p>
          <a:p>
            <a:pPr algn="l"/>
            <a:r>
              <a:rPr lang="vi-VN" dirty="0"/>
              <a:t>## $11 chứa x</a:t>
            </a:r>
          </a:p>
          <a:p>
            <a:pPr algn="l"/>
            <a:r>
              <a:rPr lang="vi-VN" dirty="0"/>
              <a:t>## $12 chứa giá trị tạm thời</a:t>
            </a:r>
          </a:p>
          <a:p>
            <a:pPr algn="l"/>
            <a:r>
              <a:rPr lang="vi-VN" dirty="0"/>
              <a:t>## $13 chứa giá trị tạm thời</a:t>
            </a:r>
          </a:p>
          <a:p>
            <a:pPr algn="l"/>
            <a:r>
              <a:rPr lang="vi-VN" dirty="0"/>
              <a:t>## đoạn dữ liệu .data luôn bắt đầu tại 0x10000000</a:t>
            </a:r>
          </a:p>
          <a:p>
            <a:pPr algn="l"/>
            <a:r>
              <a:rPr lang="vi-VN" dirty="0"/>
              <a:t>.data</a:t>
            </a:r>
          </a:p>
          <a:p>
            <a:pPr algn="l"/>
            <a:r>
              <a:rPr lang="vi-VN" dirty="0"/>
              <a:t>x:      .word   17           #  giả sử x=17</a:t>
            </a:r>
          </a:p>
          <a:p>
            <a:pPr algn="l"/>
            <a:r>
              <a:rPr lang="vi-VN" dirty="0"/>
              <a:t>poly:   .word   0            #  vị trí lưu kết quả.</a:t>
            </a: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06385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228600" y="6927"/>
            <a:ext cx="9753600" cy="1470025"/>
          </a:xfrm>
        </p:spPr>
        <p:txBody>
          <a:bodyPr/>
          <a:lstStyle/>
          <a:p>
            <a:r>
              <a:rPr lang="fr-FR" dirty="0" err="1"/>
              <a:t>Các</a:t>
            </a:r>
            <a:r>
              <a:rPr lang="fr-FR" dirty="0"/>
              <a:t> </a:t>
            </a:r>
            <a:r>
              <a:rPr lang="fr-FR" dirty="0" err="1"/>
              <a:t>lệnh</a:t>
            </a:r>
            <a:r>
              <a:rPr lang="fr-FR" dirty="0"/>
              <a:t> </a:t>
            </a:r>
            <a:r>
              <a:rPr lang="fr-FR" dirty="0" err="1"/>
              <a:t>truy</a:t>
            </a:r>
            <a:r>
              <a:rPr lang="fr-FR" dirty="0"/>
              <a:t> </a:t>
            </a:r>
            <a:r>
              <a:rPr lang="fr-FR" dirty="0" err="1"/>
              <a:t>cập</a:t>
            </a:r>
            <a:r>
              <a:rPr lang="fr-FR" dirty="0"/>
              <a:t> </a:t>
            </a:r>
            <a:r>
              <a:rPr lang="fr-FR" dirty="0" err="1"/>
              <a:t>bộ</a:t>
            </a:r>
            <a:r>
              <a:rPr lang="fr-FR" dirty="0"/>
              <a:t> </a:t>
            </a:r>
            <a:r>
              <a:rPr lang="fr-FR" dirty="0" err="1"/>
              <a:t>nhớ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3400" y="1371600"/>
            <a:ext cx="8188036" cy="5410200"/>
          </a:xfrm>
        </p:spPr>
        <p:txBody>
          <a:bodyPr>
            <a:normAutofit fontScale="47500" lnSpcReduction="20000"/>
          </a:bodyPr>
          <a:lstStyle/>
          <a:p>
            <a:pPr algn="l"/>
            <a:r>
              <a:rPr lang="vi-VN" dirty="0"/>
              <a:t>.text</a:t>
            </a:r>
          </a:p>
          <a:p>
            <a:pPr algn="l"/>
            <a:r>
              <a:rPr lang="vi-VN" dirty="0"/>
              <a:t>        .globl  main</a:t>
            </a:r>
          </a:p>
          <a:p>
            <a:pPr algn="l"/>
            <a:r>
              <a:rPr lang="vi-VN" dirty="0"/>
              <a:t>main: </a:t>
            </a:r>
          </a:p>
          <a:p>
            <a:pPr algn="l"/>
            <a:r>
              <a:rPr lang="vi-VN" dirty="0"/>
              <a:t>        lui   $10,0x1000     #  khởi tạo địa chỉ x</a:t>
            </a:r>
          </a:p>
          <a:p>
            <a:pPr algn="l"/>
            <a:r>
              <a:rPr lang="vi-VN" dirty="0"/>
              <a:t>        lw    $11,0($10)     #  gán x</a:t>
            </a:r>
          </a:p>
          <a:p>
            <a:pPr algn="l"/>
            <a:endParaRPr lang="vi-VN" dirty="0"/>
          </a:p>
          <a:p>
            <a:pPr algn="l"/>
            <a:r>
              <a:rPr lang="vi-VN" dirty="0"/>
              <a:t>        ori   $12,$0,97      </a:t>
            </a:r>
          </a:p>
          <a:p>
            <a:pPr algn="l"/>
            <a:endParaRPr lang="vi-VN" dirty="0"/>
          </a:p>
          <a:p>
            <a:pPr algn="l"/>
            <a:r>
              <a:rPr lang="vi-VN" dirty="0"/>
              <a:t>        ori   $13,$0,12      </a:t>
            </a:r>
          </a:p>
          <a:p>
            <a:pPr algn="l"/>
            <a:r>
              <a:rPr lang="vi-VN" dirty="0"/>
              <a:t>        mult  $11,$13        #  12x</a:t>
            </a:r>
          </a:p>
          <a:p>
            <a:pPr algn="l"/>
            <a:r>
              <a:rPr lang="vi-VN" dirty="0"/>
              <a:t>        mflo  $13            </a:t>
            </a:r>
          </a:p>
          <a:p>
            <a:pPr algn="l"/>
            <a:r>
              <a:rPr lang="vi-VN" dirty="0"/>
              <a:t>        subu  $12,$12,$13    #  -12x +97</a:t>
            </a:r>
          </a:p>
          <a:p>
            <a:pPr algn="l"/>
            <a:endParaRPr lang="vi-VN" dirty="0"/>
          </a:p>
          <a:p>
            <a:pPr algn="l"/>
            <a:r>
              <a:rPr lang="vi-VN" dirty="0"/>
              <a:t>                             </a:t>
            </a:r>
          </a:p>
          <a:p>
            <a:pPr algn="l"/>
            <a:r>
              <a:rPr lang="vi-VN" dirty="0"/>
              <a:t>        mult  $11,$11        #  x2</a:t>
            </a:r>
          </a:p>
          <a:p>
            <a:pPr algn="l"/>
            <a:r>
              <a:rPr lang="vi-VN" dirty="0"/>
              <a:t>        mflo  $11            </a:t>
            </a:r>
          </a:p>
          <a:p>
            <a:pPr algn="l"/>
            <a:r>
              <a:rPr lang="vi-VN" dirty="0"/>
              <a:t>        ori   $13,$0,5       #  5</a:t>
            </a:r>
          </a:p>
          <a:p>
            <a:pPr algn="l"/>
            <a:r>
              <a:rPr lang="vi-VN" dirty="0"/>
              <a:t>        mult  $11,$13        #  5x2</a:t>
            </a:r>
          </a:p>
          <a:p>
            <a:pPr algn="l"/>
            <a:r>
              <a:rPr lang="vi-VN" dirty="0"/>
              <a:t>        mflo  $13           </a:t>
            </a:r>
          </a:p>
          <a:p>
            <a:pPr algn="l"/>
            <a:r>
              <a:rPr lang="vi-VN" dirty="0"/>
              <a:t>        addu  $12,$12,$13    #  5x2-12x+97</a:t>
            </a:r>
          </a:p>
          <a:p>
            <a:pPr algn="l"/>
            <a:endParaRPr lang="vi-VN" dirty="0"/>
          </a:p>
          <a:p>
            <a:pPr algn="l"/>
            <a:r>
              <a:rPr lang="vi-VN" dirty="0"/>
              <a:t>        sw    $12,4($10)</a:t>
            </a: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32848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228600" y="6927"/>
            <a:ext cx="9753600" cy="1470025"/>
          </a:xfrm>
        </p:spPr>
        <p:txBody>
          <a:bodyPr/>
          <a:lstStyle/>
          <a:p>
            <a:r>
              <a:rPr lang="fr-FR" dirty="0" err="1"/>
              <a:t>Các</a:t>
            </a:r>
            <a:r>
              <a:rPr lang="fr-FR" dirty="0"/>
              <a:t> </a:t>
            </a:r>
            <a:r>
              <a:rPr lang="fr-FR" dirty="0" err="1"/>
              <a:t>lệnh</a:t>
            </a:r>
            <a:r>
              <a:rPr lang="fr-FR" dirty="0"/>
              <a:t> </a:t>
            </a:r>
            <a:r>
              <a:rPr lang="fr-FR" dirty="0" err="1"/>
              <a:t>truy</a:t>
            </a:r>
            <a:r>
              <a:rPr lang="fr-FR" dirty="0"/>
              <a:t> </a:t>
            </a:r>
            <a:r>
              <a:rPr lang="fr-FR" dirty="0" err="1"/>
              <a:t>cập</a:t>
            </a:r>
            <a:r>
              <a:rPr lang="fr-FR" dirty="0"/>
              <a:t> </a:t>
            </a:r>
            <a:r>
              <a:rPr lang="fr-FR" dirty="0" err="1"/>
              <a:t>bộ</a:t>
            </a:r>
            <a:r>
              <a:rPr lang="fr-FR" dirty="0"/>
              <a:t> </a:t>
            </a:r>
            <a:r>
              <a:rPr lang="fr-FR" dirty="0" err="1"/>
              <a:t>nhớ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" y="1371600"/>
            <a:ext cx="8991600" cy="5410200"/>
          </a:xfrm>
        </p:spPr>
        <p:txBody>
          <a:bodyPr>
            <a:normAutofit/>
          </a:bodyPr>
          <a:lstStyle/>
          <a:p>
            <a:pPr algn="l"/>
            <a:r>
              <a:rPr lang="en-US" dirty="0" smtClean="0"/>
              <a:t>MIPS </a:t>
            </a:r>
            <a:r>
              <a:rPr lang="en-US" dirty="0" err="1"/>
              <a:t>còn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lệnh</a:t>
            </a:r>
            <a:r>
              <a:rPr lang="en-US" dirty="0"/>
              <a:t> </a:t>
            </a:r>
            <a:r>
              <a:rPr lang="en-US" dirty="0" err="1"/>
              <a:t>truy</a:t>
            </a:r>
            <a:r>
              <a:rPr lang="en-US" dirty="0"/>
              <a:t> </a:t>
            </a:r>
            <a:r>
              <a:rPr lang="en-US" dirty="0" err="1"/>
              <a:t>cập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nhớ</a:t>
            </a:r>
            <a:r>
              <a:rPr lang="en-US" dirty="0"/>
              <a:t> (</a:t>
            </a:r>
            <a:r>
              <a:rPr lang="en-US" dirty="0" err="1"/>
              <a:t>với</a:t>
            </a:r>
            <a:r>
              <a:rPr lang="en-US" dirty="0"/>
              <a:t> byte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nửa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- half word</a:t>
            </a:r>
            <a:r>
              <a:rPr lang="en-US" dirty="0" smtClean="0"/>
              <a:t>)</a:t>
            </a:r>
          </a:p>
          <a:p>
            <a:pPr marL="457200" indent="-457200" algn="l">
              <a:buFont typeface="Wingdings" pitchFamily="2" charset="2"/>
              <a:buChar char="§"/>
            </a:pPr>
            <a:r>
              <a:rPr lang="en-US" dirty="0" err="1"/>
              <a:t>lb</a:t>
            </a:r>
            <a:r>
              <a:rPr lang="en-US" dirty="0"/>
              <a:t>   t, off(b)  # t </a:t>
            </a:r>
            <a:r>
              <a:rPr lang="en-US" dirty="0" err="1"/>
              <a:t>và</a:t>
            </a:r>
            <a:r>
              <a:rPr lang="en-US" dirty="0"/>
              <a:t> b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thanh</a:t>
            </a:r>
            <a:r>
              <a:rPr lang="en-US" dirty="0"/>
              <a:t> </a:t>
            </a:r>
            <a:r>
              <a:rPr lang="en-US" dirty="0" err="1"/>
              <a:t>ghi</a:t>
            </a:r>
            <a:r>
              <a:rPr lang="en-US" dirty="0"/>
              <a:t>, off 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smtClean="0"/>
              <a:t>16-bit</a:t>
            </a:r>
          </a:p>
          <a:p>
            <a:pPr marL="457200" indent="-457200" algn="l">
              <a:buFont typeface="Wingdings" pitchFamily="2" charset="2"/>
              <a:buChar char="§"/>
            </a:pPr>
            <a:r>
              <a:rPr lang="fr-FR" dirty="0" err="1"/>
              <a:t>lbu</a:t>
            </a:r>
            <a:r>
              <a:rPr lang="fr-FR" dirty="0"/>
              <a:t>   t, off(b)  # t </a:t>
            </a:r>
            <a:r>
              <a:rPr lang="fr-FR" dirty="0" err="1"/>
              <a:t>và</a:t>
            </a:r>
            <a:r>
              <a:rPr lang="fr-FR" dirty="0"/>
              <a:t> b là </a:t>
            </a:r>
            <a:r>
              <a:rPr lang="fr-FR" dirty="0" err="1"/>
              <a:t>thanh</a:t>
            </a:r>
            <a:r>
              <a:rPr lang="fr-FR" dirty="0"/>
              <a:t> </a:t>
            </a:r>
            <a:r>
              <a:rPr lang="fr-FR" dirty="0" err="1"/>
              <a:t>ghi</a:t>
            </a:r>
            <a:r>
              <a:rPr lang="fr-FR" dirty="0"/>
              <a:t>, off  là </a:t>
            </a:r>
            <a:r>
              <a:rPr lang="fr-FR" dirty="0" err="1"/>
              <a:t>số</a:t>
            </a:r>
            <a:r>
              <a:rPr lang="fr-FR" dirty="0"/>
              <a:t> </a:t>
            </a:r>
            <a:r>
              <a:rPr lang="fr-FR" dirty="0" smtClean="0"/>
              <a:t>16-bit</a:t>
            </a:r>
          </a:p>
          <a:p>
            <a:pPr marL="457200" indent="-457200" algn="l">
              <a:buFont typeface="Wingdings" pitchFamily="2" charset="2"/>
              <a:buChar char="§"/>
            </a:pPr>
            <a:r>
              <a:rPr lang="fr-FR" dirty="0" err="1"/>
              <a:t>sb</a:t>
            </a:r>
            <a:r>
              <a:rPr lang="fr-FR" dirty="0"/>
              <a:t>    t, off(b)   # t </a:t>
            </a:r>
            <a:r>
              <a:rPr lang="fr-FR" dirty="0" err="1"/>
              <a:t>và</a:t>
            </a:r>
            <a:r>
              <a:rPr lang="fr-FR" dirty="0"/>
              <a:t> b là </a:t>
            </a:r>
            <a:r>
              <a:rPr lang="fr-FR" dirty="0" err="1"/>
              <a:t>thanh</a:t>
            </a:r>
            <a:r>
              <a:rPr lang="fr-FR" dirty="0"/>
              <a:t> </a:t>
            </a:r>
            <a:r>
              <a:rPr lang="fr-FR" dirty="0" err="1"/>
              <a:t>ghi</a:t>
            </a:r>
            <a:r>
              <a:rPr lang="fr-FR" dirty="0"/>
              <a:t>, off là </a:t>
            </a:r>
            <a:r>
              <a:rPr lang="fr-FR" dirty="0" err="1"/>
              <a:t>số</a:t>
            </a:r>
            <a:r>
              <a:rPr lang="fr-FR" dirty="0"/>
              <a:t> </a:t>
            </a:r>
            <a:r>
              <a:rPr lang="fr-FR" dirty="0" smtClean="0"/>
              <a:t>16-bit</a:t>
            </a:r>
          </a:p>
          <a:p>
            <a:pPr marL="457200" indent="-457200" algn="l">
              <a:buFont typeface="Wingdings" pitchFamily="2" charset="2"/>
              <a:buChar char="§"/>
            </a:pPr>
            <a:r>
              <a:rPr lang="en-US" dirty="0" err="1"/>
              <a:t>lh</a:t>
            </a:r>
            <a:r>
              <a:rPr lang="en-US" dirty="0"/>
              <a:t>   t, off(b)  # t </a:t>
            </a:r>
            <a:r>
              <a:rPr lang="en-US" dirty="0" err="1"/>
              <a:t>và</a:t>
            </a:r>
            <a:r>
              <a:rPr lang="en-US" dirty="0"/>
              <a:t> b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thanh</a:t>
            </a:r>
            <a:r>
              <a:rPr lang="en-US" dirty="0"/>
              <a:t> </a:t>
            </a:r>
            <a:r>
              <a:rPr lang="en-US" dirty="0" err="1"/>
              <a:t>ghi</a:t>
            </a:r>
            <a:r>
              <a:rPr lang="en-US" dirty="0"/>
              <a:t>, off 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smtClean="0"/>
              <a:t>16-bit</a:t>
            </a:r>
          </a:p>
          <a:p>
            <a:pPr marL="457200" indent="-457200" algn="l">
              <a:buFont typeface="Wingdings" pitchFamily="2" charset="2"/>
              <a:buChar char="§"/>
            </a:pPr>
            <a:r>
              <a:rPr lang="fr-FR" dirty="0" err="1"/>
              <a:t>lhu</a:t>
            </a:r>
            <a:r>
              <a:rPr lang="fr-FR" dirty="0"/>
              <a:t>   t, off(b)  # t </a:t>
            </a:r>
            <a:r>
              <a:rPr lang="fr-FR" dirty="0" err="1"/>
              <a:t>và</a:t>
            </a:r>
            <a:r>
              <a:rPr lang="fr-FR" dirty="0"/>
              <a:t> b là </a:t>
            </a:r>
            <a:r>
              <a:rPr lang="fr-FR" dirty="0" err="1"/>
              <a:t>thanh</a:t>
            </a:r>
            <a:r>
              <a:rPr lang="fr-FR" dirty="0"/>
              <a:t> </a:t>
            </a:r>
            <a:r>
              <a:rPr lang="fr-FR" dirty="0" err="1"/>
              <a:t>ghi</a:t>
            </a:r>
            <a:r>
              <a:rPr lang="fr-FR" dirty="0"/>
              <a:t>, off  là </a:t>
            </a:r>
            <a:r>
              <a:rPr lang="fr-FR" dirty="0" err="1"/>
              <a:t>số</a:t>
            </a:r>
            <a:r>
              <a:rPr lang="fr-FR" dirty="0"/>
              <a:t> </a:t>
            </a:r>
            <a:r>
              <a:rPr lang="fr-FR" dirty="0" smtClean="0"/>
              <a:t>16-bit</a:t>
            </a:r>
          </a:p>
          <a:p>
            <a:pPr marL="457200" indent="-457200" algn="l">
              <a:buFont typeface="Wingdings" pitchFamily="2" charset="2"/>
              <a:buChar char="§"/>
            </a:pPr>
            <a:r>
              <a:rPr lang="fr-FR" dirty="0"/>
              <a:t>sh    t, off(b)   # t </a:t>
            </a:r>
            <a:r>
              <a:rPr lang="fr-FR" dirty="0" err="1"/>
              <a:t>và</a:t>
            </a:r>
            <a:r>
              <a:rPr lang="fr-FR" dirty="0"/>
              <a:t> b là </a:t>
            </a:r>
            <a:r>
              <a:rPr lang="fr-FR" dirty="0" err="1"/>
              <a:t>thanh</a:t>
            </a:r>
            <a:r>
              <a:rPr lang="fr-FR" dirty="0"/>
              <a:t> </a:t>
            </a:r>
            <a:r>
              <a:rPr lang="fr-FR" dirty="0" err="1"/>
              <a:t>ghi</a:t>
            </a:r>
            <a:r>
              <a:rPr lang="fr-FR" dirty="0"/>
              <a:t>, off là </a:t>
            </a:r>
            <a:r>
              <a:rPr lang="fr-FR" dirty="0" err="1"/>
              <a:t>số</a:t>
            </a:r>
            <a:r>
              <a:rPr lang="fr-FR" dirty="0"/>
              <a:t> </a:t>
            </a:r>
            <a:r>
              <a:rPr lang="fr-FR" dirty="0" smtClean="0"/>
              <a:t>16-bit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64731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228600" y="6927"/>
            <a:ext cx="9753600" cy="1470025"/>
          </a:xfrm>
        </p:spPr>
        <p:txBody>
          <a:bodyPr/>
          <a:lstStyle/>
          <a:p>
            <a:r>
              <a:rPr lang="fr-FR" dirty="0" err="1" smtClean="0"/>
              <a:t>Các</a:t>
            </a:r>
            <a:r>
              <a:rPr lang="fr-FR" dirty="0" smtClean="0"/>
              <a:t> </a:t>
            </a:r>
            <a:r>
              <a:rPr lang="fr-FR" dirty="0" err="1" smtClean="0"/>
              <a:t>lệnh</a:t>
            </a:r>
            <a:r>
              <a:rPr lang="fr-FR" dirty="0" smtClean="0"/>
              <a:t> </a:t>
            </a:r>
            <a:r>
              <a:rPr lang="fr-FR" dirty="0" err="1" smtClean="0"/>
              <a:t>rẽ</a:t>
            </a:r>
            <a:r>
              <a:rPr lang="fr-FR" dirty="0" smtClean="0"/>
              <a:t> </a:t>
            </a:r>
            <a:r>
              <a:rPr lang="fr-FR" dirty="0" err="1" smtClean="0"/>
              <a:t>nhánh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" y="1371600"/>
            <a:ext cx="8991600" cy="5410200"/>
          </a:xfrm>
        </p:spPr>
        <p:txBody>
          <a:bodyPr>
            <a:normAutofit/>
          </a:bodyPr>
          <a:lstStyle/>
          <a:p>
            <a:pPr marL="457200" indent="-457200" algn="l">
              <a:buFont typeface="Wingdings" pitchFamily="2" charset="2"/>
              <a:buChar char="§"/>
            </a:pPr>
            <a:r>
              <a:rPr lang="vi-VN" dirty="0" smtClean="0"/>
              <a:t>Lệnh </a:t>
            </a:r>
            <a:r>
              <a:rPr lang="vi-VN" dirty="0"/>
              <a:t>j (jump)</a:t>
            </a:r>
          </a:p>
          <a:p>
            <a:pPr algn="l"/>
            <a:r>
              <a:rPr lang="vi-VN" dirty="0"/>
              <a:t>j    target	# nhảy đến nhãn target</a:t>
            </a:r>
          </a:p>
          <a:p>
            <a:pPr marL="457200" indent="-457200" algn="l">
              <a:buFont typeface="Wingdings" pitchFamily="2" charset="2"/>
              <a:buChar char="§"/>
            </a:pPr>
            <a:r>
              <a:rPr lang="vi-VN" dirty="0" smtClean="0"/>
              <a:t>Lệnh </a:t>
            </a:r>
            <a:r>
              <a:rPr lang="vi-VN" dirty="0"/>
              <a:t>beq  (branch on equal)</a:t>
            </a:r>
          </a:p>
          <a:p>
            <a:pPr algn="l"/>
            <a:r>
              <a:rPr lang="vi-VN" dirty="0"/>
              <a:t>beq  u, v, addr	# nhảy đến addr nếu $u = $v</a:t>
            </a:r>
          </a:p>
          <a:p>
            <a:pPr marL="457200" indent="-457200" algn="l">
              <a:buFont typeface="Wingdings" pitchFamily="2" charset="2"/>
              <a:buChar char="§"/>
            </a:pPr>
            <a:r>
              <a:rPr lang="vi-VN" dirty="0" smtClean="0"/>
              <a:t>Lệnh </a:t>
            </a:r>
            <a:r>
              <a:rPr lang="vi-VN" dirty="0"/>
              <a:t>bne (branch on not equal)</a:t>
            </a:r>
          </a:p>
          <a:p>
            <a:pPr algn="l"/>
            <a:r>
              <a:rPr lang="vi-VN" dirty="0"/>
              <a:t>bne  u, v, addr	# nhảy đến addr nếu $u ≠ $v</a:t>
            </a:r>
          </a:p>
          <a:p>
            <a:pPr marL="457200" indent="-457200" algn="l">
              <a:buFont typeface="Wingdings" pitchFamily="2" charset="2"/>
              <a:buChar char="§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89056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228600" y="6927"/>
            <a:ext cx="9753600" cy="1470025"/>
          </a:xfrm>
        </p:spPr>
        <p:txBody>
          <a:bodyPr/>
          <a:lstStyle/>
          <a:p>
            <a:r>
              <a:rPr lang="fr-FR" dirty="0" err="1" smtClean="0"/>
              <a:t>Các</a:t>
            </a:r>
            <a:r>
              <a:rPr lang="fr-FR" dirty="0" smtClean="0"/>
              <a:t> </a:t>
            </a:r>
            <a:r>
              <a:rPr lang="fr-FR" dirty="0" err="1" smtClean="0"/>
              <a:t>lệnh</a:t>
            </a:r>
            <a:r>
              <a:rPr lang="fr-FR" dirty="0" smtClean="0"/>
              <a:t> </a:t>
            </a:r>
            <a:r>
              <a:rPr lang="fr-FR" dirty="0" err="1" smtClean="0"/>
              <a:t>rẽ</a:t>
            </a:r>
            <a:r>
              <a:rPr lang="fr-FR" dirty="0" smtClean="0"/>
              <a:t> </a:t>
            </a:r>
            <a:r>
              <a:rPr lang="fr-FR" dirty="0" err="1" smtClean="0"/>
              <a:t>nhánh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" y="1371600"/>
            <a:ext cx="8991600" cy="5410200"/>
          </a:xfrm>
        </p:spPr>
        <p:txBody>
          <a:bodyPr>
            <a:normAutofit/>
          </a:bodyPr>
          <a:lstStyle/>
          <a:p>
            <a:pPr algn="l"/>
            <a:r>
              <a:rPr lang="vi-VN" dirty="0" smtClean="0"/>
              <a:t>Các </a:t>
            </a:r>
            <a:r>
              <a:rPr lang="vi-VN" dirty="0"/>
              <a:t>lệnh nhảy (so sánh với 0)</a:t>
            </a:r>
          </a:p>
          <a:p>
            <a:pPr marL="457200" indent="-457200" algn="l">
              <a:buFont typeface="Wingdings" pitchFamily="2" charset="2"/>
              <a:buChar char="§"/>
            </a:pPr>
            <a:r>
              <a:rPr lang="vi-VN" dirty="0"/>
              <a:t>bltz   s,label      #  nhảy đến nhãn label nếu thanh ghi $s &lt; 0</a:t>
            </a:r>
          </a:p>
          <a:p>
            <a:pPr marL="457200" indent="-457200" algn="l">
              <a:buFont typeface="Wingdings" pitchFamily="2" charset="2"/>
              <a:buChar char="§"/>
            </a:pPr>
            <a:r>
              <a:rPr lang="vi-VN" dirty="0"/>
              <a:t>bgtz   s,label     #  nhảy đến nhãn label nếu thanh ghi $s &gt; 0</a:t>
            </a:r>
          </a:p>
          <a:p>
            <a:pPr marL="457200" indent="-457200" algn="l">
              <a:buFont typeface="Wingdings" pitchFamily="2" charset="2"/>
              <a:buChar char="§"/>
            </a:pPr>
            <a:r>
              <a:rPr lang="vi-VN" dirty="0"/>
              <a:t>blez   s,label      #  nhảy đến nhãn label nếu thanh ghi $s &lt;= 0</a:t>
            </a:r>
          </a:p>
          <a:p>
            <a:pPr marL="457200" indent="-457200" algn="l">
              <a:buFont typeface="Wingdings" pitchFamily="2" charset="2"/>
              <a:buChar char="§"/>
            </a:pPr>
            <a:r>
              <a:rPr lang="vi-VN" dirty="0"/>
              <a:t>bgez  s,label     #  nhảy đến nhãn label nếu thanh ghi $s &gt;=0</a:t>
            </a:r>
          </a:p>
          <a:p>
            <a:pPr marL="457200" indent="-457200" algn="l">
              <a:buFont typeface="Wingdings" pitchFamily="2" charset="2"/>
              <a:buChar char="§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09269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228600" y="6927"/>
            <a:ext cx="9753600" cy="1470025"/>
          </a:xfrm>
        </p:spPr>
        <p:txBody>
          <a:bodyPr/>
          <a:lstStyle/>
          <a:p>
            <a:r>
              <a:rPr lang="fr-FR" dirty="0" err="1" smtClean="0"/>
              <a:t>Các</a:t>
            </a:r>
            <a:r>
              <a:rPr lang="fr-FR" dirty="0" smtClean="0"/>
              <a:t> </a:t>
            </a:r>
            <a:r>
              <a:rPr lang="fr-FR" dirty="0" err="1" smtClean="0"/>
              <a:t>lệnh</a:t>
            </a:r>
            <a:r>
              <a:rPr lang="fr-FR" dirty="0" smtClean="0"/>
              <a:t> </a:t>
            </a:r>
            <a:r>
              <a:rPr lang="fr-FR" dirty="0" err="1" smtClean="0"/>
              <a:t>rẽ</a:t>
            </a:r>
            <a:r>
              <a:rPr lang="fr-FR" dirty="0" smtClean="0"/>
              <a:t> </a:t>
            </a:r>
            <a:r>
              <a:rPr lang="fr-FR" dirty="0" err="1" smtClean="0"/>
              <a:t>nhánh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" y="1371600"/>
            <a:ext cx="8991600" cy="5410200"/>
          </a:xfrm>
        </p:spPr>
        <p:txBody>
          <a:bodyPr>
            <a:normAutofit/>
          </a:bodyPr>
          <a:lstStyle/>
          <a:p>
            <a:pPr algn="l"/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/>
              <a:t>lệnh</a:t>
            </a:r>
            <a:r>
              <a:rPr lang="en-US" dirty="0"/>
              <a:t> </a:t>
            </a: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lập</a:t>
            </a:r>
            <a:endParaRPr lang="en-US" dirty="0"/>
          </a:p>
          <a:p>
            <a:pPr marL="457200" indent="-457200" algn="l">
              <a:buFont typeface="Wingdings" pitchFamily="2" charset="2"/>
              <a:buChar char="§"/>
            </a:pPr>
            <a:r>
              <a:rPr lang="en-US" dirty="0" err="1"/>
              <a:t>slt</a:t>
            </a:r>
            <a:r>
              <a:rPr lang="en-US" dirty="0"/>
              <a:t>   d, s, t         # if (s &lt; t) d = 1 else d = 0 </a:t>
            </a:r>
          </a:p>
          <a:p>
            <a:pPr marL="457200" indent="-457200" algn="l">
              <a:buFont typeface="Wingdings" pitchFamily="2" charset="2"/>
              <a:buChar char="§"/>
            </a:pPr>
            <a:r>
              <a:rPr lang="en-US" dirty="0" err="1"/>
              <a:t>sltu</a:t>
            </a:r>
            <a:r>
              <a:rPr lang="en-US" dirty="0"/>
              <a:t>  d, s, t        #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dấu</a:t>
            </a:r>
            <a:r>
              <a:rPr lang="en-US" dirty="0"/>
              <a:t> </a:t>
            </a:r>
          </a:p>
          <a:p>
            <a:pPr marL="457200" indent="-457200" algn="l">
              <a:buFont typeface="Wingdings" pitchFamily="2" charset="2"/>
              <a:buChar char="§"/>
            </a:pPr>
            <a:r>
              <a:rPr lang="en-US" dirty="0" err="1"/>
              <a:t>slti</a:t>
            </a:r>
            <a:r>
              <a:rPr lang="en-US" dirty="0"/>
              <a:t>  t, s, </a:t>
            </a:r>
            <a:r>
              <a:rPr lang="en-US" dirty="0" err="1"/>
              <a:t>const</a:t>
            </a:r>
            <a:r>
              <a:rPr lang="en-US" dirty="0"/>
              <a:t>  # if (s &lt; </a:t>
            </a:r>
            <a:r>
              <a:rPr lang="en-US" dirty="0" err="1"/>
              <a:t>const</a:t>
            </a:r>
            <a:r>
              <a:rPr lang="en-US" dirty="0"/>
              <a:t>) t = 1 else t = 0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const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16 bit.</a:t>
            </a:r>
          </a:p>
          <a:p>
            <a:pPr marL="457200" indent="-457200" algn="l">
              <a:buFont typeface="Wingdings" pitchFamily="2" charset="2"/>
              <a:buChar char="§"/>
            </a:pPr>
            <a:r>
              <a:rPr lang="en-US" dirty="0" err="1"/>
              <a:t>sltiu</a:t>
            </a:r>
            <a:r>
              <a:rPr lang="en-US" dirty="0"/>
              <a:t> t, s, </a:t>
            </a:r>
            <a:r>
              <a:rPr lang="en-US" dirty="0" err="1"/>
              <a:t>const</a:t>
            </a:r>
            <a:r>
              <a:rPr lang="en-US" dirty="0"/>
              <a:t>  #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dấu</a:t>
            </a:r>
            <a:endParaRPr lang="en-US" dirty="0"/>
          </a:p>
          <a:p>
            <a:pPr marL="457200" indent="-457200" algn="l">
              <a:buFont typeface="Wingdings" pitchFamily="2" charset="2"/>
              <a:buChar char="§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98197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228600" y="6927"/>
            <a:ext cx="9753600" cy="1470025"/>
          </a:xfrm>
        </p:spPr>
        <p:txBody>
          <a:bodyPr/>
          <a:lstStyle/>
          <a:p>
            <a:r>
              <a:rPr lang="fr-FR" dirty="0" err="1" smtClean="0"/>
              <a:t>Các</a:t>
            </a:r>
            <a:r>
              <a:rPr lang="fr-FR" dirty="0" smtClean="0"/>
              <a:t> </a:t>
            </a:r>
            <a:r>
              <a:rPr lang="fr-FR" dirty="0" err="1" smtClean="0"/>
              <a:t>lệnh</a:t>
            </a:r>
            <a:r>
              <a:rPr lang="fr-FR" dirty="0" smtClean="0"/>
              <a:t> </a:t>
            </a:r>
            <a:r>
              <a:rPr lang="fr-FR" dirty="0" err="1" smtClean="0"/>
              <a:t>rẽ</a:t>
            </a:r>
            <a:r>
              <a:rPr lang="fr-FR" dirty="0" smtClean="0"/>
              <a:t> </a:t>
            </a:r>
            <a:r>
              <a:rPr lang="fr-FR" dirty="0" err="1" smtClean="0"/>
              <a:t>nhánh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" y="1371600"/>
            <a:ext cx="8991600" cy="5410200"/>
          </a:xfrm>
        </p:spPr>
        <p:txBody>
          <a:bodyPr>
            <a:normAutofit/>
          </a:bodyPr>
          <a:lstStyle/>
          <a:p>
            <a:pPr algn="l"/>
            <a:r>
              <a:rPr lang="en-US" dirty="0" err="1"/>
              <a:t>Trong</a:t>
            </a:r>
            <a:r>
              <a:rPr lang="en-US" dirty="0"/>
              <a:t> MIPS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lệnh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: </a:t>
            </a:r>
            <a:r>
              <a:rPr lang="en-US" dirty="0" err="1"/>
              <a:t>blt</a:t>
            </a:r>
            <a:r>
              <a:rPr lang="en-US" dirty="0"/>
              <a:t>, </a:t>
            </a:r>
            <a:r>
              <a:rPr lang="en-US" dirty="0" err="1"/>
              <a:t>ble</a:t>
            </a:r>
            <a:r>
              <a:rPr lang="en-US" dirty="0"/>
              <a:t>, </a:t>
            </a:r>
            <a:r>
              <a:rPr lang="en-US" dirty="0" err="1"/>
              <a:t>bgt</a:t>
            </a:r>
            <a:r>
              <a:rPr lang="en-US" dirty="0"/>
              <a:t>, </a:t>
            </a:r>
            <a:r>
              <a:rPr lang="en-US" dirty="0" err="1"/>
              <a:t>bge</a:t>
            </a:r>
            <a:r>
              <a:rPr lang="en-US" dirty="0"/>
              <a:t>.</a:t>
            </a:r>
          </a:p>
          <a:p>
            <a:pPr marL="457200" indent="-457200" algn="l">
              <a:buFont typeface="Wingdings" pitchFamily="2" charset="2"/>
              <a:buChar char="§"/>
            </a:pP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lệnh</a:t>
            </a:r>
            <a:r>
              <a:rPr lang="en-US" dirty="0"/>
              <a:t> </a:t>
            </a:r>
            <a:r>
              <a:rPr lang="en-US" dirty="0" err="1"/>
              <a:t>blt</a:t>
            </a:r>
            <a:r>
              <a:rPr lang="en-US" dirty="0"/>
              <a:t>  $s0, $s1, </a:t>
            </a:r>
            <a:r>
              <a:rPr lang="en-US" dirty="0" err="1"/>
              <a:t>addr</a:t>
            </a:r>
            <a:r>
              <a:rPr lang="en-US" dirty="0"/>
              <a:t>  ta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tổ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lệnh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:</a:t>
            </a:r>
          </a:p>
          <a:p>
            <a:pPr algn="l"/>
            <a:r>
              <a:rPr lang="en-US" dirty="0" smtClean="0"/>
              <a:t>	</a:t>
            </a:r>
            <a:r>
              <a:rPr lang="en-US" dirty="0" err="1" smtClean="0"/>
              <a:t>slt</a:t>
            </a:r>
            <a:r>
              <a:rPr lang="en-US" dirty="0" smtClean="0"/>
              <a:t>  </a:t>
            </a:r>
            <a:r>
              <a:rPr lang="en-US" dirty="0"/>
              <a:t>$at, $s0, $s1</a:t>
            </a:r>
          </a:p>
          <a:p>
            <a:pPr algn="l"/>
            <a:r>
              <a:rPr lang="en-US" dirty="0" smtClean="0"/>
              <a:t>	</a:t>
            </a:r>
            <a:r>
              <a:rPr lang="en-US" dirty="0" err="1" smtClean="0"/>
              <a:t>bne</a:t>
            </a:r>
            <a:r>
              <a:rPr lang="en-US" dirty="0" smtClean="0"/>
              <a:t> </a:t>
            </a:r>
            <a:r>
              <a:rPr lang="en-US" dirty="0"/>
              <a:t>$at, $zero, </a:t>
            </a:r>
            <a:r>
              <a:rPr lang="en-US" dirty="0" err="1"/>
              <a:t>addr</a:t>
            </a:r>
            <a:endParaRPr lang="en-US" dirty="0"/>
          </a:p>
          <a:p>
            <a:pPr marL="457200" indent="-457200" algn="l">
              <a:buFont typeface="Wingdings" pitchFamily="2" charset="2"/>
              <a:buChar char="§"/>
            </a:pPr>
            <a:r>
              <a:rPr lang="en-US" dirty="0" err="1"/>
              <a:t>hoặc</a:t>
            </a:r>
            <a:r>
              <a:rPr lang="en-US" dirty="0"/>
              <a:t> </a:t>
            </a:r>
            <a:r>
              <a:rPr lang="en-US" dirty="0" err="1"/>
              <a:t>lệnh</a:t>
            </a:r>
            <a:r>
              <a:rPr lang="en-US" dirty="0"/>
              <a:t> </a:t>
            </a:r>
            <a:r>
              <a:rPr lang="en-US" dirty="0" err="1"/>
              <a:t>ble</a:t>
            </a:r>
            <a:r>
              <a:rPr lang="en-US" dirty="0"/>
              <a:t> $s2, $s3, </a:t>
            </a:r>
            <a:r>
              <a:rPr lang="en-US" dirty="0" err="1"/>
              <a:t>addr</a:t>
            </a:r>
            <a:r>
              <a:rPr lang="en-US" dirty="0"/>
              <a:t> 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lệnh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:</a:t>
            </a:r>
          </a:p>
          <a:p>
            <a:pPr algn="l"/>
            <a:r>
              <a:rPr lang="en-US" dirty="0"/>
              <a:t>	</a:t>
            </a:r>
            <a:r>
              <a:rPr lang="en-US" dirty="0" err="1"/>
              <a:t>slt</a:t>
            </a:r>
            <a:r>
              <a:rPr lang="en-US" dirty="0"/>
              <a:t>  $at, $s3, $s2</a:t>
            </a:r>
          </a:p>
          <a:p>
            <a:pPr algn="l"/>
            <a:r>
              <a:rPr lang="en-US" dirty="0"/>
              <a:t>	</a:t>
            </a:r>
            <a:r>
              <a:rPr lang="en-US" dirty="0" err="1"/>
              <a:t>beq</a:t>
            </a:r>
            <a:r>
              <a:rPr lang="en-US" dirty="0"/>
              <a:t>  $at, $zero, </a:t>
            </a:r>
            <a:r>
              <a:rPr lang="en-US" dirty="0" err="1"/>
              <a:t>addr</a:t>
            </a:r>
            <a:endParaRPr lang="en-US" dirty="0"/>
          </a:p>
          <a:p>
            <a:pPr marL="457200" indent="-457200" algn="l">
              <a:buFont typeface="Wingdings" pitchFamily="2" charset="2"/>
              <a:buChar char="§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37029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228600" y="6927"/>
            <a:ext cx="9753600" cy="1470025"/>
          </a:xfrm>
        </p:spPr>
        <p:txBody>
          <a:bodyPr/>
          <a:lstStyle/>
          <a:p>
            <a:r>
              <a:rPr lang="fr-FR" dirty="0" err="1" smtClean="0"/>
              <a:t>Các</a:t>
            </a:r>
            <a:r>
              <a:rPr lang="fr-FR" dirty="0" smtClean="0"/>
              <a:t> </a:t>
            </a:r>
            <a:r>
              <a:rPr lang="fr-FR" dirty="0" err="1" smtClean="0"/>
              <a:t>lệnh</a:t>
            </a:r>
            <a:r>
              <a:rPr lang="fr-FR" dirty="0" smtClean="0"/>
              <a:t> </a:t>
            </a:r>
            <a:r>
              <a:rPr lang="fr-FR" dirty="0" err="1" smtClean="0"/>
              <a:t>rẽ</a:t>
            </a:r>
            <a:r>
              <a:rPr lang="fr-FR" dirty="0" smtClean="0"/>
              <a:t> </a:t>
            </a:r>
            <a:r>
              <a:rPr lang="fr-FR" dirty="0" err="1" smtClean="0"/>
              <a:t>nhánh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" y="1371600"/>
            <a:ext cx="8991600" cy="5410200"/>
          </a:xfrm>
        </p:spPr>
        <p:txBody>
          <a:bodyPr>
            <a:normAutofit fontScale="77500" lnSpcReduction="20000"/>
          </a:bodyPr>
          <a:lstStyle/>
          <a:p>
            <a:pPr marL="457200" indent="-457200" algn="l">
              <a:buFont typeface="Wingdings" pitchFamily="2" charset="2"/>
              <a:buChar char="§"/>
            </a:pPr>
            <a:r>
              <a:rPr lang="vi-VN" dirty="0" smtClean="0"/>
              <a:t>Ứng </a:t>
            </a:r>
            <a:r>
              <a:rPr lang="vi-VN" dirty="0"/>
              <a:t>dụng: minh họa một số cấu trúc điều kiện, vòng lặp</a:t>
            </a:r>
          </a:p>
          <a:p>
            <a:pPr algn="l"/>
            <a:r>
              <a:rPr lang="en-US" dirty="0"/>
              <a:t>	</a:t>
            </a:r>
            <a:r>
              <a:rPr lang="vi-VN" dirty="0" smtClean="0"/>
              <a:t>Cấu </a:t>
            </a:r>
            <a:r>
              <a:rPr lang="vi-VN" dirty="0"/>
              <a:t>trúc IF</a:t>
            </a:r>
          </a:p>
          <a:p>
            <a:pPr algn="l"/>
            <a:r>
              <a:rPr lang="en-US" dirty="0" smtClean="0"/>
              <a:t>	</a:t>
            </a:r>
            <a:r>
              <a:rPr lang="vi-VN" dirty="0" smtClean="0"/>
              <a:t>Ví </a:t>
            </a:r>
            <a:r>
              <a:rPr lang="vi-VN" dirty="0"/>
              <a:t>dụ 1:</a:t>
            </a:r>
          </a:p>
          <a:p>
            <a:pPr algn="l"/>
            <a:r>
              <a:rPr lang="en-US" dirty="0" smtClean="0"/>
              <a:t>	</a:t>
            </a:r>
            <a:r>
              <a:rPr lang="vi-VN" dirty="0" smtClean="0"/>
              <a:t>if </a:t>
            </a:r>
            <a:r>
              <a:rPr lang="vi-VN" dirty="0"/>
              <a:t>(a == b) c = d + e; else c = d – e; </a:t>
            </a:r>
          </a:p>
          <a:p>
            <a:pPr algn="l"/>
            <a:r>
              <a:rPr lang="en-US" dirty="0" smtClean="0"/>
              <a:t>	</a:t>
            </a:r>
            <a:r>
              <a:rPr lang="vi-VN" dirty="0" smtClean="0"/>
              <a:t>Giả </a:t>
            </a:r>
            <a:r>
              <a:rPr lang="vi-VN" dirty="0"/>
              <a:t>sử a, b, c, d, e được lưu lần lượt trong $s0, …, $s4 </a:t>
            </a:r>
          </a:p>
          <a:p>
            <a:pPr algn="l"/>
            <a:r>
              <a:rPr lang="en-US" dirty="0" smtClean="0"/>
              <a:t>	</a:t>
            </a:r>
            <a:r>
              <a:rPr lang="vi-VN" dirty="0" smtClean="0"/>
              <a:t>Câu </a:t>
            </a:r>
            <a:r>
              <a:rPr lang="vi-VN" dirty="0"/>
              <a:t>lệnh IF này tương ứng với các lệnh hợp ngữ sau: </a:t>
            </a:r>
          </a:p>
          <a:p>
            <a:pPr algn="l"/>
            <a:r>
              <a:rPr lang="vi-VN" dirty="0"/>
              <a:t>		bne   $s0, $s1, else </a:t>
            </a:r>
          </a:p>
          <a:p>
            <a:pPr algn="l"/>
            <a:r>
              <a:rPr lang="vi-VN" dirty="0"/>
              <a:t>		addu  $s2, $s3, $s4 </a:t>
            </a:r>
          </a:p>
          <a:p>
            <a:pPr algn="l"/>
            <a:r>
              <a:rPr lang="vi-VN" dirty="0"/>
              <a:t>		j     exit </a:t>
            </a:r>
          </a:p>
          <a:p>
            <a:pPr algn="l"/>
            <a:r>
              <a:rPr lang="vi-VN" dirty="0"/>
              <a:t>	else:   subu  $s2, $s3, $s4 </a:t>
            </a:r>
          </a:p>
          <a:p>
            <a:pPr algn="l"/>
            <a:r>
              <a:rPr lang="vi-VN" dirty="0"/>
              <a:t>	exit:  . . .</a:t>
            </a:r>
          </a:p>
          <a:p>
            <a:pPr marL="457200" indent="-457200" algn="l">
              <a:buFont typeface="Wingdings" pitchFamily="2" charset="2"/>
              <a:buChar char="§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476727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228600" y="6927"/>
            <a:ext cx="9753600" cy="1470025"/>
          </a:xfrm>
        </p:spPr>
        <p:txBody>
          <a:bodyPr/>
          <a:lstStyle/>
          <a:p>
            <a:r>
              <a:rPr lang="fr-FR" dirty="0" err="1" smtClean="0"/>
              <a:t>Các</a:t>
            </a:r>
            <a:r>
              <a:rPr lang="fr-FR" dirty="0" smtClean="0"/>
              <a:t> </a:t>
            </a:r>
            <a:r>
              <a:rPr lang="fr-FR" dirty="0" err="1" smtClean="0"/>
              <a:t>lệnh</a:t>
            </a:r>
            <a:r>
              <a:rPr lang="fr-FR" dirty="0" smtClean="0"/>
              <a:t> </a:t>
            </a:r>
            <a:r>
              <a:rPr lang="fr-FR" dirty="0" err="1" smtClean="0"/>
              <a:t>rẽ</a:t>
            </a:r>
            <a:r>
              <a:rPr lang="fr-FR" dirty="0" smtClean="0"/>
              <a:t> </a:t>
            </a:r>
            <a:r>
              <a:rPr lang="fr-FR" dirty="0" err="1" smtClean="0"/>
              <a:t>nhánh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" y="1371600"/>
            <a:ext cx="8991600" cy="5410200"/>
          </a:xfrm>
        </p:spPr>
        <p:txBody>
          <a:bodyPr>
            <a:normAutofit lnSpcReduction="10000"/>
          </a:bodyPr>
          <a:lstStyle/>
          <a:p>
            <a:pPr marL="457200" indent="-457200" algn="l">
              <a:buFont typeface="Wingdings" pitchFamily="2" charset="2"/>
              <a:buChar char="§"/>
            </a:pPr>
            <a:r>
              <a:rPr lang="vi-VN" dirty="0" smtClean="0"/>
              <a:t>Ứng </a:t>
            </a:r>
            <a:r>
              <a:rPr lang="vi-VN" dirty="0"/>
              <a:t>dụng: minh họa một số cấu trúc điều kiện, vòng lặp</a:t>
            </a:r>
          </a:p>
          <a:p>
            <a:pPr algn="l"/>
            <a:r>
              <a:rPr lang="en-US" dirty="0"/>
              <a:t>	</a:t>
            </a:r>
            <a:r>
              <a:rPr lang="vi-VN" dirty="0" smtClean="0"/>
              <a:t>Cấu </a:t>
            </a:r>
            <a:r>
              <a:rPr lang="vi-VN" dirty="0"/>
              <a:t>trúc IF</a:t>
            </a:r>
          </a:p>
          <a:p>
            <a:pPr algn="l"/>
            <a:r>
              <a:rPr lang="en-US" dirty="0"/>
              <a:t>	</a:t>
            </a:r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 2:</a:t>
            </a:r>
          </a:p>
          <a:p>
            <a:pPr algn="l"/>
            <a:r>
              <a:rPr lang="en-US" dirty="0" smtClean="0"/>
              <a:t>	if </a:t>
            </a:r>
            <a:r>
              <a:rPr lang="en-US" dirty="0"/>
              <a:t>(($s1 &gt; 0) &amp;&amp; ($s2 &lt; 0)) {$s3++;}</a:t>
            </a:r>
          </a:p>
          <a:p>
            <a:pPr algn="l"/>
            <a:r>
              <a:rPr lang="en-US" dirty="0" smtClean="0"/>
              <a:t>	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/>
              <a:t>lệnh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ngữ</a:t>
            </a:r>
            <a:r>
              <a:rPr lang="en-US" dirty="0"/>
              <a:t> </a:t>
            </a:r>
            <a:r>
              <a:rPr lang="en-US" dirty="0" err="1"/>
              <a:t>tương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:</a:t>
            </a:r>
          </a:p>
          <a:p>
            <a:pPr algn="l"/>
            <a:r>
              <a:rPr lang="en-US" dirty="0"/>
              <a:t>	</a:t>
            </a:r>
            <a:r>
              <a:rPr lang="en-US" dirty="0" err="1"/>
              <a:t>blez</a:t>
            </a:r>
            <a:r>
              <a:rPr lang="en-US" dirty="0"/>
              <a:t>  $s1, next 	# skip if false </a:t>
            </a:r>
          </a:p>
          <a:p>
            <a:pPr algn="l"/>
            <a:r>
              <a:rPr lang="en-US" dirty="0"/>
              <a:t>	</a:t>
            </a:r>
            <a:r>
              <a:rPr lang="en-US" dirty="0" err="1"/>
              <a:t>bgez</a:t>
            </a:r>
            <a:r>
              <a:rPr lang="en-US" dirty="0"/>
              <a:t>  $s2, next  	# skip if false </a:t>
            </a:r>
          </a:p>
          <a:p>
            <a:pPr algn="l"/>
            <a:r>
              <a:rPr lang="en-US" dirty="0"/>
              <a:t>	</a:t>
            </a:r>
            <a:r>
              <a:rPr lang="en-US" dirty="0" err="1"/>
              <a:t>addiu</a:t>
            </a:r>
            <a:r>
              <a:rPr lang="en-US" dirty="0"/>
              <a:t>  $s3,$s3,1   	# both are true </a:t>
            </a:r>
          </a:p>
          <a:p>
            <a:pPr algn="l"/>
            <a:r>
              <a:rPr lang="en-US" dirty="0"/>
              <a:t>next: …</a:t>
            </a:r>
          </a:p>
          <a:p>
            <a:pPr marL="457200" indent="-457200" algn="l">
              <a:buFont typeface="Wingdings" pitchFamily="2" charset="2"/>
              <a:buChar char="§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74483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228600" y="6927"/>
            <a:ext cx="9753600" cy="1470025"/>
          </a:xfrm>
        </p:spPr>
        <p:txBody>
          <a:bodyPr/>
          <a:lstStyle/>
          <a:p>
            <a:r>
              <a:rPr lang="fr-FR" dirty="0" err="1" smtClean="0"/>
              <a:t>Các</a:t>
            </a:r>
            <a:r>
              <a:rPr lang="fr-FR" dirty="0" smtClean="0"/>
              <a:t> </a:t>
            </a:r>
            <a:r>
              <a:rPr lang="fr-FR" dirty="0" err="1" smtClean="0"/>
              <a:t>lệnh</a:t>
            </a:r>
            <a:r>
              <a:rPr lang="fr-FR" dirty="0" smtClean="0"/>
              <a:t> </a:t>
            </a:r>
            <a:r>
              <a:rPr lang="fr-FR" dirty="0" err="1" smtClean="0"/>
              <a:t>rẽ</a:t>
            </a:r>
            <a:r>
              <a:rPr lang="fr-FR" dirty="0" smtClean="0"/>
              <a:t> </a:t>
            </a:r>
            <a:r>
              <a:rPr lang="fr-FR" dirty="0" err="1" smtClean="0"/>
              <a:t>nhánh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" y="1371600"/>
            <a:ext cx="6431973" cy="5410200"/>
          </a:xfrm>
        </p:spPr>
        <p:txBody>
          <a:bodyPr>
            <a:normAutofit/>
          </a:bodyPr>
          <a:lstStyle/>
          <a:p>
            <a:pPr marL="457200" indent="-457200" algn="l">
              <a:buFont typeface="Wingdings" pitchFamily="2" charset="2"/>
              <a:buChar char="§"/>
            </a:pPr>
            <a:r>
              <a:rPr lang="vi-VN" dirty="0" smtClean="0"/>
              <a:t>Ứng </a:t>
            </a:r>
            <a:r>
              <a:rPr lang="vi-VN" dirty="0"/>
              <a:t>dụng: minh họa một số cấu trúc điều kiện, vòng lặp</a:t>
            </a:r>
          </a:p>
          <a:p>
            <a:pPr algn="l"/>
            <a:r>
              <a:rPr lang="vi-VN" dirty="0"/>
              <a:t>	Vòng lặp</a:t>
            </a:r>
          </a:p>
          <a:p>
            <a:pPr algn="l"/>
            <a:r>
              <a:rPr lang="vi-VN" dirty="0"/>
              <a:t>Ví dụ:</a:t>
            </a:r>
          </a:p>
          <a:p>
            <a:pPr algn="l"/>
            <a:r>
              <a:rPr lang="vi-VN" dirty="0"/>
              <a:t>i = 0; while (A[i] != k) i = i+1; </a:t>
            </a:r>
          </a:p>
          <a:p>
            <a:pPr algn="l"/>
            <a:r>
              <a:rPr lang="vi-VN" dirty="0"/>
              <a:t>Giả sử địa chỉ của A được lưu trong $s0 và i, k được lưu lần lượt trong $s1, $s2.</a:t>
            </a:r>
          </a:p>
          <a:p>
            <a:pPr marL="457200" indent="-457200" algn="l">
              <a:buFont typeface="Wingdings" pitchFamily="2" charset="2"/>
              <a:buChar char="§"/>
            </a:pPr>
            <a:endParaRPr lang="en-US" dirty="0"/>
          </a:p>
        </p:txBody>
      </p:sp>
      <p:pic>
        <p:nvPicPr>
          <p:cNvPr id="4" name="Picture 3"/>
          <p:cNvPicPr/>
          <p:nvPr/>
        </p:nvPicPr>
        <p:blipFill rotWithShape="1">
          <a:blip r:embed="rId2"/>
          <a:srcRect l="75480" t="27366" r="6250" b="31300"/>
          <a:stretch/>
        </p:blipFill>
        <p:spPr bwMode="auto">
          <a:xfrm>
            <a:off x="6781800" y="2362200"/>
            <a:ext cx="2038350" cy="30480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44067596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228600" y="6927"/>
            <a:ext cx="9753600" cy="1470025"/>
          </a:xfrm>
        </p:spPr>
        <p:txBody>
          <a:bodyPr/>
          <a:lstStyle/>
          <a:p>
            <a:r>
              <a:rPr lang="fr-FR" dirty="0" err="1" smtClean="0"/>
              <a:t>Các</a:t>
            </a:r>
            <a:r>
              <a:rPr lang="fr-FR" dirty="0" smtClean="0"/>
              <a:t> </a:t>
            </a:r>
            <a:r>
              <a:rPr lang="fr-FR" dirty="0" err="1" smtClean="0"/>
              <a:t>lệnh</a:t>
            </a:r>
            <a:r>
              <a:rPr lang="fr-FR" dirty="0" smtClean="0"/>
              <a:t> </a:t>
            </a:r>
            <a:r>
              <a:rPr lang="fr-FR" dirty="0" err="1" smtClean="0"/>
              <a:t>rẽ</a:t>
            </a:r>
            <a:r>
              <a:rPr lang="fr-FR" dirty="0" smtClean="0"/>
              <a:t> </a:t>
            </a:r>
            <a:r>
              <a:rPr lang="fr-FR" dirty="0" err="1" smtClean="0"/>
              <a:t>nhánh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" y="1371600"/>
            <a:ext cx="8991600" cy="5410200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vi-VN" dirty="0"/>
              <a:t>Các lệnh hợp ngữ tương ứng:</a:t>
            </a:r>
          </a:p>
          <a:p>
            <a:pPr algn="l"/>
            <a:r>
              <a:rPr lang="vi-VN" dirty="0"/>
              <a:t>		xor  $s1, $s1, $s1  	# i = 0 </a:t>
            </a:r>
          </a:p>
          <a:p>
            <a:pPr algn="l"/>
            <a:r>
              <a:rPr lang="vi-VN" dirty="0"/>
              <a:t>		move  $t0, $s0  	# $t0 = address A </a:t>
            </a:r>
          </a:p>
          <a:p>
            <a:pPr algn="l"/>
            <a:r>
              <a:rPr lang="vi-VN" dirty="0"/>
              <a:t>loop:	lw  $t1, 0($t0) 	# $t1 = A[i] </a:t>
            </a:r>
          </a:p>
          <a:p>
            <a:pPr algn="l"/>
            <a:r>
              <a:rPr lang="vi-VN" dirty="0"/>
              <a:t>		beq  $t1, $s2, exit  	# exit if (A[i]== k) </a:t>
            </a:r>
          </a:p>
          <a:p>
            <a:pPr algn="l"/>
            <a:r>
              <a:rPr lang="vi-VN" dirty="0"/>
              <a:t>		addiu  $s1, $s1, 1  	# i = i+1 </a:t>
            </a:r>
          </a:p>
          <a:p>
            <a:pPr algn="l"/>
            <a:r>
              <a:rPr lang="vi-VN" dirty="0"/>
              <a:t>    		sll  $t0, $s1, 2  # 	$ t0 = 4*i </a:t>
            </a:r>
          </a:p>
          <a:p>
            <a:pPr algn="l"/>
            <a:r>
              <a:rPr lang="vi-VN" dirty="0"/>
              <a:t>    		addu  $t0, $s0, $t0  	# $t0 = address A[i] </a:t>
            </a:r>
          </a:p>
          <a:p>
            <a:pPr algn="l"/>
            <a:r>
              <a:rPr lang="vi-VN" dirty="0"/>
              <a:t>    		j  loop </a:t>
            </a:r>
          </a:p>
          <a:p>
            <a:pPr algn="l"/>
            <a:r>
              <a:rPr lang="vi-VN" dirty="0"/>
              <a:t>exit: . . .</a:t>
            </a:r>
          </a:p>
          <a:p>
            <a:pPr marL="457200" indent="-457200" algn="l">
              <a:buFont typeface="Wingdings" pitchFamily="2" charset="2"/>
              <a:buChar char="§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584855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228600" y="6927"/>
            <a:ext cx="9753600" cy="1470025"/>
          </a:xfrm>
        </p:spPr>
        <p:txBody>
          <a:bodyPr/>
          <a:lstStyle/>
          <a:p>
            <a:r>
              <a:rPr lang="fr-FR" dirty="0" err="1" smtClean="0"/>
              <a:t>Stack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" y="1371600"/>
            <a:ext cx="8991600" cy="5410200"/>
          </a:xfrm>
        </p:spPr>
        <p:txBody>
          <a:bodyPr>
            <a:normAutofit/>
          </a:bodyPr>
          <a:lstStyle/>
          <a:p>
            <a:pPr marL="457200" indent="-457200" algn="l">
              <a:buFont typeface="Wingdings" pitchFamily="2" charset="2"/>
              <a:buChar char="§"/>
            </a:pPr>
            <a:r>
              <a:rPr lang="vi-VN" dirty="0" smtClean="0"/>
              <a:t>Push:</a:t>
            </a:r>
            <a:endParaRPr lang="vi-VN" dirty="0"/>
          </a:p>
          <a:p>
            <a:pPr algn="l"/>
            <a:r>
              <a:rPr lang="en-US" dirty="0" err="1" smtClean="0"/>
              <a:t>addi</a:t>
            </a:r>
            <a:r>
              <a:rPr lang="vi-VN" dirty="0" smtClean="0"/>
              <a:t> </a:t>
            </a:r>
            <a:r>
              <a:rPr lang="vi-VN" dirty="0"/>
              <a:t>$sp, $sp</a:t>
            </a:r>
            <a:r>
              <a:rPr lang="vi-VN" dirty="0" smtClean="0"/>
              <a:t>,</a:t>
            </a:r>
            <a:r>
              <a:rPr lang="en-US" dirty="0" smtClean="0"/>
              <a:t>- </a:t>
            </a:r>
            <a:r>
              <a:rPr lang="vi-VN" dirty="0" smtClean="0"/>
              <a:t>4</a:t>
            </a:r>
            <a:endParaRPr lang="vi-VN" dirty="0"/>
          </a:p>
          <a:p>
            <a:pPr algn="l"/>
            <a:r>
              <a:rPr lang="vi-VN" dirty="0"/>
              <a:t>sw $t0, ($sp)</a:t>
            </a:r>
          </a:p>
          <a:p>
            <a:pPr marL="457200" indent="-457200" algn="l">
              <a:buFont typeface="Wingdings" pitchFamily="2" charset="2"/>
              <a:buChar char="§"/>
            </a:pPr>
            <a:endParaRPr lang="en-US" dirty="0"/>
          </a:p>
        </p:txBody>
      </p:sp>
      <p:pic>
        <p:nvPicPr>
          <p:cNvPr id="4" name="Picture 3"/>
          <p:cNvPicPr/>
          <p:nvPr/>
        </p:nvPicPr>
        <p:blipFill rotWithShape="1">
          <a:blip r:embed="rId2"/>
          <a:srcRect l="66346" t="35470" r="10257" b="42308"/>
          <a:stretch/>
        </p:blipFill>
        <p:spPr bwMode="auto">
          <a:xfrm>
            <a:off x="4267200" y="1905000"/>
            <a:ext cx="3562350" cy="41148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23299245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228600" y="6927"/>
            <a:ext cx="9753600" cy="1470025"/>
          </a:xfrm>
        </p:spPr>
        <p:txBody>
          <a:bodyPr/>
          <a:lstStyle/>
          <a:p>
            <a:r>
              <a:rPr lang="fr-FR" dirty="0" err="1" smtClean="0"/>
              <a:t>Stack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" y="1371600"/>
            <a:ext cx="8991600" cy="5410200"/>
          </a:xfrm>
        </p:spPr>
        <p:txBody>
          <a:bodyPr>
            <a:normAutofit/>
          </a:bodyPr>
          <a:lstStyle/>
          <a:p>
            <a:pPr marL="457200" indent="-457200" algn="l">
              <a:buFont typeface="Wingdings" pitchFamily="2" charset="2"/>
              <a:buChar char="§"/>
            </a:pPr>
            <a:r>
              <a:rPr lang="vi-VN" dirty="0" smtClean="0"/>
              <a:t>P</a:t>
            </a:r>
            <a:r>
              <a:rPr lang="en-US" dirty="0" smtClean="0"/>
              <a:t>op</a:t>
            </a:r>
            <a:r>
              <a:rPr lang="vi-VN" dirty="0" smtClean="0"/>
              <a:t>:</a:t>
            </a:r>
            <a:endParaRPr lang="vi-VN" dirty="0"/>
          </a:p>
          <a:p>
            <a:pPr algn="l"/>
            <a:r>
              <a:rPr lang="fr-FR" dirty="0" err="1"/>
              <a:t>lw</a:t>
            </a:r>
            <a:r>
              <a:rPr lang="fr-FR" dirty="0"/>
              <a:t> $t0, ($</a:t>
            </a:r>
            <a:r>
              <a:rPr lang="fr-FR" dirty="0" err="1"/>
              <a:t>sp</a:t>
            </a:r>
            <a:r>
              <a:rPr lang="fr-FR" dirty="0"/>
              <a:t>)</a:t>
            </a:r>
          </a:p>
          <a:p>
            <a:pPr algn="l"/>
            <a:r>
              <a:rPr lang="fr-FR" dirty="0" err="1" smtClean="0"/>
              <a:t>addi</a:t>
            </a:r>
            <a:r>
              <a:rPr lang="fr-FR" dirty="0" smtClean="0"/>
              <a:t> </a:t>
            </a:r>
            <a:r>
              <a:rPr lang="fr-FR" dirty="0"/>
              <a:t>$</a:t>
            </a:r>
            <a:r>
              <a:rPr lang="fr-FR" dirty="0" err="1"/>
              <a:t>sp</a:t>
            </a:r>
            <a:r>
              <a:rPr lang="fr-FR" dirty="0"/>
              <a:t>, $</a:t>
            </a:r>
            <a:r>
              <a:rPr lang="fr-FR" dirty="0" err="1"/>
              <a:t>sp</a:t>
            </a:r>
            <a:r>
              <a:rPr lang="fr-FR" dirty="0"/>
              <a:t>, 4</a:t>
            </a:r>
          </a:p>
          <a:p>
            <a:pPr marL="457200" indent="-457200" algn="l">
              <a:buFont typeface="Wingdings" pitchFamily="2" charset="2"/>
              <a:buChar char="§"/>
            </a:pPr>
            <a:endParaRPr lang="en-US" dirty="0"/>
          </a:p>
        </p:txBody>
      </p:sp>
      <p:pic>
        <p:nvPicPr>
          <p:cNvPr id="5" name="Picture 4"/>
          <p:cNvPicPr/>
          <p:nvPr/>
        </p:nvPicPr>
        <p:blipFill rotWithShape="1">
          <a:blip r:embed="rId2"/>
          <a:srcRect l="66346" t="57906" r="10416" b="16667"/>
          <a:stretch/>
        </p:blipFill>
        <p:spPr bwMode="auto">
          <a:xfrm>
            <a:off x="3810000" y="2133600"/>
            <a:ext cx="4248150" cy="409098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76828173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228600" y="6927"/>
            <a:ext cx="9753600" cy="1470025"/>
          </a:xfrm>
        </p:spPr>
        <p:txBody>
          <a:bodyPr/>
          <a:lstStyle/>
          <a:p>
            <a:r>
              <a:rPr lang="fr-FR" dirty="0" err="1" smtClean="0"/>
              <a:t>Stack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" y="1371600"/>
            <a:ext cx="8991600" cy="5410200"/>
          </a:xfrm>
        </p:spPr>
        <p:txBody>
          <a:bodyPr>
            <a:normAutofit fontScale="55000" lnSpcReduction="20000"/>
          </a:bodyPr>
          <a:lstStyle/>
          <a:p>
            <a:pPr marL="457200" indent="-457200" algn="l">
              <a:buFont typeface="Wingdings" pitchFamily="2" charset="2"/>
              <a:buChar char="§"/>
            </a:pPr>
            <a:r>
              <a:rPr lang="en-US" dirty="0" err="1" smtClean="0"/>
              <a:t>Ví</a:t>
            </a:r>
            <a:r>
              <a:rPr lang="en-US" dirty="0" smtClean="0"/>
              <a:t> </a:t>
            </a:r>
            <a:r>
              <a:rPr lang="en-US" dirty="0" err="1" smtClean="0"/>
              <a:t>dụ</a:t>
            </a:r>
            <a:r>
              <a:rPr lang="en-US" dirty="0" smtClean="0"/>
              <a:t>: </a:t>
            </a:r>
            <a:r>
              <a:rPr lang="en-US" dirty="0" err="1" smtClean="0"/>
              <a:t>đảo</a:t>
            </a:r>
            <a:r>
              <a:rPr lang="en-US" dirty="0" smtClean="0"/>
              <a:t> </a:t>
            </a:r>
            <a:r>
              <a:rPr lang="en-US" dirty="0" err="1" smtClean="0"/>
              <a:t>ngược</a:t>
            </a:r>
            <a:r>
              <a:rPr lang="en-US" dirty="0" smtClean="0"/>
              <a:t> </a:t>
            </a:r>
            <a:r>
              <a:rPr lang="en-US" dirty="0" err="1" smtClean="0"/>
              <a:t>thứ</a:t>
            </a:r>
            <a:r>
              <a:rPr lang="en-US" dirty="0" smtClean="0"/>
              <a:t> </a:t>
            </a:r>
            <a:r>
              <a:rPr lang="en-US" dirty="0" err="1" smtClean="0"/>
              <a:t>tự</a:t>
            </a:r>
            <a:r>
              <a:rPr lang="en-US" dirty="0" smtClean="0"/>
              <a:t> </a:t>
            </a:r>
            <a:r>
              <a:rPr lang="en-US" dirty="0" err="1" smtClean="0"/>
              <a:t>một</a:t>
            </a:r>
            <a:r>
              <a:rPr lang="en-US" dirty="0" smtClean="0"/>
              <a:t> </a:t>
            </a:r>
            <a:r>
              <a:rPr lang="en-US" dirty="0" err="1" smtClean="0"/>
              <a:t>mảng</a:t>
            </a:r>
            <a:endParaRPr lang="en-US" dirty="0" smtClean="0"/>
          </a:p>
          <a:p>
            <a:pPr algn="l"/>
            <a:r>
              <a:rPr lang="en-US" dirty="0"/>
              <a:t>.data</a:t>
            </a:r>
          </a:p>
          <a:p>
            <a:pPr algn="l"/>
            <a:r>
              <a:rPr lang="en-US" dirty="0"/>
              <a:t>array</a:t>
            </a:r>
            <a:r>
              <a:rPr lang="en-US" dirty="0" smtClean="0"/>
              <a:t>:	.</a:t>
            </a:r>
            <a:r>
              <a:rPr lang="en-US" dirty="0"/>
              <a:t>word      1,  3,  5,  7,  9, 11, 13, 15, 17, 19</a:t>
            </a:r>
          </a:p>
          <a:p>
            <a:pPr algn="l"/>
            <a:r>
              <a:rPr lang="en-US" dirty="0" smtClean="0"/>
              <a:t>length:	.</a:t>
            </a:r>
            <a:r>
              <a:rPr lang="en-US" dirty="0"/>
              <a:t>word     </a:t>
            </a:r>
            <a:r>
              <a:rPr lang="en-US" dirty="0" smtClean="0"/>
              <a:t>10</a:t>
            </a:r>
            <a:endParaRPr lang="en-US" dirty="0"/>
          </a:p>
          <a:p>
            <a:pPr algn="l"/>
            <a:r>
              <a:rPr lang="en-US" dirty="0" smtClean="0"/>
              <a:t>.</a:t>
            </a:r>
            <a:r>
              <a:rPr lang="en-US" dirty="0"/>
              <a:t>text</a:t>
            </a:r>
          </a:p>
          <a:p>
            <a:pPr algn="l"/>
            <a:r>
              <a:rPr lang="en-US" dirty="0"/>
              <a:t>.</a:t>
            </a:r>
            <a:r>
              <a:rPr lang="en-US" dirty="0" err="1"/>
              <a:t>globl</a:t>
            </a:r>
            <a:r>
              <a:rPr lang="en-US" dirty="0"/>
              <a:t> main</a:t>
            </a:r>
          </a:p>
          <a:p>
            <a:pPr algn="l"/>
            <a:r>
              <a:rPr lang="en-US" dirty="0"/>
              <a:t>main:</a:t>
            </a:r>
          </a:p>
          <a:p>
            <a:pPr algn="l"/>
            <a:r>
              <a:rPr lang="en-US" dirty="0" smtClean="0"/>
              <a:t>#</a:t>
            </a:r>
            <a:r>
              <a:rPr lang="en-US" dirty="0"/>
              <a:t>  </a:t>
            </a:r>
            <a:r>
              <a:rPr lang="en-US" dirty="0" err="1" smtClean="0"/>
              <a:t>đọc</a:t>
            </a:r>
            <a:r>
              <a:rPr lang="en-US" dirty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phần</a:t>
            </a:r>
            <a:r>
              <a:rPr lang="en-US" dirty="0" smtClean="0"/>
              <a:t> </a:t>
            </a:r>
            <a:r>
              <a:rPr lang="en-US" dirty="0" err="1" smtClean="0"/>
              <a:t>tử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mảng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đưa</a:t>
            </a:r>
            <a:r>
              <a:rPr lang="en-US" dirty="0" smtClean="0"/>
              <a:t> </a:t>
            </a:r>
            <a:r>
              <a:rPr lang="en-US" dirty="0" err="1" smtClean="0"/>
              <a:t>vào</a:t>
            </a:r>
            <a:r>
              <a:rPr lang="en-US" dirty="0" smtClean="0"/>
              <a:t> stack</a:t>
            </a:r>
            <a:endParaRPr lang="en-US" dirty="0"/>
          </a:p>
          <a:p>
            <a:pPr algn="l"/>
            <a:r>
              <a:rPr lang="en-US" dirty="0"/>
              <a:t>la $t0, array # </a:t>
            </a:r>
            <a:r>
              <a:rPr lang="en-US" dirty="0" err="1" smtClean="0"/>
              <a:t>địa</a:t>
            </a:r>
            <a:r>
              <a:rPr lang="en-US" dirty="0" smtClean="0"/>
              <a:t> </a:t>
            </a:r>
            <a:r>
              <a:rPr lang="en-US" dirty="0" err="1" smtClean="0"/>
              <a:t>chỉ</a:t>
            </a:r>
            <a:r>
              <a:rPr lang="en-US" dirty="0" smtClean="0"/>
              <a:t> </a:t>
            </a:r>
            <a:r>
              <a:rPr lang="en-US" dirty="0" err="1" smtClean="0"/>
              <a:t>bắt</a:t>
            </a:r>
            <a:r>
              <a:rPr lang="en-US" dirty="0" smtClean="0"/>
              <a:t> </a:t>
            </a:r>
            <a:r>
              <a:rPr lang="en-US" dirty="0" err="1" smtClean="0"/>
              <a:t>đầu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mảng</a:t>
            </a:r>
            <a:endParaRPr lang="en-US" dirty="0"/>
          </a:p>
          <a:p>
            <a:pPr algn="l"/>
            <a:r>
              <a:rPr lang="en-US" dirty="0"/>
              <a:t>li $t1, 0 # </a:t>
            </a:r>
            <a:r>
              <a:rPr lang="en-US" dirty="0" err="1" smtClean="0"/>
              <a:t>chỉ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vòng</a:t>
            </a:r>
            <a:r>
              <a:rPr lang="en-US" dirty="0" smtClean="0"/>
              <a:t> </a:t>
            </a:r>
            <a:r>
              <a:rPr lang="en-US" dirty="0" err="1" smtClean="0"/>
              <a:t>lặp</a:t>
            </a:r>
            <a:r>
              <a:rPr lang="en-US" dirty="0" smtClean="0"/>
              <a:t>,</a:t>
            </a:r>
            <a:r>
              <a:rPr lang="en-US" dirty="0"/>
              <a:t> i=0</a:t>
            </a:r>
          </a:p>
          <a:p>
            <a:pPr algn="l"/>
            <a:r>
              <a:rPr lang="en-US" dirty="0" err="1"/>
              <a:t>lw</a:t>
            </a:r>
            <a:r>
              <a:rPr lang="en-US" dirty="0"/>
              <a:t> $t2, length # </a:t>
            </a:r>
            <a:r>
              <a:rPr lang="en-US" dirty="0" err="1" smtClean="0"/>
              <a:t>chiều</a:t>
            </a:r>
            <a:r>
              <a:rPr lang="en-US" dirty="0" smtClean="0"/>
              <a:t> </a:t>
            </a:r>
            <a:r>
              <a:rPr lang="en-US" dirty="0" err="1" smtClean="0"/>
              <a:t>dài</a:t>
            </a:r>
            <a:r>
              <a:rPr lang="en-US" dirty="0" smtClean="0"/>
              <a:t> </a:t>
            </a:r>
            <a:r>
              <a:rPr lang="en-US" dirty="0" err="1" smtClean="0"/>
              <a:t>mảng</a:t>
            </a:r>
            <a:endParaRPr lang="en-US" dirty="0"/>
          </a:p>
          <a:p>
            <a:pPr algn="l"/>
            <a:r>
              <a:rPr lang="en-US" dirty="0" err="1"/>
              <a:t>pushLoop</a:t>
            </a:r>
            <a:r>
              <a:rPr lang="en-US" dirty="0"/>
              <a:t>:</a:t>
            </a:r>
          </a:p>
          <a:p>
            <a:pPr algn="l"/>
            <a:r>
              <a:rPr lang="en-US" dirty="0" err="1"/>
              <a:t>lw</a:t>
            </a:r>
            <a:r>
              <a:rPr lang="en-US" dirty="0"/>
              <a:t> $t4, ($t0) # </a:t>
            </a:r>
            <a:r>
              <a:rPr lang="en-US" dirty="0" err="1" smtClean="0"/>
              <a:t>lấy</a:t>
            </a:r>
            <a:r>
              <a:rPr lang="en-US" dirty="0" smtClean="0"/>
              <a:t> </a:t>
            </a:r>
            <a:r>
              <a:rPr lang="en-US" dirty="0" err="1" smtClean="0"/>
              <a:t>phần</a:t>
            </a:r>
            <a:r>
              <a:rPr lang="en-US" dirty="0" smtClean="0"/>
              <a:t> </a:t>
            </a:r>
            <a:r>
              <a:rPr lang="en-US" dirty="0" err="1" smtClean="0"/>
              <a:t>tử</a:t>
            </a:r>
            <a:r>
              <a:rPr lang="en-US" dirty="0"/>
              <a:t> array[i]</a:t>
            </a:r>
          </a:p>
          <a:p>
            <a:pPr algn="l"/>
            <a:r>
              <a:rPr lang="en-US" dirty="0" err="1" smtClean="0"/>
              <a:t>addi</a:t>
            </a:r>
            <a:r>
              <a:rPr lang="en-US" dirty="0" smtClean="0"/>
              <a:t> </a:t>
            </a:r>
            <a:r>
              <a:rPr lang="en-US" dirty="0"/>
              <a:t>$</a:t>
            </a:r>
            <a:r>
              <a:rPr lang="en-US" dirty="0" err="1"/>
              <a:t>sp</a:t>
            </a:r>
            <a:r>
              <a:rPr lang="en-US" dirty="0"/>
              <a:t>, $</a:t>
            </a:r>
            <a:r>
              <a:rPr lang="en-US" dirty="0" err="1"/>
              <a:t>sp</a:t>
            </a:r>
            <a:r>
              <a:rPr lang="en-US" dirty="0"/>
              <a:t>, </a:t>
            </a:r>
            <a:r>
              <a:rPr lang="en-US" dirty="0" smtClean="0"/>
              <a:t>-4 </a:t>
            </a:r>
            <a:r>
              <a:rPr lang="en-US" dirty="0"/>
              <a:t># </a:t>
            </a:r>
            <a:r>
              <a:rPr lang="en-US" dirty="0" err="1" smtClean="0"/>
              <a:t>đưa</a:t>
            </a:r>
            <a:r>
              <a:rPr lang="en-US" dirty="0"/>
              <a:t> array[i</a:t>
            </a:r>
            <a:r>
              <a:rPr lang="en-US" dirty="0" smtClean="0"/>
              <a:t>] </a:t>
            </a:r>
            <a:r>
              <a:rPr lang="en-US" dirty="0" err="1" smtClean="0"/>
              <a:t>vào</a:t>
            </a:r>
            <a:r>
              <a:rPr lang="en-US" dirty="0" smtClean="0"/>
              <a:t> stack</a:t>
            </a:r>
            <a:endParaRPr lang="en-US" dirty="0"/>
          </a:p>
          <a:p>
            <a:pPr algn="l"/>
            <a:r>
              <a:rPr lang="en-US" dirty="0" err="1"/>
              <a:t>sw</a:t>
            </a:r>
            <a:r>
              <a:rPr lang="en-US" dirty="0"/>
              <a:t> $t4, ($</a:t>
            </a:r>
            <a:r>
              <a:rPr lang="en-US" dirty="0" err="1"/>
              <a:t>sp</a:t>
            </a:r>
            <a:r>
              <a:rPr lang="en-US" dirty="0"/>
              <a:t>)</a:t>
            </a:r>
          </a:p>
          <a:p>
            <a:pPr algn="l"/>
            <a:r>
              <a:rPr lang="en-US" dirty="0" err="1" smtClean="0"/>
              <a:t>addi</a:t>
            </a:r>
            <a:r>
              <a:rPr lang="en-US" dirty="0" smtClean="0"/>
              <a:t> </a:t>
            </a:r>
            <a:r>
              <a:rPr lang="en-US" dirty="0"/>
              <a:t>$t1, $t1, 1 # i = i+1</a:t>
            </a:r>
          </a:p>
          <a:p>
            <a:pPr algn="l"/>
            <a:r>
              <a:rPr lang="en-US" dirty="0" err="1" smtClean="0"/>
              <a:t>addi</a:t>
            </a:r>
            <a:r>
              <a:rPr lang="en-US" dirty="0" smtClean="0"/>
              <a:t> </a:t>
            </a:r>
            <a:r>
              <a:rPr lang="en-US" dirty="0"/>
              <a:t>$t0, $t0, 4 </a:t>
            </a:r>
          </a:p>
          <a:p>
            <a:pPr algn="l"/>
            <a:r>
              <a:rPr lang="en-US" dirty="0" err="1"/>
              <a:t>blt</a:t>
            </a:r>
            <a:r>
              <a:rPr lang="en-US" dirty="0"/>
              <a:t> $t1, $t2, </a:t>
            </a:r>
            <a:r>
              <a:rPr lang="en-US" dirty="0" err="1"/>
              <a:t>pushLoop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0005619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228600" y="6927"/>
            <a:ext cx="9753600" cy="1470025"/>
          </a:xfrm>
        </p:spPr>
        <p:txBody>
          <a:bodyPr/>
          <a:lstStyle/>
          <a:p>
            <a:r>
              <a:rPr lang="fr-FR" dirty="0" err="1" smtClean="0"/>
              <a:t>Stack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" y="1371600"/>
            <a:ext cx="8991600" cy="5410200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en-US" dirty="0"/>
              <a:t>#  </a:t>
            </a:r>
            <a:r>
              <a:rPr lang="en-US" dirty="0" err="1" smtClean="0"/>
              <a:t>lấy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phần</a:t>
            </a:r>
            <a:r>
              <a:rPr lang="en-US" dirty="0" smtClean="0"/>
              <a:t> </a:t>
            </a:r>
            <a:r>
              <a:rPr lang="en-US" dirty="0" err="1" smtClean="0"/>
              <a:t>tử</a:t>
            </a:r>
            <a:r>
              <a:rPr lang="en-US" dirty="0" smtClean="0"/>
              <a:t> </a:t>
            </a:r>
            <a:r>
              <a:rPr lang="en-US" dirty="0" err="1" smtClean="0"/>
              <a:t>từ</a:t>
            </a:r>
            <a:r>
              <a:rPr lang="en-US" dirty="0" smtClean="0"/>
              <a:t> stack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ghi</a:t>
            </a:r>
            <a:r>
              <a:rPr lang="en-US" dirty="0" smtClean="0"/>
              <a:t> </a:t>
            </a:r>
            <a:r>
              <a:rPr lang="en-US" dirty="0" err="1" smtClean="0"/>
              <a:t>trở</a:t>
            </a:r>
            <a:r>
              <a:rPr lang="en-US" dirty="0" smtClean="0"/>
              <a:t> </a:t>
            </a:r>
            <a:r>
              <a:rPr lang="en-US" dirty="0" err="1" smtClean="0"/>
              <a:t>lại</a:t>
            </a:r>
            <a:r>
              <a:rPr lang="en-US" dirty="0" smtClean="0"/>
              <a:t> </a:t>
            </a:r>
            <a:r>
              <a:rPr lang="en-US" dirty="0" err="1" smtClean="0"/>
              <a:t>vào</a:t>
            </a:r>
            <a:r>
              <a:rPr lang="en-US" dirty="0" smtClean="0"/>
              <a:t> </a:t>
            </a:r>
            <a:r>
              <a:rPr lang="en-US" dirty="0" err="1" smtClean="0"/>
              <a:t>mảng</a:t>
            </a:r>
            <a:endParaRPr lang="en-US" dirty="0"/>
          </a:p>
          <a:p>
            <a:pPr algn="l"/>
            <a:r>
              <a:rPr lang="en-US" dirty="0"/>
              <a:t>la $t0, array </a:t>
            </a:r>
          </a:p>
          <a:p>
            <a:pPr algn="l"/>
            <a:r>
              <a:rPr lang="en-US" dirty="0"/>
              <a:t>li $t1, </a:t>
            </a:r>
            <a:r>
              <a:rPr lang="en-US" dirty="0" smtClean="0"/>
              <a:t>0</a:t>
            </a:r>
            <a:endParaRPr lang="en-US" dirty="0"/>
          </a:p>
          <a:p>
            <a:pPr algn="l"/>
            <a:r>
              <a:rPr lang="en-US" dirty="0" smtClean="0"/>
              <a:t># </a:t>
            </a:r>
            <a:r>
              <a:rPr lang="en-US" dirty="0" err="1" smtClean="0"/>
              <a:t>lw</a:t>
            </a:r>
            <a:r>
              <a:rPr lang="en-US" dirty="0" smtClean="0"/>
              <a:t> </a:t>
            </a:r>
            <a:r>
              <a:rPr lang="en-US" dirty="0"/>
              <a:t>$t2, length # </a:t>
            </a:r>
            <a:r>
              <a:rPr lang="en-US" dirty="0" err="1" smtClean="0"/>
              <a:t>dư</a:t>
            </a:r>
            <a:r>
              <a:rPr lang="en-US" dirty="0" smtClean="0"/>
              <a:t> </a:t>
            </a:r>
            <a:r>
              <a:rPr lang="en-US" dirty="0" err="1" smtClean="0"/>
              <a:t>thừa</a:t>
            </a:r>
            <a:endParaRPr lang="en-US" dirty="0"/>
          </a:p>
          <a:p>
            <a:pPr algn="l"/>
            <a:r>
              <a:rPr lang="en-US" dirty="0" err="1"/>
              <a:t>popLoop</a:t>
            </a:r>
            <a:r>
              <a:rPr lang="en-US" dirty="0"/>
              <a:t>:</a:t>
            </a:r>
          </a:p>
          <a:p>
            <a:pPr algn="l"/>
            <a:r>
              <a:rPr lang="en-US" dirty="0" err="1"/>
              <a:t>lw</a:t>
            </a:r>
            <a:r>
              <a:rPr lang="en-US" dirty="0"/>
              <a:t> $t4, ($</a:t>
            </a:r>
            <a:r>
              <a:rPr lang="en-US" dirty="0" err="1"/>
              <a:t>sp</a:t>
            </a:r>
            <a:r>
              <a:rPr lang="en-US" dirty="0"/>
              <a:t>)</a:t>
            </a:r>
          </a:p>
          <a:p>
            <a:pPr algn="l"/>
            <a:r>
              <a:rPr lang="en-US" dirty="0" err="1" smtClean="0"/>
              <a:t>addi</a:t>
            </a:r>
            <a:r>
              <a:rPr lang="en-US" dirty="0" smtClean="0"/>
              <a:t> </a:t>
            </a:r>
            <a:r>
              <a:rPr lang="en-US" dirty="0"/>
              <a:t>$</a:t>
            </a:r>
            <a:r>
              <a:rPr lang="en-US" dirty="0" err="1"/>
              <a:t>sp</a:t>
            </a:r>
            <a:r>
              <a:rPr lang="en-US" dirty="0"/>
              <a:t>, $</a:t>
            </a:r>
            <a:r>
              <a:rPr lang="en-US" dirty="0" err="1"/>
              <a:t>sp</a:t>
            </a:r>
            <a:r>
              <a:rPr lang="en-US" dirty="0"/>
              <a:t>, 4 # pop array[i]</a:t>
            </a:r>
          </a:p>
          <a:p>
            <a:pPr algn="l"/>
            <a:r>
              <a:rPr lang="en-US" dirty="0" err="1"/>
              <a:t>sw</a:t>
            </a:r>
            <a:r>
              <a:rPr lang="en-US" dirty="0"/>
              <a:t> $t4, ($t0) # </a:t>
            </a:r>
            <a:r>
              <a:rPr lang="en-US" dirty="0" err="1" smtClean="0"/>
              <a:t>lưu</a:t>
            </a:r>
            <a:r>
              <a:rPr lang="en-US" dirty="0" smtClean="0"/>
              <a:t> </a:t>
            </a:r>
            <a:r>
              <a:rPr lang="en-US" dirty="0" err="1" smtClean="0"/>
              <a:t>lại</a:t>
            </a:r>
            <a:r>
              <a:rPr lang="en-US" dirty="0"/>
              <a:t> array[i]</a:t>
            </a:r>
          </a:p>
          <a:p>
            <a:pPr algn="l"/>
            <a:r>
              <a:rPr lang="en-US" dirty="0" err="1" smtClean="0"/>
              <a:t>addi</a:t>
            </a:r>
            <a:r>
              <a:rPr lang="en-US" dirty="0" smtClean="0"/>
              <a:t> $</a:t>
            </a:r>
            <a:r>
              <a:rPr lang="en-US" dirty="0"/>
              <a:t>t1, $t1, 1 # i = i+1</a:t>
            </a:r>
          </a:p>
          <a:p>
            <a:pPr algn="l"/>
            <a:r>
              <a:rPr lang="en-US" dirty="0" err="1" smtClean="0"/>
              <a:t>addi</a:t>
            </a:r>
            <a:r>
              <a:rPr lang="en-US" dirty="0" smtClean="0"/>
              <a:t> $</a:t>
            </a:r>
            <a:r>
              <a:rPr lang="en-US" dirty="0"/>
              <a:t>t0, $t0, 4 </a:t>
            </a:r>
          </a:p>
          <a:p>
            <a:pPr algn="l"/>
            <a:r>
              <a:rPr lang="en-US" dirty="0" err="1"/>
              <a:t>blt</a:t>
            </a:r>
            <a:r>
              <a:rPr lang="en-US" dirty="0"/>
              <a:t> </a:t>
            </a:r>
            <a:r>
              <a:rPr lang="en-US" dirty="0" smtClean="0"/>
              <a:t>$</a:t>
            </a:r>
            <a:r>
              <a:rPr lang="en-US" dirty="0"/>
              <a:t>t1, $t2, </a:t>
            </a:r>
            <a:r>
              <a:rPr lang="en-US" dirty="0" err="1"/>
              <a:t>popLoop</a:t>
            </a:r>
            <a:r>
              <a:rPr lang="en-US" dirty="0"/>
              <a:t> </a:t>
            </a:r>
          </a:p>
          <a:p>
            <a:pPr algn="l"/>
            <a:r>
              <a:rPr lang="en-US" dirty="0" smtClean="0"/>
              <a:t>­­­­­</a:t>
            </a:r>
            <a:endParaRPr lang="en-US" dirty="0"/>
          </a:p>
          <a:p>
            <a:pPr algn="l"/>
            <a:r>
              <a:rPr lang="en-US" dirty="0" smtClean="0"/>
              <a:t>li </a:t>
            </a:r>
            <a:r>
              <a:rPr lang="en-US" dirty="0"/>
              <a:t>$v0, </a:t>
            </a:r>
            <a:r>
              <a:rPr lang="en-US" dirty="0" smtClean="0"/>
              <a:t>10</a:t>
            </a:r>
            <a:endParaRPr lang="en-US" dirty="0"/>
          </a:p>
          <a:p>
            <a:pPr algn="l"/>
            <a:r>
              <a:rPr lang="en-US" dirty="0" err="1" smtClean="0"/>
              <a:t>syscall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114259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533400"/>
            <a:ext cx="7772400" cy="1470025"/>
          </a:xfrm>
        </p:spPr>
        <p:txBody>
          <a:bodyPr/>
          <a:lstStyle/>
          <a:p>
            <a:r>
              <a:rPr lang="en-US" dirty="0" err="1" smtClean="0"/>
              <a:t>Thủ</a:t>
            </a:r>
            <a:r>
              <a:rPr lang="en-US" dirty="0" smtClean="0"/>
              <a:t> </a:t>
            </a:r>
            <a:r>
              <a:rPr lang="en-US" dirty="0" err="1" smtClean="0"/>
              <a:t>tục</a:t>
            </a:r>
            <a:r>
              <a:rPr lang="en-US" dirty="0" smtClean="0"/>
              <a:t> (procedures)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600" y="1911927"/>
            <a:ext cx="7924800" cy="4953000"/>
          </a:xfrm>
        </p:spPr>
        <p:txBody>
          <a:bodyPr/>
          <a:lstStyle/>
          <a:p>
            <a:pPr marL="457200" indent="-457200" algn="l">
              <a:buFont typeface="Wingdings" pitchFamily="2" charset="2"/>
              <a:buChar char="§"/>
            </a:pPr>
            <a:r>
              <a:rPr lang="en-US" dirty="0" err="1"/>
              <a:t>j</a:t>
            </a:r>
            <a:r>
              <a:rPr lang="en-US" dirty="0" err="1" smtClean="0"/>
              <a:t>al</a:t>
            </a:r>
            <a:r>
              <a:rPr lang="en-US" dirty="0" smtClean="0"/>
              <a:t>  </a:t>
            </a:r>
            <a:r>
              <a:rPr lang="en-US" dirty="0" err="1" smtClean="0"/>
              <a:t>addr</a:t>
            </a:r>
            <a:endParaRPr lang="en-US" dirty="0" smtClean="0"/>
          </a:p>
          <a:p>
            <a:pPr marL="914400" lvl="1" indent="-457200" algn="l">
              <a:buFont typeface="Wingdings" pitchFamily="2" charset="2"/>
              <a:buChar char="§"/>
            </a:pPr>
            <a:r>
              <a:rPr lang="en-US" dirty="0" err="1" smtClean="0"/>
              <a:t>Lưu</a:t>
            </a:r>
            <a:r>
              <a:rPr lang="en-US" dirty="0" smtClean="0"/>
              <a:t> </a:t>
            </a:r>
            <a:r>
              <a:rPr lang="en-US" dirty="0" err="1" smtClean="0"/>
              <a:t>địa</a:t>
            </a:r>
            <a:r>
              <a:rPr lang="en-US" dirty="0" smtClean="0"/>
              <a:t> </a:t>
            </a:r>
            <a:r>
              <a:rPr lang="en-US" dirty="0" err="1" smtClean="0"/>
              <a:t>chỉ</a:t>
            </a:r>
            <a:r>
              <a:rPr lang="en-US" dirty="0" smtClean="0"/>
              <a:t> </a:t>
            </a:r>
            <a:r>
              <a:rPr lang="en-US" dirty="0" err="1" smtClean="0"/>
              <a:t>lệnh</a:t>
            </a:r>
            <a:r>
              <a:rPr lang="en-US" dirty="0" smtClean="0"/>
              <a:t> </a:t>
            </a:r>
            <a:r>
              <a:rPr lang="en-US" dirty="0" err="1" smtClean="0"/>
              <a:t>tiếp</a:t>
            </a:r>
            <a:r>
              <a:rPr lang="en-US" dirty="0" smtClean="0"/>
              <a:t> </a:t>
            </a:r>
            <a:r>
              <a:rPr lang="en-US" dirty="0" err="1" smtClean="0"/>
              <a:t>theo</a:t>
            </a:r>
            <a:r>
              <a:rPr lang="en-US" dirty="0" smtClean="0"/>
              <a:t> </a:t>
            </a:r>
            <a:r>
              <a:rPr lang="en-US" dirty="0" err="1" smtClean="0"/>
              <a:t>trong</a:t>
            </a:r>
            <a:r>
              <a:rPr lang="en-US" dirty="0" smtClean="0"/>
              <a:t>  $</a:t>
            </a:r>
            <a:r>
              <a:rPr lang="en-US" dirty="0" err="1" smtClean="0"/>
              <a:t>ra</a:t>
            </a:r>
            <a:endParaRPr lang="en-US" dirty="0" smtClean="0"/>
          </a:p>
          <a:p>
            <a:pPr marL="914400" lvl="1" indent="-457200" algn="l">
              <a:buFont typeface="Wingdings" pitchFamily="2" charset="2"/>
              <a:buChar char="§"/>
            </a:pPr>
            <a:r>
              <a:rPr lang="en-US" dirty="0" err="1" smtClean="0"/>
              <a:t>Nhảy</a:t>
            </a:r>
            <a:r>
              <a:rPr lang="en-US" dirty="0" smtClean="0"/>
              <a:t> </a:t>
            </a:r>
            <a:r>
              <a:rPr lang="en-US" dirty="0" err="1" smtClean="0"/>
              <a:t>đến</a:t>
            </a:r>
            <a:r>
              <a:rPr lang="en-US" dirty="0" smtClean="0"/>
              <a:t> </a:t>
            </a:r>
            <a:r>
              <a:rPr lang="en-US" dirty="0" err="1" smtClean="0"/>
              <a:t>địa</a:t>
            </a:r>
            <a:r>
              <a:rPr lang="en-US" dirty="0" smtClean="0"/>
              <a:t> </a:t>
            </a:r>
            <a:r>
              <a:rPr lang="en-US" dirty="0" err="1" smtClean="0"/>
              <a:t>chỉ</a:t>
            </a:r>
            <a:r>
              <a:rPr lang="en-US" dirty="0" smtClean="0"/>
              <a:t> </a:t>
            </a:r>
            <a:r>
              <a:rPr lang="en-US" dirty="0" err="1" smtClean="0"/>
              <a:t>addr</a:t>
            </a:r>
            <a:endParaRPr lang="en-US" dirty="0" smtClean="0"/>
          </a:p>
          <a:p>
            <a:pPr marL="457200" indent="-457200" algn="l">
              <a:buFont typeface="Wingdings" pitchFamily="2" charset="2"/>
              <a:buChar char="§"/>
            </a:pPr>
            <a:r>
              <a:rPr lang="en-US" dirty="0" err="1"/>
              <a:t>j</a:t>
            </a:r>
            <a:r>
              <a:rPr lang="en-US" dirty="0" err="1" smtClean="0"/>
              <a:t>r</a:t>
            </a:r>
            <a:r>
              <a:rPr lang="en-US" dirty="0" smtClean="0"/>
              <a:t>  $</a:t>
            </a:r>
            <a:r>
              <a:rPr lang="en-US" dirty="0" err="1" smtClean="0"/>
              <a:t>ra</a:t>
            </a:r>
            <a:endParaRPr lang="en-US" dirty="0" smtClean="0"/>
          </a:p>
          <a:p>
            <a:pPr marL="914400" lvl="1" indent="-457200" algn="l">
              <a:buFont typeface="Wingdings" pitchFamily="2" charset="2"/>
              <a:buChar char="§"/>
            </a:pPr>
            <a:r>
              <a:rPr lang="en-US" dirty="0" err="1" smtClean="0"/>
              <a:t>Chuyển</a:t>
            </a:r>
            <a:r>
              <a:rPr lang="en-US" dirty="0" smtClean="0"/>
              <a:t> </a:t>
            </a:r>
            <a:r>
              <a:rPr lang="en-US" dirty="0" err="1" smtClean="0"/>
              <a:t>thực</a:t>
            </a:r>
            <a:r>
              <a:rPr lang="en-US" dirty="0"/>
              <a:t> </a:t>
            </a:r>
            <a:r>
              <a:rPr lang="en-US" dirty="0" err="1" smtClean="0"/>
              <a:t>thi</a:t>
            </a:r>
            <a:r>
              <a:rPr lang="en-US" dirty="0" smtClean="0"/>
              <a:t> </a:t>
            </a:r>
            <a:r>
              <a:rPr lang="en-US" dirty="0" err="1" smtClean="0"/>
              <a:t>đến</a:t>
            </a:r>
            <a:r>
              <a:rPr lang="en-US" dirty="0" smtClean="0"/>
              <a:t> </a:t>
            </a:r>
            <a:r>
              <a:rPr lang="en-US" dirty="0" err="1" smtClean="0"/>
              <a:t>địa</a:t>
            </a:r>
            <a:r>
              <a:rPr lang="en-US" dirty="0" smtClean="0"/>
              <a:t> </a:t>
            </a:r>
            <a:r>
              <a:rPr lang="en-US" dirty="0" err="1" smtClean="0"/>
              <a:t>chỉ</a:t>
            </a:r>
            <a:r>
              <a:rPr lang="en-US" dirty="0" smtClean="0"/>
              <a:t> </a:t>
            </a:r>
            <a:r>
              <a:rPr lang="en-US" dirty="0" err="1" smtClean="0"/>
              <a:t>chứa</a:t>
            </a:r>
            <a:r>
              <a:rPr lang="en-US" dirty="0" smtClean="0"/>
              <a:t> </a:t>
            </a:r>
            <a:r>
              <a:rPr lang="en-US" dirty="0" err="1" smtClean="0"/>
              <a:t>trong$ra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902128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8145" y="304800"/>
            <a:ext cx="7772400" cy="1470025"/>
          </a:xfrm>
        </p:spPr>
        <p:txBody>
          <a:bodyPr/>
          <a:lstStyle/>
          <a:p>
            <a:r>
              <a:rPr lang="en-US" dirty="0" err="1" smtClean="0"/>
              <a:t>Thủ</a:t>
            </a:r>
            <a:r>
              <a:rPr lang="en-US" dirty="0" smtClean="0"/>
              <a:t> </a:t>
            </a:r>
            <a:r>
              <a:rPr lang="en-US" dirty="0" err="1" smtClean="0"/>
              <a:t>tục</a:t>
            </a:r>
            <a:r>
              <a:rPr lang="en-US" dirty="0" smtClean="0"/>
              <a:t> (procedures)</a:t>
            </a:r>
            <a:endParaRPr lang="en-US" dirty="0"/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762000" y="2057400"/>
            <a:ext cx="7772400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Arial" pitchFamily="34" charset="0"/>
              </a:rPr>
              <a:t># in </a:t>
            </a:r>
            <a:r>
              <a:rPr kumimoji="0" 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Arial" pitchFamily="34" charset="0"/>
              </a:rPr>
              <a:t>số</a:t>
            </a:r>
            <a:r>
              <a:rPr kumimoji="0" lang="en-US" sz="2000" b="1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Arial" pitchFamily="34" charset="0"/>
              </a:rPr>
              <a:t> </a:t>
            </a:r>
            <a:r>
              <a:rPr kumimoji="0" lang="en-US" sz="2000" b="1" i="0" u="none" strike="noStrike" cap="none" normalizeH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Arial" pitchFamily="34" charset="0"/>
              </a:rPr>
              <a:t>nguyên</a:t>
            </a:r>
            <a:r>
              <a:rPr kumimoji="0" lang="en-US" sz="2000" b="1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Arial" pitchFamily="34" charset="0"/>
              </a:rPr>
              <a:t> </a:t>
            </a:r>
            <a:r>
              <a:rPr lang="en-US" sz="2000" b="1" dirty="0" err="1" smtClean="0">
                <a:latin typeface="Courier New" pitchFamily="49" charset="0"/>
                <a:cs typeface="Arial" pitchFamily="34" charset="0"/>
              </a:rPr>
              <a:t>chứa</a:t>
            </a:r>
            <a:r>
              <a:rPr lang="en-US" sz="2000" b="1" dirty="0" smtClean="0">
                <a:latin typeface="Courier New" pitchFamily="49" charset="0"/>
                <a:cs typeface="Arial" pitchFamily="34" charset="0"/>
              </a:rPr>
              <a:t> </a:t>
            </a:r>
            <a:r>
              <a:rPr lang="en-US" sz="2000" b="1" dirty="0" err="1" smtClean="0">
                <a:latin typeface="Courier New" pitchFamily="49" charset="0"/>
                <a:cs typeface="Arial" pitchFamily="34" charset="0"/>
              </a:rPr>
              <a:t>trong</a:t>
            </a:r>
            <a:r>
              <a:rPr lang="en-US" sz="2000" b="1" dirty="0" smtClean="0">
                <a:latin typeface="Courier New" pitchFamily="49" charset="0"/>
                <a:cs typeface="Arial" pitchFamily="34" charset="0"/>
              </a:rPr>
              <a:t> 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Arial" pitchFamily="34" charset="0"/>
              </a:rPr>
              <a:t>$a0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Arial" pitchFamily="34" charset="0"/>
              </a:rPr>
              <a:t>print_int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Arial" pitchFamily="34" charset="0"/>
              </a:rPr>
              <a:t>: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Arial" pitchFamily="34" charset="0"/>
              </a:rPr>
              <a:t>	li $v0, 1        	# system call to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Arial" pitchFamily="34" charset="0"/>
              </a:rPr>
              <a:t>	</a:t>
            </a:r>
            <a:r>
              <a:rPr kumimoji="0" 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Arial" pitchFamily="34" charset="0"/>
              </a:rPr>
              <a:t>syscall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Arial" pitchFamily="34" charset="0"/>
              </a:rPr>
              <a:t>          	# print integer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Arial" pitchFamily="34" charset="0"/>
              </a:rPr>
              <a:t>	</a:t>
            </a:r>
            <a:r>
              <a:rPr kumimoji="0" 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Arial" pitchFamily="34" charset="0"/>
              </a:rPr>
              <a:t>jr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Arial" pitchFamily="34" charset="0"/>
              </a:rPr>
              <a:t> $</a:t>
            </a:r>
            <a:r>
              <a:rPr kumimoji="0" 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Arial" pitchFamily="34" charset="0"/>
              </a:rPr>
              <a:t>ra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Arial" pitchFamily="34" charset="0"/>
              </a:rPr>
              <a:t>           	# return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urier New" pitchFamily="49" charset="0"/>
              <a:cs typeface="Arial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Arial" pitchFamily="34" charset="0"/>
              </a:rPr>
              <a:t>main: . . .	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Arial" pitchFamily="34" charset="0"/>
              </a:rPr>
              <a:t>	li $a0, 10		# we want to print 10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Arial" pitchFamily="34" charset="0"/>
              </a:rPr>
              <a:t>	</a:t>
            </a:r>
            <a:r>
              <a:rPr kumimoji="0" 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Arial" pitchFamily="34" charset="0"/>
              </a:rPr>
              <a:t>jal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Arial" pitchFamily="34" charset="0"/>
              </a:rPr>
              <a:t> </a:t>
            </a:r>
            <a:r>
              <a:rPr kumimoji="0" 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Arial" pitchFamily="34" charset="0"/>
              </a:rPr>
              <a:t>print_int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Arial" pitchFamily="34" charset="0"/>
              </a:rPr>
              <a:t>   	# print integer in $a0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Arial" pitchFamily="34" charset="0"/>
              </a:rPr>
              <a:t> </a:t>
            </a: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445997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8145" y="304800"/>
            <a:ext cx="7772400" cy="1470025"/>
          </a:xfrm>
        </p:spPr>
        <p:txBody>
          <a:bodyPr/>
          <a:lstStyle/>
          <a:p>
            <a:r>
              <a:rPr lang="en-US" dirty="0" err="1" smtClean="0"/>
              <a:t>Thủ</a:t>
            </a:r>
            <a:r>
              <a:rPr lang="en-US" dirty="0" smtClean="0"/>
              <a:t> </a:t>
            </a:r>
            <a:r>
              <a:rPr lang="en-US" dirty="0" err="1" smtClean="0"/>
              <a:t>tục</a:t>
            </a:r>
            <a:r>
              <a:rPr lang="en-US" dirty="0" smtClean="0"/>
              <a:t> (procedures)</a:t>
            </a:r>
            <a:endParaRPr lang="en-US" dirty="0"/>
          </a:p>
        </p:txBody>
      </p:sp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685800" y="1828800"/>
            <a:ext cx="7772400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Arial" pitchFamily="34" charset="0"/>
              </a:rPr>
              <a:t>	.data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Arial" pitchFamily="34" charset="0"/>
              </a:rPr>
              <a:t>linebrk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Arial" pitchFamily="34" charset="0"/>
              </a:rPr>
              <a:t>: .</a:t>
            </a:r>
            <a:r>
              <a:rPr kumimoji="0" 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Arial" pitchFamily="34" charset="0"/>
              </a:rPr>
              <a:t>asciiz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Arial" pitchFamily="34" charset="0"/>
              </a:rPr>
              <a:t> “\n”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Arial" pitchFamily="34" charset="0"/>
              </a:rPr>
              <a:t>	.text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Arial" pitchFamily="34" charset="0"/>
              </a:rPr>
              <a:t>print_eol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Arial" pitchFamily="34" charset="0"/>
              </a:rPr>
              <a:t>:                      # prints "\n"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Arial" pitchFamily="34" charset="0"/>
              </a:rPr>
              <a:t>  	li $v0, 4              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Arial" pitchFamily="34" charset="0"/>
              </a:rPr>
              <a:t> 	la $a0, </a:t>
            </a:r>
            <a:r>
              <a:rPr kumimoji="0" 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Arial" pitchFamily="34" charset="0"/>
              </a:rPr>
              <a:t>linebrk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Arial" pitchFamily="34" charset="0"/>
              </a:rPr>
              <a:t>        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Arial" pitchFamily="34" charset="0"/>
              </a:rPr>
              <a:t>	</a:t>
            </a:r>
            <a:r>
              <a:rPr kumimoji="0" 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Arial" pitchFamily="34" charset="0"/>
              </a:rPr>
              <a:t>syscall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Arial" pitchFamily="34" charset="0"/>
              </a:rPr>
              <a:t>                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Arial" pitchFamily="34" charset="0"/>
              </a:rPr>
              <a:t>	</a:t>
            </a:r>
            <a:r>
              <a:rPr kumimoji="0" 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Arial" pitchFamily="34" charset="0"/>
              </a:rPr>
              <a:t>jr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Arial" pitchFamily="34" charset="0"/>
              </a:rPr>
              <a:t> $</a:t>
            </a:r>
            <a:r>
              <a:rPr kumimoji="0" 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Arial" pitchFamily="34" charset="0"/>
              </a:rPr>
              <a:t>ra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Arial" pitchFamily="34" charset="0"/>
              </a:rPr>
              <a:t>                  # return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Arial" pitchFamily="34" charset="0"/>
              </a:rPr>
              <a:t>main: . . .	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Arial" pitchFamily="34" charset="0"/>
              </a:rPr>
              <a:t>	</a:t>
            </a:r>
            <a:r>
              <a:rPr kumimoji="0" 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Arial" pitchFamily="34" charset="0"/>
              </a:rPr>
              <a:t>jal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Arial" pitchFamily="34" charset="0"/>
              </a:rPr>
              <a:t> </a:t>
            </a:r>
            <a:r>
              <a:rPr kumimoji="0" 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Arial" pitchFamily="34" charset="0"/>
              </a:rPr>
              <a:t>print_eol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Arial" pitchFamily="34" charset="0"/>
              </a:rPr>
              <a:t>   	# </a:t>
            </a:r>
            <a:r>
              <a:rPr kumimoji="0" 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Arial" pitchFamily="34" charset="0"/>
              </a:rPr>
              <a:t>printf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Arial" pitchFamily="34" charset="0"/>
              </a:rPr>
              <a:t>(“\n”)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Arial" pitchFamily="34" charset="0"/>
              </a:rPr>
              <a:t> </a:t>
            </a: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963955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8145" y="304800"/>
            <a:ext cx="7772400" cy="1470025"/>
          </a:xfrm>
        </p:spPr>
        <p:txBody>
          <a:bodyPr/>
          <a:lstStyle/>
          <a:p>
            <a:r>
              <a:rPr lang="en-US" dirty="0" err="1" smtClean="0"/>
              <a:t>Thủ</a:t>
            </a:r>
            <a:r>
              <a:rPr lang="en-US" dirty="0" smtClean="0"/>
              <a:t> </a:t>
            </a:r>
            <a:r>
              <a:rPr lang="en-US" dirty="0" err="1" smtClean="0"/>
              <a:t>tục</a:t>
            </a:r>
            <a:r>
              <a:rPr lang="en-US" dirty="0" smtClean="0"/>
              <a:t> (procedures)</a:t>
            </a:r>
            <a:endParaRPr lang="en-US" dirty="0"/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685800" y="1828800"/>
            <a:ext cx="7772400" cy="405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Arial" pitchFamily="34" charset="0"/>
              </a:rPr>
              <a:t>	.data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Arial" pitchFamily="34" charset="0"/>
              </a:rPr>
              <a:t>main: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Arial" pitchFamily="34" charset="0"/>
              </a:rPr>
              <a:t>        li $s0, 1               # $s0 = loop ctr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Arial" pitchFamily="34" charset="0"/>
              </a:rPr>
              <a:t>        li $s1, 10              # $s1 = upperbnd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Arial" pitchFamily="34" charset="0"/>
              </a:rPr>
              <a:t>loop:   move $a0, $s0           # print loop ctr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Arial" pitchFamily="34" charset="0"/>
              </a:rPr>
              <a:t>        jal print_int           #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Arial" pitchFamily="34" charset="0"/>
              </a:rPr>
              <a:t>        jal print_eol           # print "\n"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Arial" pitchFamily="34" charset="0"/>
              </a:rPr>
              <a:t>        addi $s0, $s0, 1        # loop ctr +1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Arial" pitchFamily="34" charset="0"/>
              </a:rPr>
              <a:t>        ble $s0, $s1, loop      # unless $s0&gt;$s1…</a:t>
            </a: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889342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228600" y="6927"/>
            <a:ext cx="9753600" cy="1470025"/>
          </a:xfrm>
        </p:spPr>
        <p:txBody>
          <a:bodyPr/>
          <a:lstStyle/>
          <a:p>
            <a:pPr lvl="0"/>
            <a:r>
              <a:rPr lang="en-US" b="1" dirty="0"/>
              <a:t>GIAO TIẾP VỚI CÁC THIẾT BỊ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" y="1371600"/>
            <a:ext cx="8991600" cy="5410200"/>
          </a:xfrm>
        </p:spPr>
        <p:txBody>
          <a:bodyPr>
            <a:normAutofit/>
          </a:bodyPr>
          <a:lstStyle/>
          <a:p>
            <a:pPr algn="l"/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bị</a:t>
            </a:r>
            <a:r>
              <a:rPr lang="en-US" dirty="0"/>
              <a:t> </a:t>
            </a:r>
            <a:r>
              <a:rPr lang="en-US" dirty="0" err="1"/>
              <a:t>xuất</a:t>
            </a:r>
            <a:r>
              <a:rPr lang="en-US" dirty="0"/>
              <a:t> </a:t>
            </a:r>
            <a:r>
              <a:rPr lang="en-US" dirty="0" err="1"/>
              <a:t>nhập</a:t>
            </a:r>
            <a:r>
              <a:rPr lang="en-US" dirty="0"/>
              <a:t> (I/O device) </a:t>
            </a:r>
            <a:r>
              <a:rPr lang="en-US" dirty="0" err="1"/>
              <a:t>giao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CPU </a:t>
            </a:r>
            <a:r>
              <a:rPr lang="en-US" dirty="0" err="1"/>
              <a:t>thông</a:t>
            </a:r>
            <a:r>
              <a:rPr lang="en-US" dirty="0"/>
              <a:t> qua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thanh</a:t>
            </a:r>
            <a:r>
              <a:rPr lang="en-US" dirty="0"/>
              <a:t> </a:t>
            </a:r>
            <a:r>
              <a:rPr lang="en-US" dirty="0" err="1"/>
              <a:t>ghi</a:t>
            </a:r>
            <a:r>
              <a:rPr lang="en-US" dirty="0"/>
              <a:t> </a:t>
            </a:r>
            <a:r>
              <a:rPr lang="en-US" dirty="0" err="1"/>
              <a:t>xuất</a:t>
            </a:r>
            <a:r>
              <a:rPr lang="en-US" dirty="0"/>
              <a:t> </a:t>
            </a:r>
            <a:r>
              <a:rPr lang="en-US" dirty="0" err="1"/>
              <a:t>nhập</a:t>
            </a:r>
            <a:r>
              <a:rPr lang="en-US" dirty="0"/>
              <a:t> (I/O register),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ba</a:t>
            </a:r>
            <a:r>
              <a:rPr lang="en-US" dirty="0"/>
              <a:t> </a:t>
            </a:r>
            <a:r>
              <a:rPr lang="en-US" dirty="0" err="1"/>
              <a:t>loại</a:t>
            </a:r>
            <a:r>
              <a:rPr lang="en-US" dirty="0" smtClean="0"/>
              <a:t>:</a:t>
            </a:r>
          </a:p>
          <a:p>
            <a:pPr marL="457200" indent="-457200" algn="l">
              <a:buFont typeface="Arial" pitchFamily="34" charset="0"/>
              <a:buChar char="•"/>
            </a:pPr>
            <a:r>
              <a:rPr lang="vi-VN" dirty="0" smtClean="0"/>
              <a:t>Thanh </a:t>
            </a:r>
            <a:r>
              <a:rPr lang="vi-VN" dirty="0"/>
              <a:t>ghi trạng thái (Status </a:t>
            </a:r>
            <a:r>
              <a:rPr lang="vi-VN" dirty="0" smtClean="0"/>
              <a:t>register</a:t>
            </a:r>
            <a:endParaRPr lang="en-US" dirty="0" smtClean="0"/>
          </a:p>
          <a:p>
            <a:pPr marL="457200" indent="-457200" algn="l">
              <a:buFont typeface="Arial" pitchFamily="34" charset="0"/>
              <a:buChar char="•"/>
            </a:pPr>
            <a:r>
              <a:rPr lang="vi-VN" dirty="0" smtClean="0"/>
              <a:t>Thanh </a:t>
            </a:r>
            <a:r>
              <a:rPr lang="vi-VN" dirty="0"/>
              <a:t>ghi điều khiển (Control </a:t>
            </a:r>
            <a:r>
              <a:rPr lang="vi-VN" dirty="0" smtClean="0"/>
              <a:t>register</a:t>
            </a:r>
            <a:r>
              <a:rPr lang="en-US" dirty="0" smtClean="0"/>
              <a:t>)</a:t>
            </a:r>
          </a:p>
          <a:p>
            <a:pPr marL="457200" indent="-457200" algn="l">
              <a:buFont typeface="Arial" pitchFamily="34" charset="0"/>
              <a:buChar char="•"/>
            </a:pPr>
            <a:r>
              <a:rPr lang="vi-VN" dirty="0" smtClean="0"/>
              <a:t>Thanh </a:t>
            </a:r>
            <a:r>
              <a:rPr lang="vi-VN" dirty="0"/>
              <a:t>ghi dữ liệu (Data </a:t>
            </a:r>
            <a:r>
              <a:rPr lang="vi-VN" dirty="0" smtClean="0"/>
              <a:t>register</a:t>
            </a:r>
            <a:r>
              <a:rPr lang="en-US" dirty="0" smtClean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552358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228600" y="6927"/>
            <a:ext cx="9753600" cy="1470025"/>
          </a:xfrm>
        </p:spPr>
        <p:txBody>
          <a:bodyPr/>
          <a:lstStyle/>
          <a:p>
            <a:pPr lvl="0"/>
            <a:r>
              <a:rPr lang="en-US" b="1" dirty="0"/>
              <a:t>GIAO TIẾP VỚI CÁC THIẾT BỊ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" y="1371600"/>
            <a:ext cx="8991600" cy="5410200"/>
          </a:xfrm>
        </p:spPr>
        <p:txBody>
          <a:bodyPr>
            <a:normAutofit/>
          </a:bodyPr>
          <a:lstStyle/>
          <a:p>
            <a:pPr algn="l"/>
            <a:endParaRPr lang="en-US" dirty="0"/>
          </a:p>
        </p:txBody>
      </p:sp>
      <p:pic>
        <p:nvPicPr>
          <p:cNvPr id="4" name="Picture 3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94" t="35070" r="50301" b="50501"/>
          <a:stretch/>
        </p:blipFill>
        <p:spPr bwMode="auto">
          <a:xfrm>
            <a:off x="1345168" y="1524000"/>
            <a:ext cx="6639242" cy="199072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Picture 4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15" t="35471" r="69218" b="42685"/>
          <a:stretch/>
        </p:blipFill>
        <p:spPr bwMode="auto">
          <a:xfrm>
            <a:off x="1600200" y="4038600"/>
            <a:ext cx="5824379" cy="18288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23066052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228600" y="6927"/>
            <a:ext cx="9753600" cy="1470025"/>
          </a:xfrm>
        </p:spPr>
        <p:txBody>
          <a:bodyPr/>
          <a:lstStyle/>
          <a:p>
            <a:pPr lvl="0"/>
            <a:r>
              <a:rPr lang="en-US" dirty="0" err="1"/>
              <a:t>Giao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khiển</a:t>
            </a:r>
            <a:r>
              <a:rPr lang="en-US" dirty="0"/>
              <a:t> </a:t>
            </a:r>
            <a:r>
              <a:rPr lang="en-US" dirty="0" err="1"/>
              <a:t>bàn</a:t>
            </a:r>
            <a:r>
              <a:rPr lang="en-US" dirty="0"/>
              <a:t> </a:t>
            </a:r>
            <a:r>
              <a:rPr lang="en-US" dirty="0" err="1"/>
              <a:t>phím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" y="1371600"/>
            <a:ext cx="8991600" cy="5410200"/>
          </a:xfrm>
        </p:spPr>
        <p:txBody>
          <a:bodyPr>
            <a:normAutofit/>
          </a:bodyPr>
          <a:lstStyle/>
          <a:p>
            <a:pPr algn="l"/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khiển</a:t>
            </a:r>
            <a:r>
              <a:rPr lang="en-US" dirty="0"/>
              <a:t> </a:t>
            </a:r>
            <a:r>
              <a:rPr lang="en-US" dirty="0" err="1"/>
              <a:t>bàn</a:t>
            </a:r>
            <a:r>
              <a:rPr lang="en-US" dirty="0"/>
              <a:t> </a:t>
            </a:r>
            <a:r>
              <a:rPr lang="en-US" dirty="0" err="1"/>
              <a:t>phím</a:t>
            </a:r>
            <a:r>
              <a:rPr lang="en-US" dirty="0"/>
              <a:t> </a:t>
            </a:r>
            <a:r>
              <a:rPr lang="en-US" dirty="0" err="1"/>
              <a:t>chứa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thanh</a:t>
            </a:r>
            <a:r>
              <a:rPr lang="en-US" dirty="0"/>
              <a:t> </a:t>
            </a:r>
            <a:r>
              <a:rPr lang="en-US" dirty="0" err="1"/>
              <a:t>ghi</a:t>
            </a:r>
            <a:r>
              <a:rPr lang="en-US" dirty="0" smtClean="0"/>
              <a:t>:</a:t>
            </a:r>
          </a:p>
          <a:p>
            <a:pPr marL="457200" indent="-457200" algn="l">
              <a:buFont typeface="Arial" pitchFamily="34" charset="0"/>
              <a:buChar char="•"/>
            </a:pPr>
            <a:r>
              <a:rPr lang="en-US" dirty="0" err="1"/>
              <a:t>Thanh</a:t>
            </a:r>
            <a:r>
              <a:rPr lang="en-US" dirty="0"/>
              <a:t> </a:t>
            </a:r>
            <a:r>
              <a:rPr lang="en-US" dirty="0" err="1"/>
              <a:t>ghi</a:t>
            </a:r>
            <a:r>
              <a:rPr lang="en-US" dirty="0"/>
              <a:t> </a:t>
            </a:r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(</a:t>
            </a:r>
            <a:r>
              <a:rPr lang="en-US" i="1" dirty="0"/>
              <a:t>receiver data register</a:t>
            </a:r>
            <a:r>
              <a:rPr lang="en-US" i="1" dirty="0" smtClean="0"/>
              <a:t>)</a:t>
            </a:r>
          </a:p>
          <a:p>
            <a:pPr marL="457200" indent="-457200" algn="l">
              <a:buFont typeface="Arial" pitchFamily="34" charset="0"/>
              <a:buChar char="•"/>
            </a:pPr>
            <a:r>
              <a:rPr lang="en-US" dirty="0"/>
              <a:t>CONS_RECEIVER_DATA              =   0xffff0004</a:t>
            </a:r>
            <a:endParaRPr lang="en-US" i="1" dirty="0" smtClean="0"/>
          </a:p>
          <a:p>
            <a:pPr marL="457200" indent="-457200" algn="l">
              <a:buFont typeface="Arial" pitchFamily="34" charset="0"/>
              <a:buChar char="•"/>
            </a:pPr>
            <a:endParaRPr lang="en-US" i="1" dirty="0"/>
          </a:p>
          <a:p>
            <a:pPr marL="457200" indent="-457200" algn="l">
              <a:buFont typeface="Arial" pitchFamily="34" charset="0"/>
              <a:buChar char="•"/>
            </a:pPr>
            <a:endParaRPr lang="en-US" i="1" dirty="0" smtClean="0"/>
          </a:p>
          <a:p>
            <a:pPr marL="457200" indent="-457200" algn="l">
              <a:buFont typeface="Arial" pitchFamily="34" charset="0"/>
              <a:buChar char="•"/>
            </a:pPr>
            <a:r>
              <a:rPr lang="en-US" dirty="0" err="1" smtClean="0"/>
              <a:t>Thanh</a:t>
            </a:r>
            <a:r>
              <a:rPr lang="en-US" dirty="0" smtClean="0"/>
              <a:t> </a:t>
            </a:r>
            <a:r>
              <a:rPr lang="en-US" dirty="0" err="1"/>
              <a:t>ghi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 smtClean="0"/>
              <a:t>khiển</a:t>
            </a:r>
            <a:r>
              <a:rPr lang="en-US" dirty="0" smtClean="0"/>
              <a:t> </a:t>
            </a:r>
            <a:r>
              <a:rPr lang="en-US" dirty="0"/>
              <a:t>(</a:t>
            </a:r>
            <a:r>
              <a:rPr lang="en-US" i="1" dirty="0"/>
              <a:t>receiver control register</a:t>
            </a:r>
            <a:r>
              <a:rPr lang="en-US" i="1" dirty="0" smtClean="0"/>
              <a:t>) </a:t>
            </a:r>
            <a:r>
              <a:rPr lang="en-US" i="1" dirty="0" err="1"/>
              <a:t>có</a:t>
            </a:r>
            <a:r>
              <a:rPr lang="en-US" i="1" dirty="0"/>
              <a:t> </a:t>
            </a:r>
            <a:r>
              <a:rPr lang="en-US" i="1" dirty="0" err="1"/>
              <a:t>độ</a:t>
            </a:r>
            <a:r>
              <a:rPr lang="en-US" i="1" dirty="0"/>
              <a:t> </a:t>
            </a:r>
            <a:r>
              <a:rPr lang="en-US" i="1" dirty="0" err="1"/>
              <a:t>dài</a:t>
            </a:r>
            <a:r>
              <a:rPr lang="en-US" i="1" dirty="0"/>
              <a:t> 32 bit được </a:t>
            </a:r>
            <a:r>
              <a:rPr lang="en-US" i="1" dirty="0" err="1"/>
              <a:t>định</a:t>
            </a:r>
            <a:r>
              <a:rPr lang="en-US" i="1" dirty="0"/>
              <a:t> </a:t>
            </a:r>
            <a:r>
              <a:rPr lang="en-US" i="1" dirty="0" err="1"/>
              <a:t>vị</a:t>
            </a:r>
            <a:r>
              <a:rPr lang="en-US" i="1" dirty="0"/>
              <a:t> </a:t>
            </a:r>
            <a:r>
              <a:rPr lang="en-US" i="1" dirty="0" err="1"/>
              <a:t>tại</a:t>
            </a:r>
            <a:r>
              <a:rPr lang="en-US" i="1" dirty="0"/>
              <a:t> </a:t>
            </a:r>
            <a:r>
              <a:rPr lang="en-US" i="1" dirty="0" err="1"/>
              <a:t>địa</a:t>
            </a:r>
            <a:r>
              <a:rPr lang="en-US" i="1" dirty="0"/>
              <a:t> </a:t>
            </a:r>
            <a:r>
              <a:rPr lang="en-US" i="1" dirty="0" err="1"/>
              <a:t>chỉ</a:t>
            </a:r>
            <a:r>
              <a:rPr lang="en-US" i="1" dirty="0"/>
              <a:t> 0xffff0000</a:t>
            </a:r>
            <a:endParaRPr lang="en-US" dirty="0"/>
          </a:p>
        </p:txBody>
      </p:sp>
      <p:pic>
        <p:nvPicPr>
          <p:cNvPr id="6" name="Picture 5"/>
          <p:cNvPicPr/>
          <p:nvPr/>
        </p:nvPicPr>
        <p:blipFill rotWithShape="1">
          <a:blip r:embed="rId2"/>
          <a:srcRect l="6253" t="36272" r="71784" b="54710"/>
          <a:stretch/>
        </p:blipFill>
        <p:spPr bwMode="auto">
          <a:xfrm>
            <a:off x="2098963" y="3136986"/>
            <a:ext cx="4086225" cy="134175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7" name="Picture 6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75" t="47695" r="71784" b="44289"/>
          <a:stretch/>
        </p:blipFill>
        <p:spPr bwMode="auto">
          <a:xfrm>
            <a:off x="2333625" y="5638800"/>
            <a:ext cx="4476750" cy="101917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70265490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228600" y="6927"/>
            <a:ext cx="9753600" cy="1470025"/>
          </a:xfrm>
        </p:spPr>
        <p:txBody>
          <a:bodyPr/>
          <a:lstStyle/>
          <a:p>
            <a:pPr lvl="0"/>
            <a:r>
              <a:rPr lang="en-US" dirty="0" err="1"/>
              <a:t>Giao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khiển</a:t>
            </a:r>
            <a:r>
              <a:rPr lang="en-US" dirty="0"/>
              <a:t> </a:t>
            </a:r>
            <a:r>
              <a:rPr lang="en-US" dirty="0" err="1"/>
              <a:t>bàn</a:t>
            </a:r>
            <a:r>
              <a:rPr lang="en-US" dirty="0"/>
              <a:t> </a:t>
            </a:r>
            <a:r>
              <a:rPr lang="en-US" dirty="0" err="1"/>
              <a:t>phím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" y="1371600"/>
            <a:ext cx="8991600" cy="5410200"/>
          </a:xfrm>
        </p:spPr>
        <p:txBody>
          <a:bodyPr>
            <a:normAutofit/>
          </a:bodyPr>
          <a:lstStyle/>
          <a:p>
            <a:pPr algn="l"/>
            <a:r>
              <a:rPr lang="en-US" dirty="0" err="1" smtClean="0"/>
              <a:t>Chương</a:t>
            </a:r>
            <a:r>
              <a:rPr lang="en-US" dirty="0" smtClean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smtClean="0"/>
              <a:t>polling:</a:t>
            </a:r>
          </a:p>
          <a:p>
            <a:pPr algn="l"/>
            <a:r>
              <a:rPr lang="en-US" dirty="0"/>
              <a:t># </a:t>
            </a:r>
            <a:r>
              <a:rPr lang="en-US" dirty="0" err="1"/>
              <a:t>kí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</a:t>
            </a: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bàn</a:t>
            </a:r>
            <a:r>
              <a:rPr lang="en-US" dirty="0"/>
              <a:t> </a:t>
            </a:r>
            <a:r>
              <a:rPr lang="en-US" dirty="0" err="1"/>
              <a:t>phím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được </a:t>
            </a:r>
            <a:r>
              <a:rPr lang="en-US" dirty="0" err="1"/>
              <a:t>lưu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$v0</a:t>
            </a:r>
            <a:br>
              <a:rPr lang="en-US" dirty="0"/>
            </a:br>
            <a:r>
              <a:rPr lang="en-US" dirty="0"/>
              <a:t>		</a:t>
            </a:r>
            <a:r>
              <a:rPr lang="en-US" dirty="0" err="1"/>
              <a:t>lui</a:t>
            </a:r>
            <a:r>
              <a:rPr lang="en-US" dirty="0"/>
              <a:t>	$t0,0xffff	#ffff0000</a:t>
            </a:r>
            <a:br>
              <a:rPr lang="en-US" dirty="0"/>
            </a:br>
            <a:r>
              <a:rPr lang="en-US" dirty="0" err="1"/>
              <a:t>waitloop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		</a:t>
            </a:r>
            <a:r>
              <a:rPr lang="en-US" dirty="0" err="1"/>
              <a:t>lw</a:t>
            </a:r>
            <a:r>
              <a:rPr lang="en-US" dirty="0"/>
              <a:t>	$t1,0($t0)	#control</a:t>
            </a:r>
            <a:br>
              <a:rPr lang="en-US" dirty="0"/>
            </a:br>
            <a:r>
              <a:rPr lang="en-US" dirty="0"/>
              <a:t>		</a:t>
            </a:r>
            <a:r>
              <a:rPr lang="en-US" dirty="0" err="1"/>
              <a:t>andi</a:t>
            </a:r>
            <a:r>
              <a:rPr lang="en-US" dirty="0"/>
              <a:t>	$t1,$t1,0x0001</a:t>
            </a:r>
            <a:br>
              <a:rPr lang="en-US" dirty="0"/>
            </a:br>
            <a:r>
              <a:rPr lang="en-US" dirty="0"/>
              <a:t>		</a:t>
            </a:r>
            <a:r>
              <a:rPr lang="en-US" dirty="0" err="1"/>
              <a:t>beq</a:t>
            </a:r>
            <a:r>
              <a:rPr lang="en-US" dirty="0"/>
              <a:t>	$t1,$0,waitloop</a:t>
            </a:r>
            <a:br>
              <a:rPr lang="en-US" dirty="0"/>
            </a:br>
            <a:r>
              <a:rPr lang="en-US" dirty="0"/>
              <a:t>		</a:t>
            </a:r>
            <a:r>
              <a:rPr lang="en-US" dirty="0" err="1"/>
              <a:t>lw</a:t>
            </a:r>
            <a:r>
              <a:rPr lang="en-US" dirty="0"/>
              <a:t>	$v0,4($t0)	#data</a:t>
            </a:r>
          </a:p>
        </p:txBody>
      </p:sp>
    </p:spTree>
    <p:extLst>
      <p:ext uri="{BB962C8B-B14F-4D97-AF65-F5344CB8AC3E}">
        <p14:creationId xmlns:p14="http://schemas.microsoft.com/office/powerpoint/2010/main" val="95558569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228600" y="6927"/>
            <a:ext cx="9753600" cy="1470025"/>
          </a:xfrm>
        </p:spPr>
        <p:txBody>
          <a:bodyPr/>
          <a:lstStyle/>
          <a:p>
            <a:pPr lvl="0"/>
            <a:r>
              <a:rPr lang="en-US" dirty="0" err="1"/>
              <a:t>Giao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khiển</a:t>
            </a:r>
            <a:r>
              <a:rPr lang="en-US" dirty="0"/>
              <a:t> </a:t>
            </a:r>
            <a:r>
              <a:rPr lang="en-US" dirty="0" err="1"/>
              <a:t>màn</a:t>
            </a:r>
            <a:r>
              <a:rPr lang="en-US" dirty="0"/>
              <a:t> </a:t>
            </a:r>
            <a:r>
              <a:rPr lang="en-US" dirty="0" err="1"/>
              <a:t>hình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" y="1371600"/>
            <a:ext cx="8991600" cy="5410200"/>
          </a:xfrm>
        </p:spPr>
        <p:txBody>
          <a:bodyPr>
            <a:normAutofit/>
          </a:bodyPr>
          <a:lstStyle/>
          <a:p>
            <a:pPr algn="l"/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khiển</a:t>
            </a:r>
            <a:r>
              <a:rPr lang="en-US" dirty="0"/>
              <a:t> </a:t>
            </a:r>
            <a:r>
              <a:rPr lang="en-US" dirty="0" err="1"/>
              <a:t>màn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cũng</a:t>
            </a:r>
            <a:r>
              <a:rPr lang="en-US" dirty="0"/>
              <a:t> </a:t>
            </a:r>
            <a:r>
              <a:rPr lang="en-US" dirty="0" err="1"/>
              <a:t>hoạt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tương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</a:t>
            </a:r>
            <a:r>
              <a:rPr lang="en-US" dirty="0" err="1"/>
              <a:t>như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khiển</a:t>
            </a:r>
            <a:r>
              <a:rPr lang="en-US" dirty="0"/>
              <a:t> </a:t>
            </a:r>
            <a:r>
              <a:rPr lang="en-US" dirty="0" err="1"/>
              <a:t>bàn</a:t>
            </a:r>
            <a:r>
              <a:rPr lang="en-US" dirty="0"/>
              <a:t> </a:t>
            </a:r>
            <a:r>
              <a:rPr lang="en-US" dirty="0" err="1"/>
              <a:t>phím</a:t>
            </a:r>
            <a:r>
              <a:rPr lang="en-US" dirty="0"/>
              <a:t>,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thanh</a:t>
            </a:r>
            <a:r>
              <a:rPr lang="en-US" dirty="0"/>
              <a:t> </a:t>
            </a:r>
            <a:r>
              <a:rPr lang="en-US" dirty="0" err="1"/>
              <a:t>ghi</a:t>
            </a:r>
            <a:r>
              <a:rPr lang="en-US" dirty="0" smtClean="0"/>
              <a:t>:</a:t>
            </a:r>
          </a:p>
          <a:p>
            <a:pPr marL="457200" indent="-457200" algn="l">
              <a:buFont typeface="Arial" pitchFamily="34" charset="0"/>
              <a:buChar char="•"/>
            </a:pPr>
            <a:r>
              <a:rPr lang="en-US" dirty="0" err="1"/>
              <a:t>Thanh</a:t>
            </a:r>
            <a:r>
              <a:rPr lang="en-US" dirty="0"/>
              <a:t> </a:t>
            </a:r>
            <a:r>
              <a:rPr lang="en-US" dirty="0" err="1"/>
              <a:t>ghi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khiển</a:t>
            </a:r>
            <a:r>
              <a:rPr lang="en-US" dirty="0"/>
              <a:t> </a:t>
            </a:r>
            <a:r>
              <a:rPr lang="en-US" dirty="0" err="1"/>
              <a:t>truyền</a:t>
            </a:r>
            <a:r>
              <a:rPr lang="en-US" dirty="0"/>
              <a:t> (</a:t>
            </a:r>
            <a:r>
              <a:rPr lang="en-US" i="1" dirty="0"/>
              <a:t>transmitter control register</a:t>
            </a:r>
            <a:r>
              <a:rPr lang="en-US" dirty="0"/>
              <a:t>) được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vị</a:t>
            </a:r>
            <a:r>
              <a:rPr lang="en-US" dirty="0"/>
              <a:t> </a:t>
            </a:r>
            <a:r>
              <a:rPr lang="en-US" dirty="0" err="1"/>
              <a:t>tại</a:t>
            </a:r>
            <a:r>
              <a:rPr lang="en-US" dirty="0"/>
              <a:t> </a:t>
            </a:r>
            <a:r>
              <a:rPr lang="en-US" dirty="0" err="1"/>
              <a:t>địa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smtClean="0"/>
              <a:t>0xffff0008</a:t>
            </a:r>
          </a:p>
          <a:p>
            <a:pPr marL="457200" indent="-457200" algn="l">
              <a:buFont typeface="Arial" pitchFamily="34" charset="0"/>
              <a:buChar char="•"/>
            </a:pPr>
            <a:r>
              <a:rPr lang="en-US" dirty="0" err="1"/>
              <a:t>Thanh</a:t>
            </a:r>
            <a:r>
              <a:rPr lang="en-US" dirty="0"/>
              <a:t> </a:t>
            </a:r>
            <a:r>
              <a:rPr lang="en-US" dirty="0" err="1"/>
              <a:t>ghi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truyền</a:t>
            </a:r>
            <a:r>
              <a:rPr lang="en-US" dirty="0"/>
              <a:t> </a:t>
            </a:r>
            <a:r>
              <a:rPr lang="en-US" i="1" dirty="0"/>
              <a:t>(transmitter data register) </a:t>
            </a:r>
            <a:r>
              <a:rPr lang="en-US" dirty="0"/>
              <a:t>được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vị</a:t>
            </a:r>
            <a:r>
              <a:rPr lang="en-US" dirty="0"/>
              <a:t> </a:t>
            </a:r>
            <a:r>
              <a:rPr lang="en-US" dirty="0" err="1"/>
              <a:t>tại</a:t>
            </a:r>
            <a:r>
              <a:rPr lang="en-US" dirty="0"/>
              <a:t> </a:t>
            </a:r>
            <a:r>
              <a:rPr lang="en-US" dirty="0" err="1"/>
              <a:t>địa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0xffff000c</a:t>
            </a:r>
          </a:p>
        </p:txBody>
      </p:sp>
    </p:spTree>
    <p:extLst>
      <p:ext uri="{BB962C8B-B14F-4D97-AF65-F5344CB8AC3E}">
        <p14:creationId xmlns:p14="http://schemas.microsoft.com/office/powerpoint/2010/main" val="418119031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228600" y="6927"/>
            <a:ext cx="9753600" cy="1470025"/>
          </a:xfrm>
        </p:spPr>
        <p:txBody>
          <a:bodyPr/>
          <a:lstStyle/>
          <a:p>
            <a:pPr lvl="0"/>
            <a:r>
              <a:rPr lang="en-US" dirty="0" err="1"/>
              <a:t>Giao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khiển</a:t>
            </a:r>
            <a:r>
              <a:rPr lang="en-US" dirty="0"/>
              <a:t> </a:t>
            </a:r>
            <a:r>
              <a:rPr lang="en-US" dirty="0" err="1"/>
              <a:t>màn</a:t>
            </a:r>
            <a:r>
              <a:rPr lang="en-US" dirty="0"/>
              <a:t> </a:t>
            </a:r>
            <a:r>
              <a:rPr lang="en-US" dirty="0" err="1"/>
              <a:t>hình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" y="1371600"/>
            <a:ext cx="8991600" cy="5410200"/>
          </a:xfrm>
        </p:spPr>
        <p:txBody>
          <a:bodyPr>
            <a:normAutofit/>
          </a:bodyPr>
          <a:lstStyle/>
          <a:p>
            <a:pPr algn="l"/>
            <a:r>
              <a:rPr lang="vi-VN" dirty="0"/>
              <a:t>Chương trình polling thể hiện như sau:</a:t>
            </a:r>
          </a:p>
          <a:p>
            <a:pPr algn="l"/>
            <a:r>
              <a:rPr lang="vi-VN" dirty="0"/>
              <a:t># xuất kí tự trong thanh ghi $a0 ra màn hình</a:t>
            </a:r>
          </a:p>
          <a:p>
            <a:pPr algn="l"/>
            <a:r>
              <a:rPr lang="vi-VN" dirty="0"/>
              <a:t>		lui	$t0,0xffff	#ffff0000</a:t>
            </a:r>
          </a:p>
          <a:p>
            <a:pPr algn="l"/>
            <a:r>
              <a:rPr lang="vi-VN" dirty="0"/>
              <a:t>waitloop:</a:t>
            </a:r>
          </a:p>
          <a:p>
            <a:pPr algn="l"/>
            <a:r>
              <a:rPr lang="vi-VN" dirty="0"/>
              <a:t>		lw	$t1,8($t0)	#control</a:t>
            </a:r>
          </a:p>
          <a:p>
            <a:pPr algn="l"/>
            <a:r>
              <a:rPr lang="vi-VN" dirty="0"/>
              <a:t>		andi	$t1,$t1,0x0001</a:t>
            </a:r>
          </a:p>
          <a:p>
            <a:pPr algn="l"/>
            <a:r>
              <a:rPr lang="vi-VN" dirty="0"/>
              <a:t>		beq	$t1,$0,waitloop</a:t>
            </a:r>
          </a:p>
          <a:p>
            <a:pPr algn="l"/>
            <a:r>
              <a:rPr lang="vi-VN" dirty="0"/>
              <a:t>		sw	$a0,12($t0)	#data</a:t>
            </a:r>
          </a:p>
        </p:txBody>
      </p:sp>
    </p:spTree>
    <p:extLst>
      <p:ext uri="{BB962C8B-B14F-4D97-AF65-F5344CB8AC3E}">
        <p14:creationId xmlns:p14="http://schemas.microsoft.com/office/powerpoint/2010/main" val="21072159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228600" y="6927"/>
            <a:ext cx="9753600" cy="1470025"/>
          </a:xfrm>
        </p:spPr>
        <p:txBody>
          <a:bodyPr/>
          <a:lstStyle/>
          <a:p>
            <a:pPr lvl="0"/>
            <a:r>
              <a:rPr lang="en-US" dirty="0" err="1"/>
              <a:t>Hổ</a:t>
            </a:r>
            <a:r>
              <a:rPr lang="en-US" dirty="0"/>
              <a:t> </a:t>
            </a:r>
            <a:r>
              <a:rPr lang="en-US" dirty="0" err="1"/>
              <a:t>trợ</a:t>
            </a:r>
            <a:r>
              <a:rPr lang="en-US" dirty="0"/>
              <a:t> </a:t>
            </a:r>
            <a:r>
              <a:rPr lang="en-US" dirty="0" err="1"/>
              <a:t>lệnh</a:t>
            </a:r>
            <a:r>
              <a:rPr lang="en-US" dirty="0"/>
              <a:t> </a:t>
            </a:r>
            <a:r>
              <a:rPr lang="en-US" dirty="0" err="1"/>
              <a:t>gọi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(System call)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" y="1371600"/>
            <a:ext cx="8991600" cy="5410200"/>
          </a:xfrm>
        </p:spPr>
        <p:txBody>
          <a:bodyPr>
            <a:normAutofit/>
          </a:bodyPr>
          <a:lstStyle/>
          <a:p>
            <a:pPr algn="l"/>
            <a:endParaRPr lang="vi-VN" dirty="0"/>
          </a:p>
        </p:txBody>
      </p:sp>
      <p:pic>
        <p:nvPicPr>
          <p:cNvPr id="4" name="Picture 3"/>
          <p:cNvPicPr/>
          <p:nvPr/>
        </p:nvPicPr>
        <p:blipFill rotWithShape="1">
          <a:blip r:embed="rId2"/>
          <a:srcRect l="10736" t="26924" r="9295" b="17735"/>
          <a:stretch/>
        </p:blipFill>
        <p:spPr bwMode="auto">
          <a:xfrm>
            <a:off x="1184564" y="1676400"/>
            <a:ext cx="6777038" cy="45720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81546048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228600" y="6927"/>
            <a:ext cx="9753600" cy="1470025"/>
          </a:xfrm>
        </p:spPr>
        <p:txBody>
          <a:bodyPr/>
          <a:lstStyle/>
          <a:p>
            <a:pPr lvl="0"/>
            <a:r>
              <a:rPr lang="en-US" dirty="0" err="1"/>
              <a:t>Hổ</a:t>
            </a:r>
            <a:r>
              <a:rPr lang="en-US" dirty="0"/>
              <a:t> </a:t>
            </a:r>
            <a:r>
              <a:rPr lang="en-US" dirty="0" err="1"/>
              <a:t>trợ</a:t>
            </a:r>
            <a:r>
              <a:rPr lang="en-US" dirty="0"/>
              <a:t> </a:t>
            </a:r>
            <a:r>
              <a:rPr lang="en-US" dirty="0" err="1"/>
              <a:t>lệnh</a:t>
            </a:r>
            <a:r>
              <a:rPr lang="en-US" dirty="0"/>
              <a:t> </a:t>
            </a:r>
            <a:r>
              <a:rPr lang="en-US" dirty="0" err="1"/>
              <a:t>gọi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(System call)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" y="1371600"/>
            <a:ext cx="8991600" cy="5410200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vi-VN" dirty="0"/>
              <a:t>Ví dụ 1: in chuỗi ra màn hình</a:t>
            </a:r>
          </a:p>
          <a:p>
            <a:pPr algn="l"/>
            <a:r>
              <a:rPr lang="vi-VN" dirty="0"/>
              <a:t>.data # khai báo data segment</a:t>
            </a:r>
          </a:p>
          <a:p>
            <a:pPr algn="l"/>
            <a:r>
              <a:rPr lang="vi-VN" dirty="0"/>
              <a:t>str:	.asciiz “hello world”</a:t>
            </a:r>
          </a:p>
          <a:p>
            <a:pPr algn="l"/>
            <a:r>
              <a:rPr lang="vi-VN" dirty="0"/>
              <a:t>.text</a:t>
            </a:r>
          </a:p>
          <a:p>
            <a:pPr algn="l"/>
            <a:r>
              <a:rPr lang="vi-VN" dirty="0"/>
              <a:t>.globl main</a:t>
            </a:r>
          </a:p>
          <a:p>
            <a:pPr algn="l"/>
            <a:r>
              <a:rPr lang="vi-VN" dirty="0"/>
              <a:t>main: 	# nhãn main cho vi xử lý biết nơi thực thi lệnh đầu tiên</a:t>
            </a:r>
          </a:p>
          <a:p>
            <a:pPr algn="l"/>
            <a:r>
              <a:rPr lang="vi-VN" dirty="0"/>
              <a:t>la $a0, str 	# tải địa chỉ của nhãn str vào thanh ghi $a0</a:t>
            </a:r>
          </a:p>
          <a:p>
            <a:pPr algn="l"/>
            <a:r>
              <a:rPr lang="vi-VN" dirty="0"/>
              <a:t>addi $v0, $zero, 4	# đưa giá trị 4 vào thanh ghi $v0</a:t>
            </a:r>
          </a:p>
          <a:p>
            <a:pPr algn="l"/>
            <a:r>
              <a:rPr lang="vi-VN" dirty="0"/>
              <a:t>syscall</a:t>
            </a:r>
          </a:p>
          <a:p>
            <a:pPr algn="l"/>
            <a:r>
              <a:rPr lang="vi-VN" dirty="0"/>
              <a:t>addi $v0, $zero, 10</a:t>
            </a:r>
          </a:p>
          <a:p>
            <a:pPr algn="l"/>
            <a:r>
              <a:rPr lang="vi-VN" dirty="0"/>
              <a:t>syscall</a:t>
            </a:r>
          </a:p>
          <a:p>
            <a:pPr algn="l"/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115425287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228600" y="6927"/>
            <a:ext cx="9753600" cy="831273"/>
          </a:xfrm>
        </p:spPr>
        <p:txBody>
          <a:bodyPr/>
          <a:lstStyle/>
          <a:p>
            <a:pPr lvl="0"/>
            <a:r>
              <a:rPr lang="en-US" dirty="0" err="1"/>
              <a:t>Hổ</a:t>
            </a:r>
            <a:r>
              <a:rPr lang="en-US" dirty="0"/>
              <a:t> </a:t>
            </a:r>
            <a:r>
              <a:rPr lang="en-US" dirty="0" err="1"/>
              <a:t>trợ</a:t>
            </a:r>
            <a:r>
              <a:rPr lang="en-US" dirty="0"/>
              <a:t> </a:t>
            </a:r>
            <a:r>
              <a:rPr lang="en-US" dirty="0" err="1"/>
              <a:t>lệnh</a:t>
            </a:r>
            <a:r>
              <a:rPr lang="en-US" dirty="0"/>
              <a:t> </a:t>
            </a:r>
            <a:r>
              <a:rPr lang="en-US" dirty="0" err="1"/>
              <a:t>gọi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(System call)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" y="838200"/>
            <a:ext cx="8991600" cy="5943600"/>
          </a:xfrm>
        </p:spPr>
        <p:txBody>
          <a:bodyPr>
            <a:normAutofit fontScale="47500" lnSpcReduction="20000"/>
          </a:bodyPr>
          <a:lstStyle/>
          <a:p>
            <a:pPr algn="l"/>
            <a:r>
              <a:rPr lang="vi-VN" dirty="0"/>
              <a:t>Ví dụ 2: chương trình tính và in ra tổng của hai số nhập vào từ bàn phím</a:t>
            </a:r>
          </a:p>
          <a:p>
            <a:pPr algn="l"/>
            <a:r>
              <a:rPr lang="vi-VN" dirty="0" smtClean="0"/>
              <a:t>#</a:t>
            </a:r>
            <a:r>
              <a:rPr lang="vi-VN" dirty="0"/>
              <a:t>	$t0: chứa số thứ nhất</a:t>
            </a:r>
          </a:p>
          <a:p>
            <a:pPr algn="l"/>
            <a:r>
              <a:rPr lang="vi-VN" dirty="0" smtClean="0"/>
              <a:t>#</a:t>
            </a:r>
            <a:r>
              <a:rPr lang="vi-VN" dirty="0"/>
              <a:t>	$t1: chứa số thứ hai</a:t>
            </a:r>
          </a:p>
          <a:p>
            <a:pPr algn="l"/>
            <a:r>
              <a:rPr lang="vi-VN" dirty="0" smtClean="0"/>
              <a:t>#</a:t>
            </a:r>
            <a:r>
              <a:rPr lang="vi-VN" dirty="0"/>
              <a:t>	$t2: chứa tổng của $t0 và $t1</a:t>
            </a:r>
          </a:p>
          <a:p>
            <a:pPr algn="l"/>
            <a:r>
              <a:rPr lang="vi-VN" dirty="0"/>
              <a:t> </a:t>
            </a:r>
          </a:p>
          <a:p>
            <a:pPr algn="l"/>
            <a:r>
              <a:rPr lang="vi-VN" dirty="0" smtClean="0"/>
              <a:t># </a:t>
            </a:r>
            <a:r>
              <a:rPr lang="vi-VN" dirty="0"/>
              <a:t>nhập số thứ nhất lưu vào $t0.</a:t>
            </a:r>
          </a:p>
          <a:p>
            <a:pPr algn="l"/>
            <a:r>
              <a:rPr lang="vi-VN" dirty="0"/>
              <a:t>li $v0, 5 </a:t>
            </a:r>
          </a:p>
          <a:p>
            <a:pPr algn="l"/>
            <a:r>
              <a:rPr lang="vi-VN" dirty="0"/>
              <a:t>syscall </a:t>
            </a:r>
          </a:p>
          <a:p>
            <a:pPr algn="l"/>
            <a:r>
              <a:rPr lang="vi-VN" dirty="0"/>
              <a:t>move $t0, $v0</a:t>
            </a:r>
          </a:p>
          <a:p>
            <a:pPr algn="l"/>
            <a:endParaRPr lang="vi-VN" dirty="0"/>
          </a:p>
          <a:p>
            <a:pPr algn="l"/>
            <a:r>
              <a:rPr lang="vi-VN" dirty="0"/>
              <a:t># nhập số thứ hai lưu vào $t1.</a:t>
            </a:r>
          </a:p>
          <a:p>
            <a:pPr algn="l"/>
            <a:r>
              <a:rPr lang="vi-VN" dirty="0"/>
              <a:t>li $v0, 5 </a:t>
            </a:r>
          </a:p>
          <a:p>
            <a:pPr algn="l"/>
            <a:r>
              <a:rPr lang="vi-VN" dirty="0"/>
              <a:t>syscall </a:t>
            </a:r>
          </a:p>
          <a:p>
            <a:pPr algn="l"/>
            <a:r>
              <a:rPr lang="vi-VN" dirty="0"/>
              <a:t>move $t1, $v0</a:t>
            </a:r>
          </a:p>
          <a:p>
            <a:pPr algn="l"/>
            <a:endParaRPr lang="vi-VN" dirty="0"/>
          </a:p>
          <a:p>
            <a:pPr algn="l"/>
            <a:r>
              <a:rPr lang="vi-VN" dirty="0"/>
              <a:t># tính tổng hai số lưu vào $t2 </a:t>
            </a:r>
          </a:p>
          <a:p>
            <a:pPr algn="l"/>
            <a:r>
              <a:rPr lang="vi-VN" dirty="0"/>
              <a:t>add $t2, $t0, $t1</a:t>
            </a:r>
          </a:p>
          <a:p>
            <a:pPr algn="l"/>
            <a:endParaRPr lang="vi-VN" dirty="0"/>
          </a:p>
          <a:p>
            <a:pPr algn="l"/>
            <a:r>
              <a:rPr lang="vi-VN" dirty="0"/>
              <a:t># in tổng hai số</a:t>
            </a:r>
          </a:p>
          <a:p>
            <a:pPr algn="l"/>
            <a:r>
              <a:rPr lang="vi-VN" dirty="0"/>
              <a:t>move $a0, $t2 </a:t>
            </a:r>
          </a:p>
          <a:p>
            <a:pPr algn="l"/>
            <a:r>
              <a:rPr lang="vi-VN" dirty="0"/>
              <a:t>li $v0, 1 </a:t>
            </a:r>
          </a:p>
          <a:p>
            <a:pPr algn="l"/>
            <a:r>
              <a:rPr lang="vi-VN" dirty="0"/>
              <a:t>syscall</a:t>
            </a:r>
          </a:p>
          <a:p>
            <a:pPr algn="l"/>
            <a:endParaRPr lang="vi-VN" dirty="0"/>
          </a:p>
          <a:p>
            <a:pPr algn="l"/>
            <a:r>
              <a:rPr lang="vi-VN" dirty="0"/>
              <a:t>li $v0, 10 </a:t>
            </a:r>
          </a:p>
          <a:p>
            <a:pPr algn="l"/>
            <a:r>
              <a:rPr lang="vi-VN" dirty="0"/>
              <a:t>syscall</a:t>
            </a:r>
          </a:p>
        </p:txBody>
      </p:sp>
    </p:spTree>
    <p:extLst>
      <p:ext uri="{BB962C8B-B14F-4D97-AF65-F5344CB8AC3E}">
        <p14:creationId xmlns:p14="http://schemas.microsoft.com/office/powerpoint/2010/main" val="34801458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1433</TotalTime>
  <Words>1812</Words>
  <Application>Microsoft Office PowerPoint</Application>
  <PresentationFormat>On-screen Show (4:3)</PresentationFormat>
  <Paragraphs>390</Paragraphs>
  <Slides>48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49" baseType="lpstr">
      <vt:lpstr>Office Theme</vt:lpstr>
      <vt:lpstr>LẬP TRÌNH HỢP NGỮ MIPS</vt:lpstr>
      <vt:lpstr>Cấu trúc chương trình hợp ngữ MIPS: </vt:lpstr>
      <vt:lpstr>Khai báo biến</vt:lpstr>
      <vt:lpstr>Các thanh ghi trong MIPS</vt:lpstr>
      <vt:lpstr>Các thanh ghi trong MIPS</vt:lpstr>
      <vt:lpstr>Các lệnh luận lý (logic)</vt:lpstr>
      <vt:lpstr>Các lệnh luận lý (logic)</vt:lpstr>
      <vt:lpstr>Các lệnh dịch chuyển</vt:lpstr>
      <vt:lpstr>Các lệnh dịch chuyển</vt:lpstr>
      <vt:lpstr>Các lệnh dịch chuyển</vt:lpstr>
      <vt:lpstr>Các lệnh cộng (add) và trừ (sub)</vt:lpstr>
      <vt:lpstr>Các lệnh cộng (add) và trừ (sub)</vt:lpstr>
      <vt:lpstr>Các lệnh cộng (add) và trừ (sub)</vt:lpstr>
      <vt:lpstr>Các lệnh nhân và chia</vt:lpstr>
      <vt:lpstr>Các lệnh nhân và chia</vt:lpstr>
      <vt:lpstr>Các lệnh nhân và chia</vt:lpstr>
      <vt:lpstr>Các lệnh nhân và chia</vt:lpstr>
      <vt:lpstr>Các lệnh nhân và chia</vt:lpstr>
      <vt:lpstr>Các lệnh truy cập bộ nhớ</vt:lpstr>
      <vt:lpstr>Các lệnh truy cập bộ nhớ</vt:lpstr>
      <vt:lpstr>Các lệnh truy cập bộ nhớ</vt:lpstr>
      <vt:lpstr>Các lệnh truy cập bộ nhớ</vt:lpstr>
      <vt:lpstr>Các lệnh truy cập bộ nhớ</vt:lpstr>
      <vt:lpstr>Các lệnh rẽ nhánh</vt:lpstr>
      <vt:lpstr>Các lệnh rẽ nhánh</vt:lpstr>
      <vt:lpstr>Các lệnh rẽ nhánh</vt:lpstr>
      <vt:lpstr>Các lệnh rẽ nhánh</vt:lpstr>
      <vt:lpstr>Các lệnh rẽ nhánh</vt:lpstr>
      <vt:lpstr>Các lệnh rẽ nhánh</vt:lpstr>
      <vt:lpstr>Các lệnh rẽ nhánh</vt:lpstr>
      <vt:lpstr>Các lệnh rẽ nhánh</vt:lpstr>
      <vt:lpstr>Stack</vt:lpstr>
      <vt:lpstr>Stack</vt:lpstr>
      <vt:lpstr>Stack</vt:lpstr>
      <vt:lpstr>Stack</vt:lpstr>
      <vt:lpstr>Thủ tục (procedures)</vt:lpstr>
      <vt:lpstr>Thủ tục (procedures)</vt:lpstr>
      <vt:lpstr>Thủ tục (procedures)</vt:lpstr>
      <vt:lpstr>Thủ tục (procedures)</vt:lpstr>
      <vt:lpstr>GIAO TIẾP VỚI CÁC THIẾT BỊ</vt:lpstr>
      <vt:lpstr>GIAO TIẾP VỚI CÁC THIẾT BỊ</vt:lpstr>
      <vt:lpstr>Giao tiếp với trình điều khiển bàn phím</vt:lpstr>
      <vt:lpstr>Giao tiếp với trình điều khiển bàn phím</vt:lpstr>
      <vt:lpstr>Giao tiếp với trình điều khiển màn hình</vt:lpstr>
      <vt:lpstr>Giao tiếp với trình điều khiển màn hình</vt:lpstr>
      <vt:lpstr>Hổ trợ lệnh gọi hệ thống (System call)</vt:lpstr>
      <vt:lpstr>Hổ trợ lệnh gọi hệ thống (System call)</vt:lpstr>
      <vt:lpstr>Hổ trợ lệnh gọi hệ thống (System call)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LẬP TRÌNH HỢP NGỮ MIPS</dc:title>
  <dc:creator>Guest</dc:creator>
  <cp:lastModifiedBy>Guest</cp:lastModifiedBy>
  <cp:revision>33</cp:revision>
  <dcterms:created xsi:type="dcterms:W3CDTF">2014-01-02T03:51:22Z</dcterms:created>
  <dcterms:modified xsi:type="dcterms:W3CDTF">2014-01-23T07:03:39Z</dcterms:modified>
</cp:coreProperties>
</file>