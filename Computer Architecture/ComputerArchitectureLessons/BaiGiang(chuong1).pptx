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KIẾN TRÚC MÁY TÍNH</a:t>
            </a:r>
            <a:br>
              <a:rPr lang="en-US" dirty="0" smtClean="0"/>
            </a:br>
            <a:r>
              <a:rPr lang="en-US" dirty="0" smtClean="0"/>
              <a:t>(2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190999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thuyết</a:t>
            </a:r>
            <a:r>
              <a:rPr lang="en-US" dirty="0" smtClean="0"/>
              <a:t>: 30 </a:t>
            </a:r>
            <a:r>
              <a:rPr lang="en-US" dirty="0" err="1" smtClean="0"/>
              <a:t>tiết</a:t>
            </a:r>
            <a:r>
              <a:rPr lang="en-US" dirty="0" smtClean="0"/>
              <a:t>,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: 0 </a:t>
            </a:r>
            <a:r>
              <a:rPr lang="en-US" dirty="0" err="1" smtClean="0"/>
              <a:t>tiết</a:t>
            </a:r>
            <a:endParaRPr lang="en-US" dirty="0" smtClean="0"/>
          </a:p>
          <a:p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: 40% ĐTX + 60%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endParaRPr lang="en-US" dirty="0" smtClean="0"/>
          </a:p>
          <a:p>
            <a:pPr lvl="1"/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xuyên</a:t>
            </a:r>
            <a:r>
              <a:rPr lang="en-US" dirty="0" smtClean="0"/>
              <a:t>: 4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endParaRPr lang="en-US" dirty="0" smtClean="0"/>
          </a:p>
          <a:p>
            <a:pPr lvl="1"/>
            <a:r>
              <a:rPr lang="en-US" dirty="0" err="1" smtClean="0"/>
              <a:t>Thi</a:t>
            </a:r>
            <a:r>
              <a:rPr lang="en-US" dirty="0" smtClean="0"/>
              <a:t>: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(60 </a:t>
            </a:r>
            <a:r>
              <a:rPr lang="en-US" dirty="0" err="1" smtClean="0"/>
              <a:t>phút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Đông</a:t>
            </a:r>
            <a:endParaRPr lang="en-US" dirty="0" smtClean="0"/>
          </a:p>
          <a:p>
            <a:pPr lvl="1"/>
            <a:r>
              <a:rPr lang="en-US" dirty="0" smtClean="0"/>
              <a:t>Di </a:t>
            </a:r>
            <a:r>
              <a:rPr lang="en-US" dirty="0" err="1" smtClean="0"/>
              <a:t>động</a:t>
            </a:r>
            <a:r>
              <a:rPr lang="en-US" dirty="0" smtClean="0"/>
              <a:t>: 0918889592</a:t>
            </a:r>
          </a:p>
          <a:p>
            <a:pPr lvl="1"/>
            <a:r>
              <a:rPr lang="en-US" dirty="0" smtClean="0"/>
              <a:t>Email</a:t>
            </a:r>
            <a:r>
              <a:rPr lang="en-US" smtClean="0"/>
              <a:t>: nvdong@agu.edu.vn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06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7772400" cy="1219200"/>
          </a:xfrm>
        </p:spPr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1: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cương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752600"/>
            <a:ext cx="8077200" cy="4572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: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(Personal computer - PC): 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(Server):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(mainframes, minicomputers </a:t>
            </a:r>
            <a:r>
              <a:rPr lang="en-US" dirty="0" err="1"/>
              <a:t>và</a:t>
            </a:r>
            <a:r>
              <a:rPr lang="en-US" dirty="0"/>
              <a:t> supercomputers)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 smtClean="0"/>
              <a:t>mạng</a:t>
            </a:r>
            <a:endParaRPr lang="en-US" dirty="0" smtClean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nhúng</a:t>
            </a:r>
            <a:r>
              <a:rPr lang="en-US" dirty="0"/>
              <a:t> (Embedded computer):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42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suất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:</a:t>
            </a:r>
          </a:p>
          <a:p>
            <a:pPr lvl="0"/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(response time) hay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(execution time),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đĩa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CPU,…</a:t>
            </a:r>
          </a:p>
          <a:p>
            <a:pPr lvl="0"/>
            <a:r>
              <a:rPr lang="en-US" dirty="0"/>
              <a:t>Throughput: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xong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3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622" y="152400"/>
            <a:ext cx="8229600" cy="944562"/>
          </a:xfrm>
        </p:spPr>
        <p:txBody>
          <a:bodyPr/>
          <a:lstStyle/>
          <a:p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 smtClean="0"/>
              <a:t>suất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/>
              <a:t>ta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.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.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ở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X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dirty="0"/>
              <a:t>Ta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X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Y n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X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Y n </a:t>
            </a:r>
            <a:r>
              <a:rPr lang="en-US" dirty="0" err="1"/>
              <a:t>lần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7" t="29735" r="45175" b="60071"/>
          <a:stretch>
            <a:fillRect/>
          </a:stretch>
        </p:blipFill>
        <p:spPr bwMode="auto">
          <a:xfrm>
            <a:off x="3733800" y="3276600"/>
            <a:ext cx="2819400" cy="1141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4" t="43286" r="50566" b="46135"/>
          <a:stretch>
            <a:fillRect/>
          </a:stretch>
        </p:blipFill>
        <p:spPr bwMode="auto">
          <a:xfrm>
            <a:off x="4571999" y="5562600"/>
            <a:ext cx="2743201" cy="960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41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10s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B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 smtClean="0"/>
              <a:t>mất</a:t>
            </a:r>
            <a:r>
              <a:rPr lang="en-US" dirty="0" smtClean="0"/>
              <a:t> 15s</a:t>
            </a:r>
            <a:r>
              <a:rPr lang="en-US" dirty="0"/>
              <a:t>, A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B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smtClean="0"/>
              <a:t>   Ta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A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B n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Do </a:t>
            </a:r>
            <a:r>
              <a:rPr lang="en-US" dirty="0" err="1"/>
              <a:t>đó</a:t>
            </a:r>
            <a:r>
              <a:rPr lang="en-US" dirty="0"/>
              <a:t>: </a:t>
            </a:r>
            <a:r>
              <a:rPr lang="en-US" dirty="0" err="1" smtClean="0"/>
              <a:t>Vậy</a:t>
            </a:r>
            <a:r>
              <a:rPr lang="en-US" dirty="0" smtClean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B 1.5 </a:t>
            </a:r>
            <a:r>
              <a:rPr lang="en-US" dirty="0" err="1" smtClean="0"/>
              <a:t>lần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0" t="46989" r="43016" b="43286"/>
          <a:stretch>
            <a:fillRect/>
          </a:stretch>
        </p:blipFill>
        <p:spPr bwMode="auto">
          <a:xfrm>
            <a:off x="3024187" y="3689722"/>
            <a:ext cx="3300413" cy="1293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186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đạc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 smtClean="0"/>
              <a:t>suất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đạc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qua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CPU (CPU execution time) hay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CPU (CPU time)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hay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nhịp</a:t>
            </a:r>
            <a:r>
              <a:rPr lang="en-US" dirty="0"/>
              <a:t> (clock rate)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nghịch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nhịp</a:t>
            </a:r>
            <a:r>
              <a:rPr lang="en-US" dirty="0"/>
              <a:t> (clock cycle).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13" t="55391" r="17642" b="34891"/>
          <a:stretch>
            <a:fillRect/>
          </a:stretch>
        </p:blipFill>
        <p:spPr bwMode="auto">
          <a:xfrm>
            <a:off x="2427402" y="2819400"/>
            <a:ext cx="5940743" cy="1186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4" t="72136" r="19522" b="18291"/>
          <a:stretch>
            <a:fillRect/>
          </a:stretch>
        </p:blipFill>
        <p:spPr bwMode="auto">
          <a:xfrm>
            <a:off x="2427402" y="4005580"/>
            <a:ext cx="5693843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732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đạc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 smtClean="0"/>
              <a:t>suất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A,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4 GHz, </a:t>
            </a:r>
            <a:r>
              <a:rPr lang="en-US" dirty="0" err="1"/>
              <a:t>là</a:t>
            </a:r>
            <a:r>
              <a:rPr lang="en-US" dirty="0"/>
              <a:t> 10s.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B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6s.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clock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clock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1,2 </a:t>
            </a:r>
            <a:r>
              <a:rPr lang="en-US" dirty="0" err="1"/>
              <a:t>lần</a:t>
            </a:r>
            <a:r>
              <a:rPr lang="en-US" dirty="0"/>
              <a:t>.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clock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5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đạc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clock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A, ta </a:t>
            </a:r>
            <a:r>
              <a:rPr lang="en-US" dirty="0" err="1"/>
              <a:t>có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8" t="32060" r="32069" b="35727"/>
          <a:stretch>
            <a:fillRect/>
          </a:stretch>
        </p:blipFill>
        <p:spPr bwMode="auto">
          <a:xfrm>
            <a:off x="990600" y="2780954"/>
            <a:ext cx="7239000" cy="4042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854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Do </a:t>
            </a:r>
            <a:r>
              <a:rPr lang="en-US" dirty="0" err="1" smtClean="0"/>
              <a:t>đó</a:t>
            </a:r>
            <a:r>
              <a:rPr lang="en-US" dirty="0"/>
              <a:t>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gấp</a:t>
            </a:r>
            <a:r>
              <a:rPr lang="en-US" dirty="0"/>
              <a:t> </a:t>
            </a:r>
            <a:r>
              <a:rPr lang="en-US" dirty="0" err="1"/>
              <a:t>đôi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clock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A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6s.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8" t="46819" r="32069" b="21805"/>
          <a:stretch>
            <a:fillRect/>
          </a:stretch>
        </p:blipFill>
        <p:spPr bwMode="auto">
          <a:xfrm>
            <a:off x="1592493" y="2286000"/>
            <a:ext cx="7565362" cy="30794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891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Ngoài ra, ta có thể tính thời gian thực thi chương trình dựa vào chỉ số CPI (clock cycle per instruction): số chu kỳ clock trung bình cần thiết để thực thi một câu lệnh. Khi đó số chu kỳ clock có thể được tính:</a:t>
            </a:r>
          </a:p>
          <a:p>
            <a:pPr marL="0" indent="0">
              <a:buNone/>
            </a:pPr>
            <a:r>
              <a:rPr lang="en-US" sz="2400" smtClean="0"/>
              <a:t>         CPU </a:t>
            </a:r>
            <a:r>
              <a:rPr lang="en-US" sz="2400"/>
              <a:t>clock cycles   =   (instructions for a program)   ×   CPI</a:t>
            </a:r>
          </a:p>
        </p:txBody>
      </p:sp>
    </p:spTree>
    <p:extLst>
      <p:ext uri="{BB962C8B-B14F-4D97-AF65-F5344CB8AC3E}">
        <p14:creationId xmlns:p14="http://schemas.microsoft.com/office/powerpoint/2010/main" val="215572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Thí dụ: xét 2 máy tính A và B có cùng kiến trúc tập lệnh. Máy A có chu kỳ clock là 250 ps và đạt được CPI là 2,0 khi chạy chương trình P. Máy B có chu kỳ clock là 500 ps và đạt được CPI bằng 1,2 khi chạy chương trình P. Máy nào thực thi chương trình P nhanh hơn và nhanh hơn bao nhiêu lần ?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7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Do 2 máy có cùng kiến trúc tập lệnh nên số lệnh thực thi của chương trình P trên 2 máy này bằng nhau.  Giả sử gọi số lệnh này là </a:t>
            </a:r>
            <a:r>
              <a:rPr lang="en-US" sz="2400" i="1"/>
              <a:t>I</a:t>
            </a:r>
            <a:r>
              <a:rPr lang="en-US" sz="2400"/>
              <a:t>. Ta có:</a:t>
            </a:r>
          </a:p>
          <a:p>
            <a:pPr marL="0" indent="0">
              <a:buNone/>
            </a:pPr>
            <a:r>
              <a:rPr lang="en-US" sz="2400"/>
              <a:t>	CPU clock cycles</a:t>
            </a:r>
            <a:r>
              <a:rPr lang="en-US" sz="2400" baseline="-25000"/>
              <a:t>A</a:t>
            </a:r>
            <a:r>
              <a:rPr lang="en-US" sz="2400"/>
              <a:t> = </a:t>
            </a:r>
            <a:r>
              <a:rPr lang="en-US" sz="2400" i="1"/>
              <a:t>I</a:t>
            </a:r>
            <a:r>
              <a:rPr lang="en-US" sz="2400"/>
              <a:t> × 2.0</a:t>
            </a:r>
          </a:p>
          <a:p>
            <a:pPr marL="0" indent="0">
              <a:buNone/>
            </a:pPr>
            <a:r>
              <a:rPr lang="en-US" sz="2400"/>
              <a:t>	CPU clock cycles</a:t>
            </a:r>
            <a:r>
              <a:rPr lang="en-US" sz="2400" baseline="-25000"/>
              <a:t>B</a:t>
            </a:r>
            <a:r>
              <a:rPr lang="en-US" sz="2400"/>
              <a:t> = </a:t>
            </a:r>
            <a:r>
              <a:rPr lang="en-US" sz="2400" i="1"/>
              <a:t>I</a:t>
            </a:r>
            <a:r>
              <a:rPr lang="en-US" sz="2400"/>
              <a:t> × 1.2</a:t>
            </a:r>
          </a:p>
          <a:p>
            <a:pPr marL="0" indent="0">
              <a:buNone/>
            </a:pPr>
            <a:r>
              <a:rPr lang="en-US" sz="2400"/>
              <a:t>Do đó, thời gian thực thi trên mỗi máy:</a:t>
            </a:r>
          </a:p>
          <a:p>
            <a:pPr marL="0" indent="0">
              <a:buNone/>
            </a:pPr>
            <a:r>
              <a:rPr lang="en-US" sz="2400"/>
              <a:t>CPU time</a:t>
            </a:r>
            <a:r>
              <a:rPr lang="en-US" sz="2400" baseline="-25000"/>
              <a:t>A </a:t>
            </a:r>
            <a:r>
              <a:rPr lang="en-US" sz="2400"/>
              <a:t>= CPU clock cycles</a:t>
            </a:r>
            <a:r>
              <a:rPr lang="en-US" sz="2400" baseline="-25000"/>
              <a:t>A</a:t>
            </a:r>
            <a:r>
              <a:rPr lang="en-US" sz="2400"/>
              <a:t> × clock cycle time</a:t>
            </a:r>
            <a:r>
              <a:rPr lang="en-US" sz="2400" baseline="-25000"/>
              <a:t>A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	       = </a:t>
            </a:r>
            <a:r>
              <a:rPr lang="en-US" sz="2400" i="1"/>
              <a:t>I</a:t>
            </a:r>
            <a:r>
              <a:rPr lang="en-US" sz="2400"/>
              <a:t> × 2.0 × 250 ps = 500 × </a:t>
            </a:r>
            <a:r>
              <a:rPr lang="en-US" sz="2400" i="1"/>
              <a:t>I</a:t>
            </a:r>
            <a:r>
              <a:rPr lang="en-US" sz="2400"/>
              <a:t> ps</a:t>
            </a:r>
          </a:p>
          <a:p>
            <a:pPr marL="0" indent="0">
              <a:buNone/>
            </a:pPr>
            <a:r>
              <a:rPr lang="en-US" sz="2400"/>
              <a:t>CPU time</a:t>
            </a:r>
            <a:r>
              <a:rPr lang="en-US" sz="2400" baseline="-25000"/>
              <a:t>B </a:t>
            </a:r>
            <a:r>
              <a:rPr lang="en-US" sz="2400"/>
              <a:t>= </a:t>
            </a:r>
            <a:r>
              <a:rPr lang="en-US" sz="2400" i="1"/>
              <a:t>I</a:t>
            </a:r>
            <a:r>
              <a:rPr lang="en-US" sz="2400"/>
              <a:t> × 1.2 × 500 ps = 600 × </a:t>
            </a:r>
            <a:r>
              <a:rPr lang="en-US" sz="2400" i="1"/>
              <a:t>I</a:t>
            </a:r>
            <a:r>
              <a:rPr lang="en-US" sz="2400"/>
              <a:t> </a:t>
            </a:r>
            <a:r>
              <a:rPr lang="en-US" sz="2400" smtClean="0"/>
              <a:t>ps</a:t>
            </a:r>
          </a:p>
          <a:p>
            <a:pPr marL="0" indent="0">
              <a:buNone/>
            </a:pPr>
            <a:r>
              <a:rPr lang="en-US" sz="2400"/>
              <a:t>Như vậy, máy tính A nhanh hơn là: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8" t="76012" r="33768" b="12915"/>
          <a:stretch>
            <a:fillRect/>
          </a:stretch>
        </p:blipFill>
        <p:spPr bwMode="auto">
          <a:xfrm>
            <a:off x="1905000" y="5791200"/>
            <a:ext cx="5410200" cy="9442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3418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Dựa trên chỉ số CPI, ta có công thức tính thời gian thực thi:</a:t>
            </a:r>
          </a:p>
          <a:p>
            <a:pPr marL="0" indent="0">
              <a:buNone/>
            </a:pPr>
            <a:r>
              <a:rPr lang="en-US" sz="2400" smtClean="0"/>
              <a:t>        CPU </a:t>
            </a:r>
            <a:r>
              <a:rPr lang="en-US" sz="2400"/>
              <a:t>time = instruction count   ×  CPI  ×  clock cycle time</a:t>
            </a:r>
          </a:p>
          <a:p>
            <a:pPr marL="0" indent="0">
              <a:buNone/>
            </a:pPr>
            <a:r>
              <a:rPr lang="en-US" sz="2400"/>
              <a:t>hay</a:t>
            </a:r>
          </a:p>
          <a:p>
            <a:endParaRPr lang="en-US" sz="2800" smtClean="0"/>
          </a:p>
          <a:p>
            <a:r>
              <a:rPr lang="en-US" sz="2800" smtClean="0"/>
              <a:t>Trong </a:t>
            </a:r>
            <a:r>
              <a:rPr lang="en-US" sz="2800"/>
              <a:t>trường hợp tập lệnh được phân chia thành nhiều nhóm lệnh, khi đó hiệu suất có thể tính toán theo nhóm lệnh như sau: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7" t="67616" r="43240" b="22318"/>
          <a:stretch>
            <a:fillRect/>
          </a:stretch>
        </p:blipFill>
        <p:spPr bwMode="auto">
          <a:xfrm>
            <a:off x="2433782" y="2971800"/>
            <a:ext cx="373841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68" t="50845" r="27072" b="37589"/>
          <a:stretch>
            <a:fillRect/>
          </a:stretch>
        </p:blipFill>
        <p:spPr bwMode="auto">
          <a:xfrm>
            <a:off x="2209800" y="5410200"/>
            <a:ext cx="4419600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686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Thí dụ: xét 1 máy tính có đặc điểm tập lệnh như sau:</a:t>
            </a:r>
          </a:p>
          <a:p>
            <a:endParaRPr lang="en-US" sz="2800" smtClean="0"/>
          </a:p>
          <a:p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Khi </a:t>
            </a:r>
            <a:r>
              <a:rPr lang="en-US" sz="2800"/>
              <a:t>biên dịch cùng 1 chương trình nguồn bằng 2 compiler khác nhau, ta được 2 đoạn mã lệnh như sau:</a:t>
            </a:r>
          </a:p>
          <a:p>
            <a:endParaRPr lang="en-US" sz="2800"/>
          </a:p>
          <a:p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Đoạn </a:t>
            </a:r>
            <a:r>
              <a:rPr lang="en-US" sz="2800"/>
              <a:t>mã nào thực hiện nhiều câu lệnh hơn ? chạy nhanh hơn ? Tính CPI cho từng đoạn mã lệnh ?</a:t>
            </a:r>
          </a:p>
          <a:p>
            <a:endParaRPr lang="en-US" sz="280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4" t="50542" r="12921" b="34891"/>
          <a:stretch>
            <a:fillRect/>
          </a:stretch>
        </p:blipFill>
        <p:spPr bwMode="auto">
          <a:xfrm>
            <a:off x="1828800" y="2057400"/>
            <a:ext cx="6096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7" t="64084" r="12663" b="17133"/>
          <a:stretch>
            <a:fillRect/>
          </a:stretch>
        </p:blipFill>
        <p:spPr bwMode="auto">
          <a:xfrm>
            <a:off x="1946565" y="3962400"/>
            <a:ext cx="5334000" cy="129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26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Đoạn mã 1 thực hiện: 2 + 1 + 2 = 5 lệnh, trong khi đoạn mã 2 thực hiện là: 4 + 1 + 1 = 6 lệnh. Như vậy, đoạn mã 2 thực hiện nhiều lệnh hơn.</a:t>
            </a:r>
          </a:p>
          <a:p>
            <a:pPr marL="0" indent="0">
              <a:buNone/>
            </a:pPr>
            <a:r>
              <a:rPr lang="en-US"/>
              <a:t>Để tính số chu kỳ clock cho mỗi đoạn mã dựa vào công thức: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68" t="50845" r="27072" b="37589"/>
          <a:stretch>
            <a:fillRect/>
          </a:stretch>
        </p:blipFill>
        <p:spPr bwMode="auto">
          <a:xfrm>
            <a:off x="2438400" y="4495800"/>
            <a:ext cx="4152583" cy="1468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93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 đó:</a:t>
            </a:r>
          </a:p>
          <a:p>
            <a:endParaRPr lang="en-US" smtClean="0"/>
          </a:p>
          <a:p>
            <a:endParaRPr lang="en-US" smtClean="0"/>
          </a:p>
          <a:p>
            <a:pPr marL="0" indent="0">
              <a:buNone/>
            </a:pPr>
            <a:r>
              <a:rPr lang="en-US" smtClean="0"/>
              <a:t>Vì </a:t>
            </a:r>
            <a:r>
              <a:rPr lang="en-US"/>
              <a:t>thế đoạn mã 2 thực hiện nhanh hơn. CPI của mỗi đoạn được tính như sau: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2" t="62431" r="12357" b="25166"/>
          <a:stretch>
            <a:fillRect/>
          </a:stretch>
        </p:blipFill>
        <p:spPr bwMode="auto">
          <a:xfrm>
            <a:off x="2043545" y="1905000"/>
            <a:ext cx="64770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8" t="45630" r="39342" b="21652"/>
          <a:stretch>
            <a:fillRect/>
          </a:stretch>
        </p:blipFill>
        <p:spPr bwMode="auto">
          <a:xfrm>
            <a:off x="1819564" y="4343400"/>
            <a:ext cx="5272088" cy="2239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485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/>
              <a:t>Một chỉ số khác cũng được dùng để đánh giá hiệu suất, đó là MIPS (million instructions per second) được xác định như sau:</a:t>
            </a:r>
          </a:p>
          <a:p>
            <a:endParaRPr lang="en-US" sz="2400" smtClean="0"/>
          </a:p>
          <a:p>
            <a:endParaRPr lang="en-US" sz="2400"/>
          </a:p>
          <a:p>
            <a:pPr marL="0" indent="0">
              <a:buNone/>
            </a:pPr>
            <a:r>
              <a:rPr lang="en-US" sz="2400"/>
              <a:t>Thí dụ: cũng với thí dụ vừa rồi, xét bảng số liệu sau:</a:t>
            </a:r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pPr marL="0" indent="0">
              <a:buNone/>
            </a:pPr>
            <a:r>
              <a:rPr lang="en-US" sz="2600"/>
              <a:t>giả sử máy trên có tần số clock là 4 GHz. Cho biết compiler nào thực thi nhanh hơn nếu tính theo thời gian thực thi? nếu tính theo MIPS?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58" t="28357" r="28493" b="61919"/>
          <a:stretch>
            <a:fillRect/>
          </a:stretch>
        </p:blipFill>
        <p:spPr bwMode="auto">
          <a:xfrm>
            <a:off x="2330710" y="2281382"/>
            <a:ext cx="3720783" cy="766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4" t="47997" r="14342" b="31700"/>
          <a:stretch>
            <a:fillRect/>
          </a:stretch>
        </p:blipFill>
        <p:spPr bwMode="auto">
          <a:xfrm>
            <a:off x="1905000" y="3352800"/>
            <a:ext cx="4800600" cy="144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6163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Đầu tiên, tính thời gian thực thi đối với mỗi compiler theo công thức sau:</a:t>
            </a:r>
          </a:p>
          <a:p>
            <a:endParaRPr lang="en-US" smtClean="0"/>
          </a:p>
          <a:p>
            <a:pPr marL="0" indent="0">
              <a:buNone/>
            </a:pPr>
            <a:r>
              <a:rPr lang="en-US"/>
              <a:t>với: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5" t="27693" r="43208" b="62753"/>
          <a:stretch>
            <a:fillRect/>
          </a:stretch>
        </p:blipFill>
        <p:spPr bwMode="auto">
          <a:xfrm>
            <a:off x="3155632" y="2667000"/>
            <a:ext cx="3016568" cy="812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1" t="46141" r="33490" b="30884"/>
          <a:stretch>
            <a:fillRect/>
          </a:stretch>
        </p:blipFill>
        <p:spPr bwMode="auto">
          <a:xfrm>
            <a:off x="1828800" y="3657600"/>
            <a:ext cx="5638800" cy="2250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608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Vì vậy thời gian thực thi của từng compiler là:</a:t>
            </a:r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 smtClean="0"/>
          </a:p>
          <a:p>
            <a:pPr marL="0" indent="0">
              <a:buNone/>
            </a:pPr>
            <a:r>
              <a:rPr lang="en-US" smtClean="0"/>
              <a:t>Dựa </a:t>
            </a:r>
            <a:r>
              <a:rPr lang="en-US"/>
              <a:t>vào thời gian thực thi thì ta thấy compiler 1 tạo ra chương trình thực thi nhanh hơn compiler 2.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3" t="58557" r="39342" b="20627"/>
          <a:stretch>
            <a:fillRect/>
          </a:stretch>
        </p:blipFill>
        <p:spPr bwMode="auto">
          <a:xfrm>
            <a:off x="1981200" y="2362200"/>
            <a:ext cx="5222240" cy="2031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711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Đo đạc hiệu suất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Bây giờ ta tính theo MIPS dùng công thức:</a:t>
            </a:r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 smtClean="0"/>
          </a:p>
          <a:p>
            <a:pPr marL="0" indent="0">
              <a:buNone/>
            </a:pPr>
            <a:r>
              <a:rPr lang="en-US" smtClean="0"/>
              <a:t>Do </a:t>
            </a:r>
            <a:r>
              <a:rPr lang="en-US"/>
              <a:t>compiler 1 có chỉ số MIPS thấp hơn compiler 2 nên nó chạy </a:t>
            </a:r>
            <a:r>
              <a:rPr lang="en-US" smtClean="0"/>
              <a:t>nhanh </a:t>
            </a:r>
            <a:r>
              <a:rPr lang="en-US"/>
              <a:t>hơn.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8" t="43628" r="42642" b="25337"/>
          <a:stretch>
            <a:fillRect/>
          </a:stretch>
        </p:blipFill>
        <p:spPr bwMode="auto">
          <a:xfrm>
            <a:off x="1905000" y="2362200"/>
            <a:ext cx="4839653" cy="2797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2981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Biểu diễn số </a:t>
            </a:r>
            <a:r>
              <a:rPr lang="en-US" smtClean="0"/>
              <a:t>nguyên </a:t>
            </a:r>
            <a:r>
              <a:rPr lang="en-US"/>
              <a:t>không </a:t>
            </a:r>
            <a:r>
              <a:rPr lang="en-US" smtClean="0"/>
              <a:t>dấu</a:t>
            </a:r>
          </a:p>
          <a:p>
            <a:pPr marL="0" indent="0">
              <a:buNone/>
            </a:pPr>
            <a:r>
              <a:rPr lang="en-US"/>
              <a:t>Số bit		Khoảng giá trị  </a:t>
            </a:r>
          </a:p>
          <a:p>
            <a:pPr marL="0" indent="0">
              <a:buNone/>
            </a:pPr>
            <a:r>
              <a:rPr lang="en-US"/>
              <a:t>  n bit		0…2</a:t>
            </a:r>
            <a:r>
              <a:rPr lang="en-US" baseline="30000"/>
              <a:t>n</a:t>
            </a:r>
            <a:r>
              <a:rPr lang="en-US"/>
              <a:t> - 1 </a:t>
            </a:r>
          </a:p>
          <a:p>
            <a:pPr marL="0" indent="0">
              <a:buNone/>
            </a:pPr>
            <a:r>
              <a:rPr lang="en-US"/>
              <a:t>  8 bit		0…255 </a:t>
            </a:r>
          </a:p>
          <a:p>
            <a:pPr marL="0" indent="0">
              <a:buNone/>
            </a:pPr>
            <a:r>
              <a:rPr lang="en-US"/>
              <a:t>16 bit		0.. 65535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96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nguyên có dấu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Biểu diễn bằng dấu và trị tuyệt </a:t>
            </a:r>
            <a:r>
              <a:rPr lang="en-US" smtClean="0"/>
              <a:t>đối: </a:t>
            </a:r>
            <a:r>
              <a:rPr lang="en-US"/>
              <a:t>Để biểu diễn số nguyên có dấu n-bit có dạng a</a:t>
            </a:r>
            <a:r>
              <a:rPr lang="en-US" baseline="-25000"/>
              <a:t>n-1</a:t>
            </a:r>
            <a:r>
              <a:rPr lang="en-US"/>
              <a:t>a</a:t>
            </a:r>
            <a:r>
              <a:rPr lang="en-US" baseline="-25000"/>
              <a:t>n-2</a:t>
            </a:r>
            <a:r>
              <a:rPr lang="en-US"/>
              <a:t>…a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-25000"/>
              <a:t>0</a:t>
            </a:r>
            <a:r>
              <a:rPr lang="en-US"/>
              <a:t> thì sử dụng bit trái nhất (a</a:t>
            </a:r>
            <a:r>
              <a:rPr lang="en-US" baseline="-25000"/>
              <a:t>n-1</a:t>
            </a:r>
            <a:r>
              <a:rPr lang="en-US"/>
              <a:t>) làm bit dấu. Bit dấu bằng 0 thể hiện số dương và bằng 1 thể hiện số </a:t>
            </a:r>
            <a:r>
              <a:rPr lang="en-US" smtClean="0"/>
              <a:t>âm</a:t>
            </a:r>
          </a:p>
          <a:p>
            <a:pPr marL="0" indent="0">
              <a:buNone/>
            </a:pPr>
            <a:r>
              <a:rPr lang="en-US" smtClean="0"/>
              <a:t>    Biểu </a:t>
            </a:r>
            <a:r>
              <a:rPr lang="en-US"/>
              <a:t>diễn số +18 và −18 như sau:</a:t>
            </a:r>
          </a:p>
          <a:p>
            <a:pPr marL="0" indent="0">
              <a:buNone/>
            </a:pPr>
            <a:r>
              <a:rPr lang="en-US"/>
              <a:t>		+18 = 00010010</a:t>
            </a:r>
          </a:p>
          <a:p>
            <a:pPr marL="0" indent="0">
              <a:buNone/>
            </a:pPr>
            <a:r>
              <a:rPr lang="en-US"/>
              <a:t>		−18 = 10010010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85654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nguyên có </a:t>
            </a:r>
            <a:r>
              <a:rPr lang="en-US" smtClean="0"/>
              <a:t>dấu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Biểu diễn bằng bù </a:t>
            </a:r>
            <a:r>
              <a:rPr lang="en-US" smtClean="0"/>
              <a:t>2: </a:t>
            </a:r>
          </a:p>
          <a:p>
            <a:pPr lvl="1"/>
            <a:r>
              <a:rPr lang="en-US"/>
              <a:t>Giả sử biểu diễn số nguyên A bằng n-bit (a</a:t>
            </a:r>
            <a:r>
              <a:rPr lang="en-US" baseline="-25000"/>
              <a:t>n-1</a:t>
            </a:r>
            <a:r>
              <a:rPr lang="en-US"/>
              <a:t>a</a:t>
            </a:r>
            <a:r>
              <a:rPr lang="en-US" baseline="-25000"/>
              <a:t>n-2</a:t>
            </a:r>
            <a:r>
              <a:rPr lang="en-US"/>
              <a:t>…a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-25000"/>
              <a:t>0</a:t>
            </a:r>
            <a:r>
              <a:rPr lang="en-US"/>
              <a:t>), nếu A &gt;= 0 thì bit a</a:t>
            </a:r>
            <a:r>
              <a:rPr lang="en-US" baseline="-25000"/>
              <a:t>n-1</a:t>
            </a:r>
            <a:r>
              <a:rPr lang="en-US"/>
              <a:t> bằng 0, các bit còn lại sẽ thể hiện độ lớn của số A</a:t>
            </a:r>
            <a:r>
              <a:rPr lang="en-US" smtClean="0"/>
              <a:t>.</a:t>
            </a:r>
          </a:p>
          <a:p>
            <a:pPr lvl="1"/>
            <a:r>
              <a:rPr lang="en-US"/>
              <a:t>Trong trường hợp A &lt; 0, để biểu diễn bằng bù 2 trước tiên lấy bù 1 (đảo ngược các bit) của giá trị A. Sau đó lấy kết quả bù 1 vừa tìm được cộng với 1 sẽ được số bù 2. </a:t>
            </a:r>
          </a:p>
        </p:txBody>
      </p:sp>
    </p:spTree>
    <p:extLst>
      <p:ext uri="{BB962C8B-B14F-4D97-AF65-F5344CB8AC3E}">
        <p14:creationId xmlns:p14="http://schemas.microsoft.com/office/powerpoint/2010/main" val="3806156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nguyên có </a:t>
            </a:r>
            <a:r>
              <a:rPr lang="en-US" smtClean="0"/>
              <a:t>dấu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Biểu diễn bằng bù </a:t>
            </a:r>
            <a:r>
              <a:rPr lang="en-US" smtClean="0"/>
              <a:t>2: </a:t>
            </a:r>
          </a:p>
          <a:p>
            <a:pPr marL="0" indent="0">
              <a:buNone/>
            </a:pPr>
            <a:r>
              <a:rPr lang="en-US"/>
              <a:t>Ví dụ: dùng 8 bit để biểu diễn −20 bằng phương pháp bù 2.</a:t>
            </a:r>
            <a:br>
              <a:rPr lang="en-US"/>
            </a:br>
            <a:r>
              <a:rPr lang="en-US"/>
              <a:t>	20 = 00010100</a:t>
            </a:r>
            <a:br>
              <a:rPr lang="en-US"/>
            </a:br>
            <a:r>
              <a:rPr lang="en-US"/>
              <a:t>lấy bù 1   = 11101011</a:t>
            </a:r>
            <a:br>
              <a:rPr lang="en-US"/>
            </a:br>
            <a:r>
              <a:rPr lang="en-US"/>
              <a:t>                  +           </a:t>
            </a:r>
            <a:r>
              <a:rPr lang="en-US" smtClean="0"/>
              <a:t>    </a:t>
            </a:r>
            <a:r>
              <a:rPr lang="en-US"/>
              <a:t>1</a:t>
            </a:r>
          </a:p>
          <a:p>
            <a:pPr marL="0" indent="0">
              <a:buNone/>
            </a:pPr>
            <a:r>
              <a:rPr lang="en-US"/>
              <a:t>                   </a:t>
            </a:r>
            <a:r>
              <a:rPr lang="en-US" smtClean="0"/>
              <a:t> 11101100  </a:t>
            </a:r>
            <a:r>
              <a:rPr lang="en-US"/>
              <a:t>(bù 2)</a:t>
            </a:r>
          </a:p>
          <a:p>
            <a:pPr marL="0" lvl="0" indent="0">
              <a:buNone/>
            </a:pPr>
            <a:endParaRPr lang="en-US" smtClean="0"/>
          </a:p>
        </p:txBody>
      </p:sp>
      <p:cxnSp>
        <p:nvCxnSpPr>
          <p:cNvPr id="4" name="AutoShape 2"/>
          <p:cNvCxnSpPr>
            <a:cxnSpLocks noChangeShapeType="1"/>
          </p:cNvCxnSpPr>
          <p:nvPr/>
        </p:nvCxnSpPr>
        <p:spPr bwMode="auto">
          <a:xfrm>
            <a:off x="2272152" y="4754420"/>
            <a:ext cx="184264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2548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phép tính trên số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Phép </a:t>
            </a:r>
            <a:r>
              <a:rPr lang="en-US" smtClean="0"/>
              <a:t>cộng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7" t="19957" r="24794" b="15613"/>
          <a:stretch>
            <a:fillRect/>
          </a:stretch>
        </p:blipFill>
        <p:spPr bwMode="auto">
          <a:xfrm>
            <a:off x="1293091" y="2286000"/>
            <a:ext cx="6324600" cy="373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999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phép tính trên số </a:t>
            </a:r>
            <a:r>
              <a:rPr lang="en-US" smtClean="0"/>
              <a:t>nguyên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Phép </a:t>
            </a:r>
            <a:r>
              <a:rPr lang="en-US" smtClean="0"/>
              <a:t>trừ: </a:t>
            </a:r>
            <a:r>
              <a:rPr lang="en-US"/>
              <a:t>Để thực hiện phép tính A – B chỉ cần lấy bù 2 của B, sau đó cộng kết quả với A. </a:t>
            </a:r>
            <a:endParaRPr lang="en-US" smtClean="0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4" t="18291" r="24057" b="12744"/>
          <a:stretch>
            <a:fillRect/>
          </a:stretch>
        </p:blipFill>
        <p:spPr bwMode="auto">
          <a:xfrm>
            <a:off x="914400" y="2590800"/>
            <a:ext cx="7010400" cy="3859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258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Các phép tính trên số </a:t>
            </a:r>
            <a:r>
              <a:rPr lang="en-US" smtClean="0"/>
              <a:t>nguyên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sz="2400"/>
              <a:t>Phép nhân</a:t>
            </a:r>
            <a:r>
              <a:rPr lang="en-US" sz="2400" smtClean="0"/>
              <a:t>: </a:t>
            </a:r>
            <a:r>
              <a:rPr lang="en-US" sz="2400"/>
              <a:t>Để nhân hai số nguyên có dấu được biểu diễn bằng bù 2 ta sử dụng giải thuật Booth. Kết quả của phép nhân nằm trong thanh ghi A và </a:t>
            </a:r>
            <a:r>
              <a:rPr lang="en-US" sz="2400" smtClean="0"/>
              <a:t>Q.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5" t="14929" r="28766" b="10902"/>
          <a:stretch>
            <a:fillRect/>
          </a:stretch>
        </p:blipFill>
        <p:spPr bwMode="auto">
          <a:xfrm>
            <a:off x="1447800" y="2209800"/>
            <a:ext cx="5867400" cy="44710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1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Các phép tính trên số </a:t>
            </a:r>
            <a:r>
              <a:rPr lang="en-US" smtClean="0"/>
              <a:t>nguyên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sz="2400"/>
              <a:t>Phép nhân</a:t>
            </a:r>
            <a:r>
              <a:rPr lang="en-US" sz="2400" smtClean="0"/>
              <a:t>: </a:t>
            </a:r>
            <a:r>
              <a:rPr lang="en-US" sz="2400"/>
              <a:t>Ví dụ phép </a:t>
            </a:r>
            <a:r>
              <a:rPr lang="en-US" sz="2400" smtClean="0"/>
              <a:t>nhân 7 × 3 bằng </a:t>
            </a:r>
            <a:r>
              <a:rPr lang="en-US" sz="2400"/>
              <a:t>giải thuật Booth như sau: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38" t="23325" r="25092" b="34055"/>
          <a:stretch>
            <a:fillRect/>
          </a:stretch>
        </p:blipFill>
        <p:spPr bwMode="auto">
          <a:xfrm>
            <a:off x="1066800" y="1600200"/>
            <a:ext cx="6705600" cy="487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54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Các phép tính trên số </a:t>
            </a:r>
            <a:r>
              <a:rPr lang="en-US" smtClean="0"/>
              <a:t>nguyên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sz="2400"/>
              <a:t>Phép chia</a:t>
            </a:r>
            <a:r>
              <a:rPr lang="en-US" sz="2400" smtClean="0"/>
              <a:t>: </a:t>
            </a:r>
            <a:r>
              <a:rPr lang="en-US" sz="2400"/>
              <a:t>Đối với số nguyên dương, phép chia được thực hiện theo giải thuật </a:t>
            </a:r>
            <a:r>
              <a:rPr lang="en-US" sz="2400" smtClean="0"/>
              <a:t>sau với thương </a:t>
            </a:r>
            <a:r>
              <a:rPr lang="en-US" sz="2400"/>
              <a:t>số chứa trong Q và số dư chứa trong A.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1" t="15794" r="29987" b="11073"/>
          <a:stretch>
            <a:fillRect/>
          </a:stretch>
        </p:blipFill>
        <p:spPr bwMode="auto">
          <a:xfrm>
            <a:off x="2819400" y="1752600"/>
            <a:ext cx="4410710" cy="4919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272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Các phép tính trên số </a:t>
            </a:r>
            <a:r>
              <a:rPr lang="en-US" smtClean="0"/>
              <a:t>nguyên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sz="2400"/>
              <a:t>Phép chia</a:t>
            </a:r>
            <a:r>
              <a:rPr lang="en-US" sz="2400" smtClean="0"/>
              <a:t>: ví </a:t>
            </a:r>
            <a:r>
              <a:rPr lang="en-US" sz="2400"/>
              <a:t>dụ phép chia hai số dương (7/3) bằng giải thuật này như sau:</a:t>
            </a:r>
          </a:p>
          <a:p>
            <a:endParaRPr lang="en-US" sz="2400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1" t="18808" r="20689" b="17265"/>
          <a:stretch>
            <a:fillRect/>
          </a:stretch>
        </p:blipFill>
        <p:spPr bwMode="auto">
          <a:xfrm>
            <a:off x="1219200" y="1600200"/>
            <a:ext cx="6477000" cy="502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658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Các phép tính trên số </a:t>
            </a:r>
            <a:r>
              <a:rPr lang="en-US" smtClean="0"/>
              <a:t>nguyên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 err="1"/>
              <a:t>Phép</a:t>
            </a:r>
            <a:r>
              <a:rPr lang="en-US" sz="2600" dirty="0"/>
              <a:t> chia</a:t>
            </a:r>
            <a:r>
              <a:rPr lang="en-US" sz="2600" dirty="0" smtClean="0"/>
              <a:t>: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cách</a:t>
            </a:r>
            <a:r>
              <a:rPr lang="en-US" sz="2600" dirty="0"/>
              <a:t> </a:t>
            </a:r>
            <a:r>
              <a:rPr lang="en-US" sz="2600" dirty="0" err="1"/>
              <a:t>tổng</a:t>
            </a:r>
            <a:r>
              <a:rPr lang="en-US" sz="2600" dirty="0"/>
              <a:t> </a:t>
            </a:r>
            <a:r>
              <a:rPr lang="en-US" sz="2600" dirty="0" err="1"/>
              <a:t>quát</a:t>
            </a:r>
            <a:r>
              <a:rPr lang="en-US" sz="2600" dirty="0"/>
              <a:t> (</a:t>
            </a:r>
            <a:r>
              <a:rPr lang="en-US" sz="2600" dirty="0" err="1"/>
              <a:t>phép</a:t>
            </a:r>
            <a:r>
              <a:rPr lang="en-US" sz="2600" dirty="0"/>
              <a:t> chia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dấu</a:t>
            </a:r>
            <a:r>
              <a:rPr lang="en-US" sz="2600" dirty="0"/>
              <a:t>) ta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công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hiện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</a:t>
            </a:r>
            <a:r>
              <a:rPr lang="en-US" sz="2600" dirty="0" err="1"/>
              <a:t>hệ</a:t>
            </a:r>
            <a:r>
              <a:rPr lang="en-US" sz="2600" dirty="0"/>
              <a:t> </a:t>
            </a:r>
            <a:r>
              <a:rPr lang="en-US" sz="2600" dirty="0" err="1"/>
              <a:t>giữa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bị</a:t>
            </a:r>
            <a:r>
              <a:rPr lang="en-US" sz="2600" dirty="0"/>
              <a:t> chia (D), </a:t>
            </a:r>
            <a:r>
              <a:rPr lang="en-US" sz="2600" dirty="0" err="1"/>
              <a:t>số</a:t>
            </a:r>
            <a:r>
              <a:rPr lang="en-US" sz="2600" dirty="0"/>
              <a:t> chia (V), </a:t>
            </a:r>
            <a:r>
              <a:rPr lang="en-US" sz="2600" dirty="0" err="1"/>
              <a:t>thương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(Q)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dư</a:t>
            </a:r>
            <a:r>
              <a:rPr lang="en-US" sz="2600" dirty="0"/>
              <a:t> (R):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800" dirty="0" err="1"/>
              <a:t>Xem</a:t>
            </a:r>
            <a:r>
              <a:rPr lang="en-US" sz="2800" dirty="0"/>
              <a:t> </a:t>
            </a: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 chia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:</a:t>
            </a:r>
          </a:p>
          <a:p>
            <a:pPr marL="0" indent="0">
              <a:buNone/>
            </a:pP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vậy</a:t>
            </a:r>
            <a:r>
              <a:rPr lang="en-US" sz="2800" dirty="0"/>
              <a:t>,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tuyệt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Q </a:t>
            </a:r>
            <a:r>
              <a:rPr lang="en-US" sz="2800" dirty="0" err="1"/>
              <a:t>và</a:t>
            </a:r>
            <a:r>
              <a:rPr lang="en-US" sz="2800" dirty="0"/>
              <a:t> R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phụ</a:t>
            </a:r>
            <a:r>
              <a:rPr lang="en-US" sz="2800" dirty="0"/>
              <a:t>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D </a:t>
            </a:r>
            <a:r>
              <a:rPr lang="en-US" sz="2800" dirty="0" err="1"/>
              <a:t>và</a:t>
            </a:r>
            <a:r>
              <a:rPr lang="en-US" sz="2800" dirty="0"/>
              <a:t> V </a:t>
            </a:r>
            <a:r>
              <a:rPr lang="en-US" sz="2800" dirty="0" err="1"/>
              <a:t>nhưng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Q </a:t>
            </a:r>
            <a:r>
              <a:rPr lang="en-US" sz="2800" dirty="0" err="1"/>
              <a:t>và</a:t>
            </a:r>
            <a:r>
              <a:rPr lang="en-US" sz="2800" dirty="0"/>
              <a:t> R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:</a:t>
            </a:r>
          </a:p>
          <a:p>
            <a:pPr lvl="1"/>
            <a:r>
              <a:rPr lang="en-US" dirty="0" err="1"/>
              <a:t>dấu</a:t>
            </a:r>
            <a:r>
              <a:rPr lang="en-US" dirty="0"/>
              <a:t> (R) = </a:t>
            </a:r>
            <a:r>
              <a:rPr lang="en-US" dirty="0" err="1"/>
              <a:t>dấu</a:t>
            </a:r>
            <a:r>
              <a:rPr lang="en-US" dirty="0"/>
              <a:t> (D)</a:t>
            </a:r>
          </a:p>
          <a:p>
            <a:pPr lvl="1"/>
            <a:r>
              <a:rPr lang="en-US" dirty="0" err="1"/>
              <a:t>dấu</a:t>
            </a:r>
            <a:r>
              <a:rPr lang="en-US" dirty="0"/>
              <a:t> (Q) = </a:t>
            </a:r>
            <a:r>
              <a:rPr lang="en-US" dirty="0" err="1"/>
              <a:t>dấu</a:t>
            </a:r>
            <a:r>
              <a:rPr lang="en-US" dirty="0"/>
              <a:t> (D) </a:t>
            </a:r>
            <a:r>
              <a:rPr lang="en-US" dirty="0" smtClean="0"/>
              <a:t>× </a:t>
            </a:r>
            <a:r>
              <a:rPr lang="en-US" dirty="0" err="1"/>
              <a:t>dấu</a:t>
            </a:r>
            <a:r>
              <a:rPr lang="en-US" dirty="0"/>
              <a:t> (V)</a:t>
            </a:r>
          </a:p>
          <a:p>
            <a:pPr marL="0" indent="0">
              <a:buNone/>
            </a:pP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vậy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 chia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, </a:t>
            </a:r>
            <a:r>
              <a:rPr lang="en-US" sz="2800" dirty="0" err="1"/>
              <a:t>trước</a:t>
            </a:r>
            <a:r>
              <a:rPr lang="en-US" sz="2800" dirty="0"/>
              <a:t> </a:t>
            </a:r>
            <a:r>
              <a:rPr lang="en-US" sz="2800" dirty="0" err="1"/>
              <a:t>tiên</a:t>
            </a:r>
            <a:r>
              <a:rPr lang="en-US" sz="2800" dirty="0"/>
              <a:t> ta </a:t>
            </a:r>
            <a:r>
              <a:rPr lang="en-US" sz="2800" dirty="0" err="1"/>
              <a:t>chuyển</a:t>
            </a:r>
            <a:r>
              <a:rPr lang="en-US" sz="2800" dirty="0"/>
              <a:t> </a:t>
            </a:r>
            <a:r>
              <a:rPr lang="en-US" sz="2800" dirty="0" err="1"/>
              <a:t>tất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(</a:t>
            </a:r>
            <a:r>
              <a:rPr lang="en-US" sz="2800" dirty="0" err="1"/>
              <a:t>số</a:t>
            </a:r>
            <a:r>
              <a:rPr lang="en-US" sz="2800" dirty="0"/>
              <a:t> chia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chia)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dương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.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đó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 chia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. </a:t>
            </a:r>
            <a:r>
              <a:rPr lang="en-US" sz="2800" dirty="0" err="1"/>
              <a:t>Cuối</a:t>
            </a:r>
            <a:r>
              <a:rPr lang="en-US" sz="2800" dirty="0"/>
              <a:t> </a:t>
            </a:r>
            <a:r>
              <a:rPr lang="en-US" sz="2800" dirty="0" err="1"/>
              <a:t>cùng</a:t>
            </a:r>
            <a:r>
              <a:rPr lang="en-US" sz="2800" dirty="0"/>
              <a:t> </a:t>
            </a:r>
            <a:r>
              <a:rPr lang="en-US" sz="2800" dirty="0" err="1"/>
              <a:t>dựa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quy</a:t>
            </a:r>
            <a:r>
              <a:rPr lang="en-US" sz="2800" dirty="0"/>
              <a:t> </a:t>
            </a:r>
            <a:r>
              <a:rPr lang="en-US" sz="2800" dirty="0" err="1"/>
              <a:t>tắc</a:t>
            </a:r>
            <a:r>
              <a:rPr lang="en-US" sz="2800" dirty="0"/>
              <a:t> </a:t>
            </a:r>
            <a:r>
              <a:rPr lang="en-US" sz="2800" dirty="0" err="1"/>
              <a:t>xét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lấy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786049"/>
            <a:ext cx="1676400" cy="392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613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Biểu diễn số với dấu chấm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Để thuận tiện trong việc lưu trữ và so sánh giữa các số, số nhị phân sẽ được chuẩn hóa về dạng sau</a:t>
            </a:r>
            <a:r>
              <a:rPr lang="en-US" smtClean="0"/>
              <a:t>:</a:t>
            </a:r>
            <a:endParaRPr lang="en-US"/>
          </a:p>
          <a:p>
            <a:pPr marL="0" indent="0">
              <a:buNone/>
            </a:pPr>
            <a:r>
              <a:rPr lang="en-US"/>
              <a:t>Với </a:t>
            </a:r>
            <a:r>
              <a:rPr lang="en-US" i="1"/>
              <a:t>b</a:t>
            </a:r>
            <a:r>
              <a:rPr lang="en-US"/>
              <a:t> là số nhị phân (0 hoặc 1) và </a:t>
            </a:r>
            <a:r>
              <a:rPr lang="en-US" i="1"/>
              <a:t>E </a:t>
            </a:r>
            <a:r>
              <a:rPr lang="en-US"/>
              <a:t>là phần mũ. Như vậy để lưu trữ số với dấu chấm động ta cần lưu ba thành phần sau:</a:t>
            </a:r>
          </a:p>
          <a:p>
            <a:pPr lvl="1"/>
            <a:r>
              <a:rPr lang="en-US"/>
              <a:t>Phần dấu (dương hoặc âm)</a:t>
            </a:r>
          </a:p>
          <a:p>
            <a:pPr lvl="1"/>
            <a:r>
              <a:rPr lang="en-US"/>
              <a:t>Phần định trị</a:t>
            </a:r>
          </a:p>
          <a:p>
            <a:pPr lvl="1"/>
            <a:r>
              <a:rPr lang="en-US"/>
              <a:t>Phần mũ</a:t>
            </a:r>
          </a:p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590800"/>
            <a:ext cx="194368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427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Biểu diễn số với dấu chấm </a:t>
            </a:r>
            <a:r>
              <a:rPr lang="en-US" smtClean="0"/>
              <a:t>động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Độ chính xác đơn 32 bit được xác định như sau:</a:t>
            </a:r>
          </a:p>
          <a:p>
            <a:endParaRPr lang="en-US" smtClean="0"/>
          </a:p>
          <a:p>
            <a:pPr marL="0" indent="0">
              <a:buNone/>
            </a:pPr>
            <a:r>
              <a:rPr lang="en-US" smtClean="0"/>
              <a:t>Trong </a:t>
            </a:r>
            <a:r>
              <a:rPr lang="en-US"/>
              <a:t>đó:</a:t>
            </a:r>
            <a:endParaRPr lang="en-US" sz="1800"/>
          </a:p>
          <a:p>
            <a:pPr lvl="3"/>
            <a:r>
              <a:rPr lang="en-US"/>
              <a:t>Bit dấu (1 bit) bằng 0 biểu diễn số dương, bằng 1 biểu diễn số âm</a:t>
            </a:r>
            <a:endParaRPr lang="en-US" sz="1000"/>
          </a:p>
          <a:p>
            <a:pPr lvl="3"/>
            <a:r>
              <a:rPr lang="en-US"/>
              <a:t>8 bit tiếp theo biểu diễn phần mũ với giá trị của trường này bằng </a:t>
            </a:r>
            <a:endParaRPr lang="en-US" sz="1000"/>
          </a:p>
          <a:p>
            <a:pPr lvl="3"/>
            <a:r>
              <a:rPr lang="en-US"/>
              <a:t>23 bit còn lại thể hiện phần định trị</a:t>
            </a:r>
            <a:endParaRPr lang="en-US" sz="1000"/>
          </a:p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5" t="31857" r="42738" b="54036"/>
          <a:stretch>
            <a:fillRect/>
          </a:stretch>
        </p:blipFill>
        <p:spPr bwMode="auto">
          <a:xfrm>
            <a:off x="1752600" y="2316018"/>
            <a:ext cx="6073140" cy="909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481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Biểu diễn số với dấu chấm </a:t>
            </a:r>
            <a:r>
              <a:rPr lang="en-US" smtClean="0"/>
              <a:t>động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Độ chính xác kép 64 bit được xác định như sau:</a:t>
            </a:r>
            <a:endParaRPr lang="en-US" sz="1800"/>
          </a:p>
          <a:p>
            <a:endParaRPr lang="en-US" smtClean="0"/>
          </a:p>
          <a:p>
            <a:pPr marL="0" indent="0">
              <a:buNone/>
            </a:pPr>
            <a:r>
              <a:rPr lang="en-US" smtClean="0"/>
              <a:t>Trong </a:t>
            </a:r>
            <a:r>
              <a:rPr lang="en-US"/>
              <a:t>đó:</a:t>
            </a:r>
            <a:endParaRPr lang="en-US" sz="1800"/>
          </a:p>
          <a:p>
            <a:pPr lvl="3"/>
            <a:r>
              <a:rPr lang="en-US"/>
              <a:t>Bit dấu (1 bit) bằng 0 biểu diễn số dương, bằng 1 biểu diễn số âm</a:t>
            </a:r>
            <a:endParaRPr lang="en-US" sz="1000"/>
          </a:p>
          <a:p>
            <a:pPr lvl="3"/>
            <a:r>
              <a:rPr lang="en-US"/>
              <a:t>11 bit tiếp theo biểu diễn phần mũ với giá trị của trường này bằng </a:t>
            </a:r>
            <a:endParaRPr lang="en-US" sz="1000"/>
          </a:p>
          <a:p>
            <a:pPr lvl="3"/>
            <a:r>
              <a:rPr lang="en-US"/>
              <a:t>52 bit còn lại thể hiện phần định trị</a:t>
            </a:r>
            <a:endParaRPr lang="en-US" sz="1000"/>
          </a:p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8" t="53473" r="11983" b="32726"/>
          <a:stretch>
            <a:fillRect/>
          </a:stretch>
        </p:blipFill>
        <p:spPr bwMode="auto">
          <a:xfrm>
            <a:off x="1828800" y="2057400"/>
            <a:ext cx="6215063" cy="1135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793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Biểu diễn số với dấu chấm </a:t>
            </a:r>
            <a:r>
              <a:rPr lang="en-US" smtClean="0"/>
              <a:t>động (tt)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 </a:t>
            </a:r>
            <a:r>
              <a:rPr lang="en-US" sz="2800" dirty="0" err="1"/>
              <a:t>hãy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18.625 </a:t>
            </a:r>
            <a:r>
              <a:rPr lang="en-US" sz="2800" dirty="0" err="1"/>
              <a:t>dưới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en-US" sz="2800" dirty="0" err="1"/>
              <a:t>chuẩn</a:t>
            </a:r>
            <a:r>
              <a:rPr lang="en-US" sz="2800" dirty="0"/>
              <a:t> IEEE 754 </a:t>
            </a:r>
            <a:r>
              <a:rPr lang="en-US" sz="2800" dirty="0" err="1"/>
              <a:t>chính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đơn</a:t>
            </a:r>
            <a:r>
              <a:rPr lang="en-US" sz="2800" dirty="0"/>
              <a:t>?</a:t>
            </a:r>
          </a:p>
          <a:p>
            <a:pPr marL="0" lvl="0" indent="0">
              <a:buNone/>
            </a:pPr>
            <a:r>
              <a:rPr lang="en-US" sz="2800" dirty="0" err="1"/>
              <a:t>Bước</a:t>
            </a:r>
            <a:r>
              <a:rPr lang="en-US" sz="2800" dirty="0"/>
              <a:t> 1: </a:t>
            </a:r>
            <a:r>
              <a:rPr lang="en-US" sz="2800" dirty="0" err="1"/>
              <a:t>chuyển</a:t>
            </a:r>
            <a:r>
              <a:rPr lang="en-US" sz="2800" dirty="0"/>
              <a:t> 18.625 sang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nhị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10010.101</a:t>
            </a:r>
          </a:p>
          <a:p>
            <a:pPr marL="0" lvl="0" indent="0">
              <a:buNone/>
            </a:pPr>
            <a:r>
              <a:rPr lang="en-US" sz="2800" dirty="0" err="1"/>
              <a:t>Bước</a:t>
            </a:r>
            <a:r>
              <a:rPr lang="en-US" sz="2800" dirty="0"/>
              <a:t> 2: </a:t>
            </a:r>
            <a:r>
              <a:rPr lang="en-US" sz="2800" dirty="0" err="1"/>
              <a:t>chuẩn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1.0010101 x 2</a:t>
            </a:r>
            <a:r>
              <a:rPr lang="en-US" sz="2800" baseline="30000" dirty="0"/>
              <a:t>4</a:t>
            </a:r>
            <a:endParaRPr lang="en-US" sz="2800" dirty="0"/>
          </a:p>
          <a:p>
            <a:pPr marL="0" lvl="0" indent="0">
              <a:buNone/>
            </a:pPr>
            <a:r>
              <a:rPr lang="en-US" sz="2800" dirty="0" err="1"/>
              <a:t>Bước</a:t>
            </a:r>
            <a:r>
              <a:rPr lang="en-US" sz="2800" dirty="0"/>
              <a:t> 3: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11 bit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mũ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: 127 + 4 = 131 (10000011)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điền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từng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      0  10000011  </a:t>
            </a:r>
            <a:r>
              <a:rPr lang="en-US" sz="2800" dirty="0" smtClean="0"/>
              <a:t>0010101000000000…0</a:t>
            </a:r>
            <a:endParaRPr lang="en-US" sz="2800" dirty="0"/>
          </a:p>
        </p:txBody>
      </p:sp>
      <p:sp>
        <p:nvSpPr>
          <p:cNvPr id="5" name="Left Brace 4"/>
          <p:cNvSpPr/>
          <p:nvPr/>
        </p:nvSpPr>
        <p:spPr>
          <a:xfrm rot="16200000">
            <a:off x="1728470" y="5281930"/>
            <a:ext cx="118110" cy="2222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2668559" y="4777093"/>
            <a:ext cx="191317" cy="14330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Left Brace 7"/>
          <p:cNvSpPr/>
          <p:nvPr/>
        </p:nvSpPr>
        <p:spPr>
          <a:xfrm rot="16200000">
            <a:off x="5226527" y="3729197"/>
            <a:ext cx="255270" cy="34648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401444" y="5852160"/>
            <a:ext cx="600075" cy="25209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>
                <a:effectLst/>
                <a:latin typeface="Arial"/>
                <a:ea typeface="Calibri"/>
                <a:cs typeface="Times New Roman"/>
              </a:rPr>
              <a:t>bit dấu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791777" y="5887085"/>
            <a:ext cx="774065" cy="25209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>
                <a:effectLst/>
                <a:latin typeface="Arial"/>
                <a:ea typeface="Calibri"/>
                <a:cs typeface="Times New Roman"/>
              </a:rPr>
              <a:t>phần mũ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428922" y="6001153"/>
            <a:ext cx="950278" cy="25019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000">
                <a:effectLst/>
                <a:latin typeface="Arial"/>
                <a:ea typeface="Calibri"/>
                <a:cs typeface="Times New Roman"/>
              </a:rPr>
              <a:t>phần định trị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701482" y="5488132"/>
            <a:ext cx="95250" cy="262890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2854007" y="5589270"/>
            <a:ext cx="224790" cy="262890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8" idx="1"/>
          </p:cNvCxnSpPr>
          <p:nvPr/>
        </p:nvCxnSpPr>
        <p:spPr>
          <a:xfrm flipV="1">
            <a:off x="4904062" y="5589270"/>
            <a:ext cx="450100" cy="303530"/>
          </a:xfrm>
          <a:prstGeom prst="straightConnector1">
            <a:avLst/>
          </a:prstGeom>
          <a:ln w="952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50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2057</Words>
  <Application>Microsoft Office PowerPoint</Application>
  <PresentationFormat>On-screen Show (4:3)</PresentationFormat>
  <Paragraphs>181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KIẾN TRÚC MÁY TÍNH (2 tín chỉ)</vt:lpstr>
      <vt:lpstr>Chương 1: Đại cương</vt:lpstr>
      <vt:lpstr>Hiệu suất</vt:lpstr>
      <vt:lpstr>Hiệu suất (tt)</vt:lpstr>
      <vt:lpstr>Hiệu suất (tt)</vt:lpstr>
      <vt:lpstr>Đo đạc hiệu suất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Đo đạc hiệu suất (tt)</vt:lpstr>
      <vt:lpstr>Biểu diễn số nguyên</vt:lpstr>
      <vt:lpstr>Biểu diễn số nguyên có dấu</vt:lpstr>
      <vt:lpstr>Biểu diễn số nguyên có dấu (tt)</vt:lpstr>
      <vt:lpstr>Biểu diễn số nguyên có dấu (tt)</vt:lpstr>
      <vt:lpstr>Các phép tính trên số nguyên</vt:lpstr>
      <vt:lpstr>Các phép tính trên số nguyên (tt)</vt:lpstr>
      <vt:lpstr>Các phép tính trên số nguyên (tt)</vt:lpstr>
      <vt:lpstr>Các phép tính trên số nguyên (tt)</vt:lpstr>
      <vt:lpstr>Các phép tính trên số nguyên (tt)</vt:lpstr>
      <vt:lpstr>Các phép tính trên số nguyên (tt)</vt:lpstr>
      <vt:lpstr>Các phép tính trên số nguyên (tt)</vt:lpstr>
      <vt:lpstr>Biểu diễn số với dấu chấm động</vt:lpstr>
      <vt:lpstr>Biểu diễn số với dấu chấm động (tt)</vt:lpstr>
      <vt:lpstr>Biểu diễn số với dấu chấm động (tt)</vt:lpstr>
      <vt:lpstr>Biểu diễn số với dấu chấm động (tt)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Đại cương</dc:title>
  <dc:creator>guest_pc</dc:creator>
  <cp:lastModifiedBy>Guest_pc</cp:lastModifiedBy>
  <cp:revision>35</cp:revision>
  <dcterms:created xsi:type="dcterms:W3CDTF">2006-08-16T00:00:00Z</dcterms:created>
  <dcterms:modified xsi:type="dcterms:W3CDTF">2016-09-14T07:23:05Z</dcterms:modified>
</cp:coreProperties>
</file>