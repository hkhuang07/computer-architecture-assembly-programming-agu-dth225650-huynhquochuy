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103" d="100"/>
          <a:sy n="103" d="100"/>
        </p:scale>
        <p:origin x="-204" y="-9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10/26/2015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10/26/2015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10/26/2015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10/26/2015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10/26/2015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10/26/2015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10/26/2015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10/26/2015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10/26/2015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10/26/2015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10/26/2015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10/26/2015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533400" y="533400"/>
            <a:ext cx="7772400" cy="1470025"/>
          </a:xfrm>
        </p:spPr>
        <p:txBody>
          <a:bodyPr>
            <a:normAutofit fontScale="90000"/>
          </a:bodyPr>
          <a:lstStyle/>
          <a:p>
            <a:r>
              <a:rPr lang="vi-VN" dirty="0"/>
              <a:t>Chương 2</a:t>
            </a:r>
            <a:br>
              <a:rPr lang="vi-VN" dirty="0"/>
            </a:br>
            <a:r>
              <a:rPr lang="vi-VN" dirty="0"/>
              <a:t>TẬP LỆNH VI XỬ LÝ</a:t>
            </a:r>
            <a:br>
              <a:rPr lang="vi-VN" dirty="0"/>
            </a:br>
            <a:endParaRPr lang="en-US" dirty="0"/>
          </a:p>
        </p:txBody>
      </p:sp>
      <p:sp>
        <p:nvSpPr>
          <p:cNvPr id="3" name="Subtitle 2"/>
          <p:cNvSpPr>
            <a:spLocks noGrp="1"/>
          </p:cNvSpPr>
          <p:nvPr>
            <p:ph type="subTitle" idx="1"/>
          </p:nvPr>
        </p:nvSpPr>
        <p:spPr>
          <a:xfrm>
            <a:off x="1371600" y="2133600"/>
            <a:ext cx="6400800" cy="3505200"/>
          </a:xfrm>
        </p:spPr>
        <p:txBody>
          <a:bodyPr>
            <a:normAutofit lnSpcReduction="10000"/>
          </a:bodyPr>
          <a:lstStyle/>
          <a:p>
            <a:pPr marL="457200" indent="-457200" algn="l">
              <a:buFont typeface="Wingdings" panose="05000000000000000000" pitchFamily="2" charset="2"/>
              <a:buChar char="Ø"/>
            </a:pPr>
            <a:r>
              <a:rPr lang="vi-VN" dirty="0"/>
              <a:t>Giới thiệu</a:t>
            </a:r>
          </a:p>
          <a:p>
            <a:pPr algn="l"/>
            <a:r>
              <a:rPr lang="vi-VN" dirty="0"/>
              <a:t>Chương này sẽ giới thiệu về tập lệnh của vi xử lý, là ngôn ngữ mà máy có thể hiểu và thực hiện chương trình. Kiến trúc tập lệnh được tìm hiểu ở chương này tập trung vào kiến trúc vi xử lý MIPS.</a:t>
            </a:r>
          </a:p>
          <a:p>
            <a:pPr algn="l"/>
            <a:endParaRPr lang="en-US" dirty="0"/>
          </a:p>
        </p:txBody>
      </p:sp>
    </p:spTree>
    <p:extLst>
      <p:ext uri="{BB962C8B-B14F-4D97-AF65-F5344CB8AC3E}">
        <p14:creationId xmlns:p14="http://schemas.microsoft.com/office/powerpoint/2010/main" val="360688850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Toán</a:t>
            </a:r>
            <a:r>
              <a:rPr lang="en-US" dirty="0"/>
              <a:t> </a:t>
            </a:r>
            <a:r>
              <a:rPr lang="en-US" dirty="0" err="1"/>
              <a:t>tử</a:t>
            </a:r>
            <a:r>
              <a:rPr lang="en-US" dirty="0"/>
              <a:t> (operation)</a:t>
            </a:r>
          </a:p>
        </p:txBody>
      </p:sp>
      <p:sp>
        <p:nvSpPr>
          <p:cNvPr id="3" name="Content Placeholder 2"/>
          <p:cNvSpPr>
            <a:spLocks noGrp="1"/>
          </p:cNvSpPr>
          <p:nvPr>
            <p:ph idx="1"/>
          </p:nvPr>
        </p:nvSpPr>
        <p:spPr/>
        <p:txBody>
          <a:bodyPr>
            <a:normAutofit fontScale="92500" lnSpcReduction="20000"/>
          </a:bodyPr>
          <a:lstStyle/>
          <a:p>
            <a:r>
              <a:rPr lang="en-US" dirty="0" err="1"/>
              <a:t>xem</a:t>
            </a:r>
            <a:r>
              <a:rPr lang="en-US" dirty="0"/>
              <a:t> </a:t>
            </a:r>
            <a:r>
              <a:rPr lang="en-US" dirty="0" err="1"/>
              <a:t>biểu</a:t>
            </a:r>
            <a:r>
              <a:rPr lang="en-US" dirty="0"/>
              <a:t> </a:t>
            </a:r>
            <a:r>
              <a:rPr lang="en-US" dirty="0" err="1"/>
              <a:t>diễn</a:t>
            </a:r>
            <a:r>
              <a:rPr lang="en-US" dirty="0"/>
              <a:t> </a:t>
            </a:r>
            <a:r>
              <a:rPr lang="en-US" dirty="0" err="1"/>
              <a:t>của</a:t>
            </a:r>
            <a:r>
              <a:rPr lang="en-US" dirty="0"/>
              <a:t> </a:t>
            </a:r>
            <a:r>
              <a:rPr lang="en-US" dirty="0" err="1"/>
              <a:t>phép</a:t>
            </a:r>
            <a:r>
              <a:rPr lang="en-US" dirty="0"/>
              <a:t> </a:t>
            </a:r>
            <a:r>
              <a:rPr lang="en-US" dirty="0" err="1"/>
              <a:t>toán</a:t>
            </a:r>
            <a:r>
              <a:rPr lang="en-US" dirty="0"/>
              <a:t> </a:t>
            </a:r>
            <a:r>
              <a:rPr lang="en-US" dirty="0" err="1"/>
              <a:t>cộng</a:t>
            </a:r>
            <a:r>
              <a:rPr lang="en-US" dirty="0"/>
              <a:t> </a:t>
            </a:r>
            <a:r>
              <a:rPr lang="en-US" dirty="0" err="1"/>
              <a:t>hai</a:t>
            </a:r>
            <a:r>
              <a:rPr lang="en-US" dirty="0"/>
              <a:t> </a:t>
            </a:r>
            <a:r>
              <a:rPr lang="en-US" dirty="0" err="1"/>
              <a:t>số</a:t>
            </a:r>
            <a:r>
              <a:rPr lang="en-US" dirty="0"/>
              <a:t> </a:t>
            </a:r>
            <a:r>
              <a:rPr lang="en-US" dirty="0" err="1"/>
              <a:t>thể</a:t>
            </a:r>
            <a:r>
              <a:rPr lang="en-US" dirty="0"/>
              <a:t> </a:t>
            </a:r>
            <a:r>
              <a:rPr lang="en-US" dirty="0" err="1"/>
              <a:t>hiện</a:t>
            </a:r>
            <a:r>
              <a:rPr lang="en-US" dirty="0"/>
              <a:t> </a:t>
            </a:r>
            <a:r>
              <a:rPr lang="en-US" dirty="0" err="1"/>
              <a:t>trong</a:t>
            </a:r>
            <a:r>
              <a:rPr lang="en-US" dirty="0"/>
              <a:t> </a:t>
            </a:r>
            <a:r>
              <a:rPr lang="en-US" dirty="0" err="1"/>
              <a:t>kiến</a:t>
            </a:r>
            <a:r>
              <a:rPr lang="en-US" dirty="0"/>
              <a:t> </a:t>
            </a:r>
            <a:r>
              <a:rPr lang="en-US" dirty="0" err="1"/>
              <a:t>trúc</a:t>
            </a:r>
            <a:r>
              <a:rPr lang="en-US" dirty="0"/>
              <a:t> MIPS </a:t>
            </a:r>
            <a:r>
              <a:rPr lang="en-US" dirty="0" err="1"/>
              <a:t>như</a:t>
            </a:r>
            <a:r>
              <a:rPr lang="en-US" dirty="0"/>
              <a:t> </a:t>
            </a:r>
            <a:r>
              <a:rPr lang="en-US" dirty="0" err="1" smtClean="0"/>
              <a:t>sau</a:t>
            </a:r>
            <a:r>
              <a:rPr lang="en-US" dirty="0" smtClean="0"/>
              <a:t>:</a:t>
            </a:r>
            <a:br>
              <a:rPr lang="en-US" dirty="0" smtClean="0"/>
            </a:br>
            <a:r>
              <a:rPr lang="en-US" dirty="0" smtClean="0"/>
              <a:t>	add  </a:t>
            </a:r>
            <a:r>
              <a:rPr lang="en-US" dirty="0"/>
              <a:t>a, b, c</a:t>
            </a:r>
          </a:p>
          <a:p>
            <a:r>
              <a:rPr lang="en-US" dirty="0" err="1"/>
              <a:t>Một</a:t>
            </a:r>
            <a:r>
              <a:rPr lang="en-US" dirty="0"/>
              <a:t> </a:t>
            </a:r>
            <a:r>
              <a:rPr lang="en-US" dirty="0" err="1"/>
              <a:t>ví</a:t>
            </a:r>
            <a:r>
              <a:rPr lang="en-US" dirty="0"/>
              <a:t> </a:t>
            </a:r>
            <a:r>
              <a:rPr lang="en-US" dirty="0" err="1"/>
              <a:t>dụ</a:t>
            </a:r>
            <a:r>
              <a:rPr lang="en-US" dirty="0"/>
              <a:t> </a:t>
            </a:r>
            <a:r>
              <a:rPr lang="en-US" dirty="0" err="1"/>
              <a:t>khác</a:t>
            </a:r>
            <a:r>
              <a:rPr lang="en-US" dirty="0"/>
              <a:t>, </a:t>
            </a:r>
            <a:r>
              <a:rPr lang="en-US" dirty="0" err="1"/>
              <a:t>để</a:t>
            </a:r>
            <a:r>
              <a:rPr lang="en-US" dirty="0"/>
              <a:t> </a:t>
            </a:r>
            <a:r>
              <a:rPr lang="en-US" dirty="0" err="1"/>
              <a:t>tính</a:t>
            </a:r>
            <a:r>
              <a:rPr lang="en-US" dirty="0"/>
              <a:t> </a:t>
            </a:r>
            <a:r>
              <a:rPr lang="en-US" dirty="0" err="1"/>
              <a:t>tổng</a:t>
            </a:r>
            <a:r>
              <a:rPr lang="en-US" dirty="0"/>
              <a:t> </a:t>
            </a:r>
            <a:r>
              <a:rPr lang="en-US" dirty="0" err="1"/>
              <a:t>của</a:t>
            </a:r>
            <a:r>
              <a:rPr lang="en-US" dirty="0"/>
              <a:t> </a:t>
            </a:r>
            <a:r>
              <a:rPr lang="en-US" dirty="0" err="1"/>
              <a:t>bốn</a:t>
            </a:r>
            <a:r>
              <a:rPr lang="en-US" dirty="0"/>
              <a:t> </a:t>
            </a:r>
            <a:r>
              <a:rPr lang="en-US" dirty="0" err="1"/>
              <a:t>biến</a:t>
            </a:r>
            <a:r>
              <a:rPr lang="en-US" dirty="0"/>
              <a:t> b, c, d, e </a:t>
            </a:r>
            <a:r>
              <a:rPr lang="en-US" dirty="0" err="1"/>
              <a:t>và</a:t>
            </a:r>
            <a:r>
              <a:rPr lang="en-US" dirty="0"/>
              <a:t> </a:t>
            </a:r>
            <a:r>
              <a:rPr lang="en-US" dirty="0" err="1"/>
              <a:t>kết</a:t>
            </a:r>
            <a:r>
              <a:rPr lang="en-US" dirty="0"/>
              <a:t> </a:t>
            </a:r>
            <a:r>
              <a:rPr lang="en-US" dirty="0" err="1"/>
              <a:t>quả</a:t>
            </a:r>
            <a:r>
              <a:rPr lang="en-US" dirty="0"/>
              <a:t> </a:t>
            </a:r>
            <a:r>
              <a:rPr lang="en-US" dirty="0" err="1"/>
              <a:t>lưu</a:t>
            </a:r>
            <a:r>
              <a:rPr lang="en-US" dirty="0"/>
              <a:t> </a:t>
            </a:r>
            <a:r>
              <a:rPr lang="en-US" dirty="0" err="1"/>
              <a:t>vào</a:t>
            </a:r>
            <a:r>
              <a:rPr lang="en-US" dirty="0"/>
              <a:t> a. Ta </a:t>
            </a:r>
            <a:r>
              <a:rPr lang="en-US" dirty="0" err="1"/>
              <a:t>có</a:t>
            </a:r>
            <a:r>
              <a:rPr lang="en-US" dirty="0"/>
              <a:t> </a:t>
            </a:r>
            <a:r>
              <a:rPr lang="en-US" dirty="0" err="1"/>
              <a:t>chuỗi</a:t>
            </a:r>
            <a:r>
              <a:rPr lang="en-US" dirty="0"/>
              <a:t> </a:t>
            </a:r>
            <a:r>
              <a:rPr lang="en-US" dirty="0" err="1"/>
              <a:t>các</a:t>
            </a:r>
            <a:r>
              <a:rPr lang="en-US" dirty="0"/>
              <a:t> </a:t>
            </a:r>
            <a:r>
              <a:rPr lang="en-US" dirty="0" err="1"/>
              <a:t>lệnh</a:t>
            </a:r>
            <a:r>
              <a:rPr lang="en-US" dirty="0"/>
              <a:t> </a:t>
            </a:r>
            <a:r>
              <a:rPr lang="en-US" dirty="0" err="1"/>
              <a:t>để</a:t>
            </a:r>
            <a:r>
              <a:rPr lang="en-US" dirty="0"/>
              <a:t> </a:t>
            </a:r>
            <a:r>
              <a:rPr lang="en-US" dirty="0" err="1"/>
              <a:t>thực</a:t>
            </a:r>
            <a:r>
              <a:rPr lang="en-US" dirty="0"/>
              <a:t> </a:t>
            </a:r>
            <a:r>
              <a:rPr lang="en-US" dirty="0" err="1"/>
              <a:t>hiện</a:t>
            </a:r>
            <a:r>
              <a:rPr lang="en-US" dirty="0"/>
              <a:t> </a:t>
            </a:r>
            <a:r>
              <a:rPr lang="en-US" dirty="0" err="1"/>
              <a:t>như</a:t>
            </a:r>
            <a:r>
              <a:rPr lang="en-US" dirty="0"/>
              <a:t> </a:t>
            </a:r>
            <a:r>
              <a:rPr lang="en-US" dirty="0" err="1"/>
              <a:t>sau</a:t>
            </a:r>
            <a:r>
              <a:rPr lang="en-US" dirty="0"/>
              <a:t>:</a:t>
            </a:r>
          </a:p>
          <a:p>
            <a:pPr marL="682625" indent="0">
              <a:buNone/>
            </a:pPr>
            <a:r>
              <a:rPr lang="en-US" dirty="0"/>
              <a:t>add  a, b, c	# </a:t>
            </a:r>
            <a:r>
              <a:rPr lang="en-US" dirty="0" err="1"/>
              <a:t>tính</a:t>
            </a:r>
            <a:r>
              <a:rPr lang="en-US" dirty="0"/>
              <a:t> </a:t>
            </a:r>
            <a:r>
              <a:rPr lang="en-US" dirty="0" err="1"/>
              <a:t>tổng</a:t>
            </a:r>
            <a:r>
              <a:rPr lang="en-US" dirty="0"/>
              <a:t> b + c </a:t>
            </a:r>
            <a:r>
              <a:rPr lang="en-US" dirty="0" err="1"/>
              <a:t>và</a:t>
            </a:r>
            <a:r>
              <a:rPr lang="en-US" dirty="0"/>
              <a:t> </a:t>
            </a:r>
            <a:r>
              <a:rPr lang="en-US" dirty="0" err="1"/>
              <a:t>lưu</a:t>
            </a:r>
            <a:r>
              <a:rPr lang="en-US" dirty="0"/>
              <a:t> </a:t>
            </a:r>
            <a:r>
              <a:rPr lang="en-US" dirty="0" err="1"/>
              <a:t>vào</a:t>
            </a:r>
            <a:r>
              <a:rPr lang="en-US" dirty="0"/>
              <a:t> a</a:t>
            </a:r>
          </a:p>
          <a:p>
            <a:pPr marL="682625" indent="0">
              <a:buNone/>
            </a:pPr>
            <a:r>
              <a:rPr lang="en-US" dirty="0"/>
              <a:t>add  a, a, d	# </a:t>
            </a:r>
            <a:r>
              <a:rPr lang="en-US" dirty="0" err="1"/>
              <a:t>tính</a:t>
            </a:r>
            <a:r>
              <a:rPr lang="en-US" dirty="0"/>
              <a:t> </a:t>
            </a:r>
            <a:r>
              <a:rPr lang="en-US" dirty="0" err="1"/>
              <a:t>tổng</a:t>
            </a:r>
            <a:r>
              <a:rPr lang="en-US" dirty="0"/>
              <a:t> </a:t>
            </a:r>
            <a:r>
              <a:rPr lang="en-US" dirty="0" err="1"/>
              <a:t>của</a:t>
            </a:r>
            <a:r>
              <a:rPr lang="en-US" dirty="0"/>
              <a:t> </a:t>
            </a:r>
            <a:r>
              <a:rPr lang="en-US" dirty="0" err="1"/>
              <a:t>b+c+d</a:t>
            </a:r>
            <a:r>
              <a:rPr lang="en-US" dirty="0"/>
              <a:t> </a:t>
            </a:r>
            <a:r>
              <a:rPr lang="en-US" dirty="0" err="1"/>
              <a:t>và</a:t>
            </a:r>
            <a:r>
              <a:rPr lang="en-US" dirty="0"/>
              <a:t> </a:t>
            </a:r>
            <a:r>
              <a:rPr lang="en-US" dirty="0" err="1"/>
              <a:t>lưu</a:t>
            </a:r>
            <a:r>
              <a:rPr lang="en-US" dirty="0"/>
              <a:t> </a:t>
            </a:r>
            <a:r>
              <a:rPr lang="en-US" dirty="0" err="1"/>
              <a:t>vào</a:t>
            </a:r>
            <a:r>
              <a:rPr lang="en-US" dirty="0"/>
              <a:t> a</a:t>
            </a:r>
          </a:p>
          <a:p>
            <a:pPr marL="682625" indent="0">
              <a:buNone/>
            </a:pPr>
            <a:r>
              <a:rPr lang="en-US" dirty="0"/>
              <a:t>add  a, a, e	# </a:t>
            </a:r>
            <a:r>
              <a:rPr lang="en-US" dirty="0" err="1"/>
              <a:t>tính</a:t>
            </a:r>
            <a:r>
              <a:rPr lang="en-US" dirty="0"/>
              <a:t> </a:t>
            </a:r>
            <a:r>
              <a:rPr lang="en-US" dirty="0" err="1"/>
              <a:t>tổng</a:t>
            </a:r>
            <a:r>
              <a:rPr lang="en-US" dirty="0"/>
              <a:t> </a:t>
            </a:r>
            <a:r>
              <a:rPr lang="en-US" dirty="0" err="1"/>
              <a:t>của</a:t>
            </a:r>
            <a:r>
              <a:rPr lang="en-US" dirty="0"/>
              <a:t> </a:t>
            </a:r>
            <a:r>
              <a:rPr lang="en-US" dirty="0" err="1"/>
              <a:t>b+c+d+e</a:t>
            </a:r>
            <a:r>
              <a:rPr lang="en-US" dirty="0"/>
              <a:t> </a:t>
            </a:r>
            <a:r>
              <a:rPr lang="en-US" dirty="0" err="1"/>
              <a:t>và</a:t>
            </a:r>
            <a:r>
              <a:rPr lang="en-US" dirty="0"/>
              <a:t> </a:t>
            </a:r>
            <a:r>
              <a:rPr lang="en-US" dirty="0" err="1"/>
              <a:t>lưu</a:t>
            </a:r>
            <a:r>
              <a:rPr lang="en-US" dirty="0"/>
              <a:t> </a:t>
            </a:r>
            <a:r>
              <a:rPr lang="en-US" dirty="0" err="1"/>
              <a:t>vào</a:t>
            </a:r>
            <a:r>
              <a:rPr lang="en-US" dirty="0"/>
              <a:t> a</a:t>
            </a:r>
          </a:p>
          <a:p>
            <a:pPr>
              <a:buFont typeface="Wingdings" panose="05000000000000000000" pitchFamily="2" charset="2"/>
              <a:buChar char="Ø"/>
            </a:pPr>
            <a:endParaRPr lang="en-US" dirty="0"/>
          </a:p>
        </p:txBody>
      </p:sp>
    </p:spTree>
    <p:extLst>
      <p:ext uri="{BB962C8B-B14F-4D97-AF65-F5344CB8AC3E}">
        <p14:creationId xmlns:p14="http://schemas.microsoft.com/office/powerpoint/2010/main" val="325092179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Toán</a:t>
            </a:r>
            <a:r>
              <a:rPr lang="en-US" dirty="0"/>
              <a:t> </a:t>
            </a:r>
            <a:r>
              <a:rPr lang="en-US" dirty="0" err="1"/>
              <a:t>tử</a:t>
            </a:r>
            <a:r>
              <a:rPr lang="en-US" dirty="0"/>
              <a:t> (operation)</a:t>
            </a:r>
          </a:p>
        </p:txBody>
      </p:sp>
      <p:sp>
        <p:nvSpPr>
          <p:cNvPr id="3" name="Content Placeholder 2"/>
          <p:cNvSpPr>
            <a:spLocks noGrp="1"/>
          </p:cNvSpPr>
          <p:nvPr>
            <p:ph idx="1"/>
          </p:nvPr>
        </p:nvSpPr>
        <p:spPr/>
        <p:txBody>
          <a:bodyPr>
            <a:normAutofit/>
          </a:bodyPr>
          <a:lstStyle/>
          <a:p>
            <a:r>
              <a:rPr lang="en-US" dirty="0" err="1"/>
              <a:t>Các</a:t>
            </a:r>
            <a:r>
              <a:rPr lang="en-US" dirty="0"/>
              <a:t> </a:t>
            </a:r>
            <a:r>
              <a:rPr lang="en-US" dirty="0" err="1"/>
              <a:t>thanh</a:t>
            </a:r>
            <a:r>
              <a:rPr lang="en-US" dirty="0"/>
              <a:t> </a:t>
            </a:r>
            <a:r>
              <a:rPr lang="en-US" dirty="0" err="1"/>
              <a:t>ghi</a:t>
            </a:r>
            <a:r>
              <a:rPr lang="en-US" dirty="0"/>
              <a:t> </a:t>
            </a:r>
            <a:r>
              <a:rPr lang="en-US" dirty="0" err="1"/>
              <a:t>và</a:t>
            </a:r>
            <a:r>
              <a:rPr lang="en-US" dirty="0"/>
              <a:t> </a:t>
            </a:r>
            <a:r>
              <a:rPr lang="en-US" dirty="0" err="1"/>
              <a:t>địa</a:t>
            </a:r>
            <a:r>
              <a:rPr lang="en-US" dirty="0"/>
              <a:t> </a:t>
            </a:r>
            <a:r>
              <a:rPr lang="en-US" dirty="0" err="1"/>
              <a:t>chỉ</a:t>
            </a:r>
            <a:r>
              <a:rPr lang="en-US" dirty="0"/>
              <a:t> </a:t>
            </a:r>
            <a:r>
              <a:rPr lang="en-US" dirty="0" err="1"/>
              <a:t>bộ</a:t>
            </a:r>
            <a:r>
              <a:rPr lang="en-US" dirty="0"/>
              <a:t> </a:t>
            </a:r>
            <a:r>
              <a:rPr lang="en-US" dirty="0" err="1"/>
              <a:t>nhớ</a:t>
            </a:r>
            <a:r>
              <a:rPr lang="en-US" dirty="0"/>
              <a:t> </a:t>
            </a:r>
            <a:r>
              <a:rPr lang="en-US" dirty="0" err="1"/>
              <a:t>trong</a:t>
            </a:r>
            <a:r>
              <a:rPr lang="en-US" dirty="0"/>
              <a:t> MIPS</a:t>
            </a:r>
          </a:p>
          <a:p>
            <a:pPr marL="0" indent="0">
              <a:buNone/>
            </a:pPr>
            <a:endParaRPr lang="en-US" dirty="0"/>
          </a:p>
        </p:txBody>
      </p:sp>
      <p:pic>
        <p:nvPicPr>
          <p:cNvPr id="4" name="Picture 3"/>
          <p:cNvPicPr/>
          <p:nvPr/>
        </p:nvPicPr>
        <p:blipFill rotWithShape="1">
          <a:blip r:embed="rId2"/>
          <a:srcRect l="8774" t="38261" r="10566" b="36400"/>
          <a:stretch/>
        </p:blipFill>
        <p:spPr bwMode="auto">
          <a:xfrm>
            <a:off x="838200" y="2514600"/>
            <a:ext cx="7162800" cy="3570924"/>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114035089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Toán</a:t>
            </a:r>
            <a:r>
              <a:rPr lang="en-US" dirty="0"/>
              <a:t> </a:t>
            </a:r>
            <a:r>
              <a:rPr lang="en-US" dirty="0" err="1"/>
              <a:t>hạng</a:t>
            </a:r>
            <a:r>
              <a:rPr lang="en-US" dirty="0"/>
              <a:t> (operand)</a:t>
            </a:r>
          </a:p>
        </p:txBody>
      </p:sp>
      <p:sp>
        <p:nvSpPr>
          <p:cNvPr id="3" name="Content Placeholder 2"/>
          <p:cNvSpPr>
            <a:spLocks noGrp="1"/>
          </p:cNvSpPr>
          <p:nvPr>
            <p:ph idx="1"/>
          </p:nvPr>
        </p:nvSpPr>
        <p:spPr/>
        <p:txBody>
          <a:bodyPr>
            <a:normAutofit/>
          </a:bodyPr>
          <a:lstStyle/>
          <a:p>
            <a:r>
              <a:rPr lang="en-US" dirty="0" err="1"/>
              <a:t>Toán</a:t>
            </a:r>
            <a:r>
              <a:rPr lang="en-US" dirty="0"/>
              <a:t> </a:t>
            </a:r>
            <a:r>
              <a:rPr lang="en-US" dirty="0" err="1"/>
              <a:t>hạng</a:t>
            </a:r>
            <a:r>
              <a:rPr lang="en-US" dirty="0"/>
              <a:t> </a:t>
            </a:r>
            <a:r>
              <a:rPr lang="en-US" dirty="0" err="1"/>
              <a:t>thanh</a:t>
            </a:r>
            <a:r>
              <a:rPr lang="en-US" dirty="0"/>
              <a:t> </a:t>
            </a:r>
            <a:r>
              <a:rPr lang="en-US" dirty="0" err="1"/>
              <a:t>ghi</a:t>
            </a:r>
            <a:endParaRPr lang="en-US" dirty="0"/>
          </a:p>
          <a:p>
            <a:pPr marL="0" indent="0">
              <a:buNone/>
            </a:pPr>
            <a:r>
              <a:rPr lang="en-US" dirty="0" err="1"/>
              <a:t>Ví</a:t>
            </a:r>
            <a:r>
              <a:rPr lang="en-US" dirty="0"/>
              <a:t> </a:t>
            </a:r>
            <a:r>
              <a:rPr lang="en-US" dirty="0" err="1"/>
              <a:t>dụ</a:t>
            </a:r>
            <a:r>
              <a:rPr lang="en-US" dirty="0"/>
              <a:t>: </a:t>
            </a:r>
            <a:r>
              <a:rPr lang="en-US" dirty="0" err="1"/>
              <a:t>viết</a:t>
            </a:r>
            <a:r>
              <a:rPr lang="en-US" dirty="0"/>
              <a:t> </a:t>
            </a:r>
            <a:r>
              <a:rPr lang="en-US" dirty="0" err="1"/>
              <a:t>các</a:t>
            </a:r>
            <a:r>
              <a:rPr lang="en-US" dirty="0"/>
              <a:t> </a:t>
            </a:r>
            <a:r>
              <a:rPr lang="en-US" dirty="0" err="1"/>
              <a:t>lệnh</a:t>
            </a:r>
            <a:r>
              <a:rPr lang="en-US" dirty="0"/>
              <a:t> MIPS </a:t>
            </a:r>
            <a:r>
              <a:rPr lang="en-US" dirty="0" err="1"/>
              <a:t>thể</a:t>
            </a:r>
            <a:r>
              <a:rPr lang="en-US" dirty="0"/>
              <a:t> </a:t>
            </a:r>
            <a:r>
              <a:rPr lang="en-US" dirty="0" err="1"/>
              <a:t>hiện</a:t>
            </a:r>
            <a:r>
              <a:rPr lang="en-US" dirty="0"/>
              <a:t> </a:t>
            </a:r>
            <a:r>
              <a:rPr lang="en-US" dirty="0" err="1"/>
              <a:t>câu</a:t>
            </a:r>
            <a:r>
              <a:rPr lang="en-US" dirty="0"/>
              <a:t> </a:t>
            </a:r>
            <a:r>
              <a:rPr lang="en-US" dirty="0" err="1"/>
              <a:t>lệnh</a:t>
            </a:r>
            <a:r>
              <a:rPr lang="en-US" dirty="0"/>
              <a:t> </a:t>
            </a:r>
            <a:r>
              <a:rPr lang="en-US" dirty="0" err="1"/>
              <a:t>sau</a:t>
            </a:r>
            <a:endParaRPr lang="en-US" dirty="0"/>
          </a:p>
          <a:p>
            <a:pPr marL="0" indent="0">
              <a:buNone/>
            </a:pPr>
            <a:r>
              <a:rPr lang="en-US" dirty="0"/>
              <a:t>f = (g + h) – (</a:t>
            </a:r>
            <a:r>
              <a:rPr lang="en-US" dirty="0" err="1"/>
              <a:t>i</a:t>
            </a:r>
            <a:r>
              <a:rPr lang="en-US" dirty="0"/>
              <a:t> + j</a:t>
            </a:r>
            <a:r>
              <a:rPr lang="en-US" dirty="0" smtClean="0"/>
              <a:t>)</a:t>
            </a:r>
          </a:p>
          <a:p>
            <a:pPr marL="0" indent="0">
              <a:buNone/>
            </a:pPr>
            <a:r>
              <a:rPr lang="en-US" dirty="0" err="1" smtClean="0"/>
              <a:t>Các</a:t>
            </a:r>
            <a:r>
              <a:rPr lang="en-US" dirty="0" smtClean="0"/>
              <a:t> </a:t>
            </a:r>
            <a:r>
              <a:rPr lang="en-US" dirty="0" err="1" smtClean="0"/>
              <a:t>lệnh</a:t>
            </a:r>
            <a:r>
              <a:rPr lang="en-US" dirty="0" smtClean="0"/>
              <a:t> </a:t>
            </a:r>
            <a:r>
              <a:rPr lang="en-US" dirty="0" err="1" smtClean="0"/>
              <a:t>hợp</a:t>
            </a:r>
            <a:r>
              <a:rPr lang="en-US" dirty="0" smtClean="0"/>
              <a:t> </a:t>
            </a:r>
            <a:r>
              <a:rPr lang="en-US" dirty="0" err="1" smtClean="0"/>
              <a:t>ngữ</a:t>
            </a:r>
            <a:r>
              <a:rPr lang="en-US" dirty="0" smtClean="0"/>
              <a:t> </a:t>
            </a:r>
            <a:r>
              <a:rPr lang="en-US" dirty="0" err="1" smtClean="0"/>
              <a:t>tương</a:t>
            </a:r>
            <a:r>
              <a:rPr lang="en-US" dirty="0" smtClean="0"/>
              <a:t> </a:t>
            </a:r>
            <a:r>
              <a:rPr lang="en-US" dirty="0" err="1" smtClean="0"/>
              <a:t>ứng</a:t>
            </a:r>
            <a:r>
              <a:rPr lang="en-US" dirty="0" smtClean="0"/>
              <a:t>:</a:t>
            </a:r>
          </a:p>
          <a:p>
            <a:pPr marL="0" indent="0">
              <a:buNone/>
            </a:pPr>
            <a:r>
              <a:rPr lang="en-US" dirty="0" smtClean="0"/>
              <a:t>add  </a:t>
            </a:r>
            <a:r>
              <a:rPr lang="en-US" dirty="0"/>
              <a:t>$t0, $s1, $s2</a:t>
            </a:r>
          </a:p>
          <a:p>
            <a:pPr marL="0" indent="0">
              <a:buNone/>
            </a:pPr>
            <a:r>
              <a:rPr lang="en-US" dirty="0"/>
              <a:t>add  $t1, $s3, $s4</a:t>
            </a:r>
          </a:p>
          <a:p>
            <a:pPr marL="0" indent="0">
              <a:buNone/>
            </a:pPr>
            <a:r>
              <a:rPr lang="en-US" dirty="0"/>
              <a:t>sub  $s0, $t0, </a:t>
            </a:r>
            <a:r>
              <a:rPr lang="en-US"/>
              <a:t>$</a:t>
            </a:r>
            <a:r>
              <a:rPr lang="en-US" smtClean="0"/>
              <a:t>t1</a:t>
            </a:r>
            <a:endParaRPr lang="en-US" dirty="0"/>
          </a:p>
        </p:txBody>
      </p:sp>
    </p:spTree>
    <p:extLst>
      <p:ext uri="{BB962C8B-B14F-4D97-AF65-F5344CB8AC3E}">
        <p14:creationId xmlns:p14="http://schemas.microsoft.com/office/powerpoint/2010/main" val="243350767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Toán</a:t>
            </a:r>
            <a:r>
              <a:rPr lang="en-US" dirty="0"/>
              <a:t> </a:t>
            </a:r>
            <a:r>
              <a:rPr lang="en-US" dirty="0" err="1"/>
              <a:t>hạng</a:t>
            </a:r>
            <a:r>
              <a:rPr lang="en-US" dirty="0"/>
              <a:t> (operand)</a:t>
            </a:r>
          </a:p>
        </p:txBody>
      </p:sp>
      <p:sp>
        <p:nvSpPr>
          <p:cNvPr id="3" name="Content Placeholder 2"/>
          <p:cNvSpPr>
            <a:spLocks noGrp="1"/>
          </p:cNvSpPr>
          <p:nvPr>
            <p:ph idx="1"/>
          </p:nvPr>
        </p:nvSpPr>
        <p:spPr/>
        <p:txBody>
          <a:bodyPr>
            <a:normAutofit/>
          </a:bodyPr>
          <a:lstStyle/>
          <a:p>
            <a:r>
              <a:rPr lang="en-US" dirty="0" err="1"/>
              <a:t>Toán</a:t>
            </a:r>
            <a:r>
              <a:rPr lang="en-US" dirty="0"/>
              <a:t> </a:t>
            </a:r>
            <a:r>
              <a:rPr lang="en-US" dirty="0" err="1"/>
              <a:t>hạng</a:t>
            </a:r>
            <a:r>
              <a:rPr lang="en-US" dirty="0"/>
              <a:t> </a:t>
            </a:r>
            <a:r>
              <a:rPr lang="en-US" dirty="0" err="1"/>
              <a:t>bộ</a:t>
            </a:r>
            <a:r>
              <a:rPr lang="en-US" dirty="0"/>
              <a:t> </a:t>
            </a:r>
            <a:r>
              <a:rPr lang="en-US" dirty="0" err="1" smtClean="0"/>
              <a:t>nhớ</a:t>
            </a:r>
            <a:endParaRPr lang="en-US" dirty="0" smtClean="0"/>
          </a:p>
          <a:p>
            <a:pPr marL="0" indent="0">
              <a:buNone/>
            </a:pPr>
            <a:r>
              <a:rPr lang="en-US" dirty="0" err="1" smtClean="0"/>
              <a:t>Ví</a:t>
            </a:r>
            <a:r>
              <a:rPr lang="en-US" dirty="0" smtClean="0"/>
              <a:t> </a:t>
            </a:r>
            <a:r>
              <a:rPr lang="en-US" dirty="0" err="1" smtClean="0"/>
              <a:t>dụ</a:t>
            </a:r>
            <a:r>
              <a:rPr lang="en-US" dirty="0" smtClean="0"/>
              <a:t>: Ta </a:t>
            </a:r>
            <a:r>
              <a:rPr lang="en-US" dirty="0" err="1"/>
              <a:t>cần</a:t>
            </a:r>
            <a:r>
              <a:rPr lang="en-US" dirty="0"/>
              <a:t> </a:t>
            </a:r>
            <a:r>
              <a:rPr lang="en-US" dirty="0" err="1"/>
              <a:t>thực</a:t>
            </a:r>
            <a:r>
              <a:rPr lang="en-US" dirty="0"/>
              <a:t> </a:t>
            </a:r>
            <a:r>
              <a:rPr lang="en-US" dirty="0" err="1"/>
              <a:t>hiện</a:t>
            </a:r>
            <a:r>
              <a:rPr lang="en-US" dirty="0"/>
              <a:t> </a:t>
            </a:r>
            <a:r>
              <a:rPr lang="en-US" dirty="0" err="1"/>
              <a:t>phép</a:t>
            </a:r>
            <a:r>
              <a:rPr lang="en-US" dirty="0"/>
              <a:t> </a:t>
            </a:r>
            <a:r>
              <a:rPr lang="en-US" dirty="0" err="1"/>
              <a:t>gán</a:t>
            </a:r>
            <a:r>
              <a:rPr lang="en-US" dirty="0"/>
              <a:t> </a:t>
            </a:r>
            <a:r>
              <a:rPr lang="en-US" dirty="0" err="1"/>
              <a:t>sau</a:t>
            </a:r>
            <a:r>
              <a:rPr lang="en-US" dirty="0"/>
              <a:t>:</a:t>
            </a:r>
            <a:br>
              <a:rPr lang="en-US" dirty="0"/>
            </a:br>
            <a:r>
              <a:rPr lang="en-US" dirty="0"/>
              <a:t>g = h + A[8]</a:t>
            </a:r>
            <a:br>
              <a:rPr lang="en-US" dirty="0"/>
            </a:br>
            <a:r>
              <a:rPr lang="en-US" dirty="0" err="1" smtClean="0"/>
              <a:t>Các</a:t>
            </a:r>
            <a:r>
              <a:rPr lang="en-US" dirty="0" smtClean="0"/>
              <a:t> </a:t>
            </a:r>
            <a:r>
              <a:rPr lang="en-US" dirty="0" err="1" smtClean="0"/>
              <a:t>lệnh</a:t>
            </a:r>
            <a:r>
              <a:rPr lang="en-US" dirty="0" smtClean="0"/>
              <a:t> </a:t>
            </a:r>
            <a:r>
              <a:rPr lang="en-US" dirty="0" err="1" smtClean="0"/>
              <a:t>hợp</a:t>
            </a:r>
            <a:r>
              <a:rPr lang="en-US" dirty="0" smtClean="0"/>
              <a:t> </a:t>
            </a:r>
            <a:r>
              <a:rPr lang="en-US" dirty="0" err="1" smtClean="0"/>
              <a:t>ngữ</a:t>
            </a:r>
            <a:r>
              <a:rPr lang="en-US" dirty="0" smtClean="0"/>
              <a:t> </a:t>
            </a:r>
            <a:r>
              <a:rPr lang="en-US" dirty="0" err="1" smtClean="0"/>
              <a:t>tương</a:t>
            </a:r>
            <a:r>
              <a:rPr lang="en-US" dirty="0" smtClean="0"/>
              <a:t> </a:t>
            </a:r>
            <a:r>
              <a:rPr lang="en-US" dirty="0" err="1" smtClean="0"/>
              <a:t>ứng</a:t>
            </a:r>
            <a:r>
              <a:rPr lang="en-US" dirty="0" smtClean="0"/>
              <a:t>:</a:t>
            </a:r>
          </a:p>
          <a:p>
            <a:pPr marL="0" indent="0">
              <a:buNone/>
            </a:pPr>
            <a:r>
              <a:rPr lang="en-US" i="1" dirty="0" err="1"/>
              <a:t>lw</a:t>
            </a:r>
            <a:r>
              <a:rPr lang="en-US" i="1" dirty="0"/>
              <a:t>  $t0, 32($s3)</a:t>
            </a:r>
            <a:r>
              <a:rPr lang="en-US" dirty="0"/>
              <a:t>	</a:t>
            </a:r>
            <a:r>
              <a:rPr lang="en-US" dirty="0" smtClean="0"/>
              <a:t># </a:t>
            </a:r>
            <a:r>
              <a:rPr lang="en-US" dirty="0" err="1"/>
              <a:t>gán</a:t>
            </a:r>
            <a:r>
              <a:rPr lang="en-US" dirty="0"/>
              <a:t> </a:t>
            </a:r>
            <a:r>
              <a:rPr lang="en-US" dirty="0" err="1"/>
              <a:t>giá</a:t>
            </a:r>
            <a:r>
              <a:rPr lang="en-US" dirty="0"/>
              <a:t> </a:t>
            </a:r>
            <a:r>
              <a:rPr lang="en-US" dirty="0" err="1"/>
              <a:t>trị</a:t>
            </a:r>
            <a:r>
              <a:rPr lang="en-US" dirty="0"/>
              <a:t> A[8] </a:t>
            </a:r>
            <a:r>
              <a:rPr lang="en-US" dirty="0" err="1"/>
              <a:t>vào</a:t>
            </a:r>
            <a:r>
              <a:rPr lang="en-US" dirty="0"/>
              <a:t> </a:t>
            </a:r>
            <a:r>
              <a:rPr lang="en-US" dirty="0" smtClean="0"/>
              <a:t>$t0</a:t>
            </a:r>
          </a:p>
          <a:p>
            <a:pPr marL="0" indent="0">
              <a:buNone/>
            </a:pPr>
            <a:r>
              <a:rPr lang="en-US" i="1" dirty="0"/>
              <a:t>add  $s1</a:t>
            </a:r>
            <a:r>
              <a:rPr lang="en-US" i="1" dirty="0" smtClean="0"/>
              <a:t>,$s2</a:t>
            </a:r>
            <a:r>
              <a:rPr lang="en-US" i="1" dirty="0"/>
              <a:t>,$t0		</a:t>
            </a:r>
            <a:r>
              <a:rPr lang="en-US" dirty="0"/>
              <a:t># g = h + A[8]</a:t>
            </a:r>
          </a:p>
          <a:p>
            <a:pPr marL="0" indent="0">
              <a:buNone/>
            </a:pPr>
            <a:endParaRPr lang="en-US" dirty="0"/>
          </a:p>
        </p:txBody>
      </p:sp>
    </p:spTree>
    <p:extLst>
      <p:ext uri="{BB962C8B-B14F-4D97-AF65-F5344CB8AC3E}">
        <p14:creationId xmlns:p14="http://schemas.microsoft.com/office/powerpoint/2010/main" val="346986958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Toán</a:t>
            </a:r>
            <a:r>
              <a:rPr lang="en-US" dirty="0"/>
              <a:t> </a:t>
            </a:r>
            <a:r>
              <a:rPr lang="en-US" dirty="0" err="1"/>
              <a:t>hạng</a:t>
            </a:r>
            <a:r>
              <a:rPr lang="en-US" dirty="0"/>
              <a:t> (operand)</a:t>
            </a:r>
          </a:p>
        </p:txBody>
      </p:sp>
      <p:sp>
        <p:nvSpPr>
          <p:cNvPr id="3" name="Content Placeholder 2"/>
          <p:cNvSpPr>
            <a:spLocks noGrp="1"/>
          </p:cNvSpPr>
          <p:nvPr>
            <p:ph idx="1"/>
          </p:nvPr>
        </p:nvSpPr>
        <p:spPr/>
        <p:txBody>
          <a:bodyPr>
            <a:normAutofit/>
          </a:bodyPr>
          <a:lstStyle/>
          <a:p>
            <a:r>
              <a:rPr lang="en-US" dirty="0" err="1"/>
              <a:t>Toán</a:t>
            </a:r>
            <a:r>
              <a:rPr lang="en-US" dirty="0"/>
              <a:t> </a:t>
            </a:r>
            <a:r>
              <a:rPr lang="en-US" dirty="0" err="1"/>
              <a:t>hạng</a:t>
            </a:r>
            <a:r>
              <a:rPr lang="en-US" dirty="0"/>
              <a:t> </a:t>
            </a:r>
            <a:r>
              <a:rPr lang="en-US" dirty="0" err="1"/>
              <a:t>trực</a:t>
            </a:r>
            <a:r>
              <a:rPr lang="en-US" dirty="0"/>
              <a:t> </a:t>
            </a:r>
            <a:r>
              <a:rPr lang="en-US" dirty="0" err="1"/>
              <a:t>tiếp</a:t>
            </a:r>
            <a:r>
              <a:rPr lang="en-US" dirty="0"/>
              <a:t> (</a:t>
            </a:r>
            <a:r>
              <a:rPr lang="en-US" i="1" dirty="0"/>
              <a:t>immediate operand</a:t>
            </a:r>
            <a:r>
              <a:rPr lang="en-US" dirty="0" smtClean="0"/>
              <a:t>)</a:t>
            </a:r>
          </a:p>
          <a:p>
            <a:pPr marL="0" indent="0">
              <a:buNone/>
            </a:pPr>
            <a:r>
              <a:rPr lang="en-US" dirty="0" err="1" smtClean="0"/>
              <a:t>Ví</a:t>
            </a:r>
            <a:r>
              <a:rPr lang="en-US" dirty="0" smtClean="0"/>
              <a:t> </a:t>
            </a:r>
            <a:r>
              <a:rPr lang="en-US" dirty="0" err="1"/>
              <a:t>dụ</a:t>
            </a:r>
            <a:r>
              <a:rPr lang="en-US" dirty="0"/>
              <a:t> </a:t>
            </a:r>
            <a:r>
              <a:rPr lang="en-US" dirty="0" err="1"/>
              <a:t>như</a:t>
            </a:r>
            <a:r>
              <a:rPr lang="en-US" dirty="0"/>
              <a:t> </a:t>
            </a:r>
            <a:r>
              <a:rPr lang="en-US" dirty="0" err="1"/>
              <a:t>khi</a:t>
            </a:r>
            <a:r>
              <a:rPr lang="en-US" dirty="0"/>
              <a:t> </a:t>
            </a:r>
            <a:r>
              <a:rPr lang="en-US" dirty="0" err="1"/>
              <a:t>thực</a:t>
            </a:r>
            <a:r>
              <a:rPr lang="en-US" dirty="0"/>
              <a:t> </a:t>
            </a:r>
            <a:r>
              <a:rPr lang="en-US" dirty="0" err="1"/>
              <a:t>hiện</a:t>
            </a:r>
            <a:r>
              <a:rPr lang="en-US" dirty="0"/>
              <a:t> </a:t>
            </a:r>
            <a:r>
              <a:rPr lang="en-US" dirty="0" err="1"/>
              <a:t>phép</a:t>
            </a:r>
            <a:r>
              <a:rPr lang="en-US" dirty="0"/>
              <a:t> </a:t>
            </a:r>
            <a:r>
              <a:rPr lang="en-US" dirty="0" err="1"/>
              <a:t>cộng</a:t>
            </a:r>
            <a:r>
              <a:rPr lang="en-US" dirty="0"/>
              <a:t> </a:t>
            </a:r>
            <a:r>
              <a:rPr lang="en-US" dirty="0" err="1"/>
              <a:t>với</a:t>
            </a:r>
            <a:r>
              <a:rPr lang="en-US" dirty="0"/>
              <a:t> </a:t>
            </a:r>
            <a:r>
              <a:rPr lang="en-US" dirty="0" err="1"/>
              <a:t>một</a:t>
            </a:r>
            <a:r>
              <a:rPr lang="en-US" dirty="0"/>
              <a:t> </a:t>
            </a:r>
            <a:r>
              <a:rPr lang="en-US" dirty="0" err="1"/>
              <a:t>hằng</a:t>
            </a:r>
            <a:r>
              <a:rPr lang="en-US" dirty="0"/>
              <a:t> </a:t>
            </a:r>
            <a:r>
              <a:rPr lang="en-US" dirty="0" err="1"/>
              <a:t>số</a:t>
            </a:r>
            <a:r>
              <a:rPr lang="en-US" dirty="0"/>
              <a:t> ta </a:t>
            </a:r>
            <a:r>
              <a:rPr lang="en-US" dirty="0" err="1"/>
              <a:t>sử</a:t>
            </a:r>
            <a:r>
              <a:rPr lang="en-US" dirty="0"/>
              <a:t> </a:t>
            </a:r>
            <a:r>
              <a:rPr lang="en-US" dirty="0" err="1"/>
              <a:t>dụng</a:t>
            </a:r>
            <a:r>
              <a:rPr lang="en-US" dirty="0"/>
              <a:t> </a:t>
            </a:r>
            <a:r>
              <a:rPr lang="en-US" dirty="0" err="1"/>
              <a:t>lệnh</a:t>
            </a:r>
            <a:r>
              <a:rPr lang="en-US" dirty="0"/>
              <a:t> </a:t>
            </a:r>
            <a:r>
              <a:rPr lang="en-US" i="1" dirty="0" err="1"/>
              <a:t>addi</a:t>
            </a:r>
            <a:r>
              <a:rPr lang="en-US" dirty="0"/>
              <a:t> (</a:t>
            </a:r>
            <a:r>
              <a:rPr lang="en-US" i="1" dirty="0"/>
              <a:t>add immediate</a:t>
            </a:r>
            <a:r>
              <a:rPr lang="en-US" dirty="0"/>
              <a:t>)</a:t>
            </a:r>
          </a:p>
          <a:p>
            <a:pPr marL="0" indent="0">
              <a:buNone/>
            </a:pPr>
            <a:r>
              <a:rPr lang="en-US" i="1" dirty="0" err="1"/>
              <a:t>addi</a:t>
            </a:r>
            <a:r>
              <a:rPr lang="en-US" i="1" dirty="0"/>
              <a:t>  $s3, $s3, 4		</a:t>
            </a:r>
            <a:r>
              <a:rPr lang="en-US" dirty="0"/>
              <a:t>#  $s3 = $s3 + 4</a:t>
            </a:r>
          </a:p>
          <a:p>
            <a:pPr marL="0" indent="0">
              <a:buNone/>
            </a:pPr>
            <a:endParaRPr lang="en-US" dirty="0"/>
          </a:p>
        </p:txBody>
      </p:sp>
    </p:spTree>
    <p:extLst>
      <p:ext uri="{BB962C8B-B14F-4D97-AF65-F5344CB8AC3E}">
        <p14:creationId xmlns:p14="http://schemas.microsoft.com/office/powerpoint/2010/main" val="18308373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Toán</a:t>
            </a:r>
            <a:r>
              <a:rPr lang="en-US" dirty="0"/>
              <a:t> </a:t>
            </a:r>
            <a:r>
              <a:rPr lang="en-US" dirty="0" err="1"/>
              <a:t>hạng</a:t>
            </a:r>
            <a:r>
              <a:rPr lang="en-US" dirty="0"/>
              <a:t> (operand)</a:t>
            </a:r>
          </a:p>
        </p:txBody>
      </p:sp>
      <p:sp>
        <p:nvSpPr>
          <p:cNvPr id="3" name="Content Placeholder 2"/>
          <p:cNvSpPr>
            <a:spLocks noGrp="1"/>
          </p:cNvSpPr>
          <p:nvPr>
            <p:ph idx="1"/>
          </p:nvPr>
        </p:nvSpPr>
        <p:spPr>
          <a:xfrm>
            <a:off x="304800" y="1371600"/>
            <a:ext cx="8686800" cy="5181600"/>
          </a:xfrm>
        </p:spPr>
        <p:txBody>
          <a:bodyPr>
            <a:normAutofit fontScale="85000" lnSpcReduction="10000"/>
          </a:bodyPr>
          <a:lstStyle/>
          <a:p>
            <a:pPr lvl="0"/>
            <a:r>
              <a:rPr lang="en-US" dirty="0" err="1"/>
              <a:t>Lệnh</a:t>
            </a:r>
            <a:r>
              <a:rPr lang="en-US" dirty="0"/>
              <a:t> </a:t>
            </a:r>
            <a:r>
              <a:rPr lang="en-US" dirty="0" err="1"/>
              <a:t>lui</a:t>
            </a:r>
            <a:r>
              <a:rPr lang="en-US" dirty="0"/>
              <a:t>: </a:t>
            </a:r>
            <a:r>
              <a:rPr lang="en-US" dirty="0" err="1"/>
              <a:t>toán</a:t>
            </a:r>
            <a:r>
              <a:rPr lang="en-US" dirty="0"/>
              <a:t> </a:t>
            </a:r>
            <a:r>
              <a:rPr lang="en-US" dirty="0" err="1"/>
              <a:t>hạng</a:t>
            </a:r>
            <a:r>
              <a:rPr lang="en-US" dirty="0"/>
              <a:t> </a:t>
            </a:r>
            <a:r>
              <a:rPr lang="en-US" dirty="0" err="1"/>
              <a:t>hằng</a:t>
            </a:r>
            <a:r>
              <a:rPr lang="en-US" dirty="0"/>
              <a:t> </a:t>
            </a:r>
            <a:r>
              <a:rPr lang="en-US" dirty="0" err="1"/>
              <a:t>chỉ</a:t>
            </a:r>
            <a:r>
              <a:rPr lang="en-US" dirty="0"/>
              <a:t> </a:t>
            </a:r>
            <a:r>
              <a:rPr lang="en-US" dirty="0" err="1"/>
              <a:t>có</a:t>
            </a:r>
            <a:r>
              <a:rPr lang="en-US" dirty="0"/>
              <a:t> </a:t>
            </a:r>
            <a:r>
              <a:rPr lang="en-US" dirty="0" err="1"/>
              <a:t>độ</a:t>
            </a:r>
            <a:r>
              <a:rPr lang="en-US" dirty="0"/>
              <a:t> </a:t>
            </a:r>
            <a:r>
              <a:rPr lang="en-US" dirty="0" err="1"/>
              <a:t>lớn</a:t>
            </a:r>
            <a:r>
              <a:rPr lang="en-US" dirty="0"/>
              <a:t> 16 bit. Do </a:t>
            </a:r>
            <a:r>
              <a:rPr lang="en-US" dirty="0" err="1"/>
              <a:t>đó</a:t>
            </a:r>
            <a:r>
              <a:rPr lang="en-US" dirty="0"/>
              <a:t>, </a:t>
            </a:r>
            <a:r>
              <a:rPr lang="en-US" dirty="0" err="1"/>
              <a:t>để</a:t>
            </a:r>
            <a:r>
              <a:rPr lang="en-US" dirty="0"/>
              <a:t> </a:t>
            </a:r>
            <a:r>
              <a:rPr lang="en-US" dirty="0" err="1"/>
              <a:t>sử</a:t>
            </a:r>
            <a:r>
              <a:rPr lang="en-US" dirty="0"/>
              <a:t> </a:t>
            </a:r>
            <a:r>
              <a:rPr lang="en-US" dirty="0" err="1"/>
              <a:t>dụng</a:t>
            </a:r>
            <a:r>
              <a:rPr lang="en-US" dirty="0"/>
              <a:t> </a:t>
            </a:r>
            <a:r>
              <a:rPr lang="en-US" dirty="0" err="1"/>
              <a:t>hằng</a:t>
            </a:r>
            <a:r>
              <a:rPr lang="en-US" dirty="0"/>
              <a:t> </a:t>
            </a:r>
            <a:r>
              <a:rPr lang="en-US" dirty="0" err="1"/>
              <a:t>số</a:t>
            </a:r>
            <a:r>
              <a:rPr lang="en-US" dirty="0"/>
              <a:t> 32 bit </a:t>
            </a:r>
            <a:r>
              <a:rPr lang="en-US" dirty="0" err="1"/>
              <a:t>thì</a:t>
            </a:r>
            <a:r>
              <a:rPr lang="en-US" dirty="0"/>
              <a:t> </a:t>
            </a:r>
            <a:r>
              <a:rPr lang="en-US" dirty="0" err="1"/>
              <a:t>thường</a:t>
            </a:r>
            <a:r>
              <a:rPr lang="en-US" dirty="0"/>
              <a:t> </a:t>
            </a:r>
            <a:r>
              <a:rPr lang="en-US" dirty="0" err="1"/>
              <a:t>sử</a:t>
            </a:r>
            <a:r>
              <a:rPr lang="en-US" dirty="0"/>
              <a:t> </a:t>
            </a:r>
            <a:r>
              <a:rPr lang="en-US" dirty="0" err="1"/>
              <a:t>dụng</a:t>
            </a:r>
            <a:r>
              <a:rPr lang="en-US" dirty="0"/>
              <a:t> </a:t>
            </a:r>
            <a:r>
              <a:rPr lang="en-US" dirty="0" err="1"/>
              <a:t>kết</a:t>
            </a:r>
            <a:r>
              <a:rPr lang="en-US" dirty="0"/>
              <a:t> </a:t>
            </a:r>
            <a:r>
              <a:rPr lang="en-US" dirty="0" err="1"/>
              <a:t>hợp</a:t>
            </a:r>
            <a:r>
              <a:rPr lang="en-US" dirty="0"/>
              <a:t> </a:t>
            </a:r>
            <a:r>
              <a:rPr lang="en-US" dirty="0" err="1"/>
              <a:t>với</a:t>
            </a:r>
            <a:r>
              <a:rPr lang="en-US" dirty="0"/>
              <a:t> </a:t>
            </a:r>
            <a:r>
              <a:rPr lang="en-US" dirty="0" err="1"/>
              <a:t>lệnh</a:t>
            </a:r>
            <a:r>
              <a:rPr lang="en-US" dirty="0"/>
              <a:t> </a:t>
            </a:r>
            <a:r>
              <a:rPr lang="en-US" dirty="0" err="1"/>
              <a:t>lui</a:t>
            </a:r>
            <a:r>
              <a:rPr lang="en-US" dirty="0"/>
              <a:t>.</a:t>
            </a:r>
          </a:p>
          <a:p>
            <a:pPr marL="0" indent="0">
              <a:buNone/>
            </a:pPr>
            <a:r>
              <a:rPr lang="en-US" dirty="0" err="1"/>
              <a:t>lui</a:t>
            </a:r>
            <a:r>
              <a:rPr lang="en-US" dirty="0"/>
              <a:t>  register, </a:t>
            </a:r>
            <a:r>
              <a:rPr lang="en-US" dirty="0" err="1"/>
              <a:t>const</a:t>
            </a:r>
            <a:r>
              <a:rPr lang="en-US" dirty="0"/>
              <a:t>	# </a:t>
            </a:r>
            <a:r>
              <a:rPr lang="en-US" dirty="0" err="1"/>
              <a:t>const</a:t>
            </a:r>
            <a:r>
              <a:rPr lang="en-US" dirty="0"/>
              <a:t> </a:t>
            </a:r>
            <a:r>
              <a:rPr lang="en-US" dirty="0" err="1"/>
              <a:t>là</a:t>
            </a:r>
            <a:r>
              <a:rPr lang="en-US" dirty="0"/>
              <a:t> </a:t>
            </a:r>
            <a:r>
              <a:rPr lang="en-US" dirty="0" err="1"/>
              <a:t>số</a:t>
            </a:r>
            <a:r>
              <a:rPr lang="en-US" dirty="0"/>
              <a:t> 16 bit</a:t>
            </a:r>
          </a:p>
          <a:p>
            <a:pPr marL="0" indent="0">
              <a:buNone/>
            </a:pPr>
            <a:r>
              <a:rPr lang="vi-VN" dirty="0"/>
              <a:t>Ví dụ:  hãy đưa giá trị sau vào thanh ghi $s0</a:t>
            </a:r>
          </a:p>
          <a:p>
            <a:pPr marL="0" indent="0">
              <a:buNone/>
            </a:pPr>
            <a:endParaRPr lang="vi-VN" dirty="0"/>
          </a:p>
          <a:p>
            <a:pPr marL="0" indent="0">
              <a:buNone/>
            </a:pPr>
            <a:r>
              <a:rPr lang="en-US" dirty="0" err="1"/>
              <a:t>Để</a:t>
            </a:r>
            <a:r>
              <a:rPr lang="en-US" dirty="0"/>
              <a:t> </a:t>
            </a:r>
            <a:r>
              <a:rPr lang="en-US" dirty="0" err="1"/>
              <a:t>thực</a:t>
            </a:r>
            <a:r>
              <a:rPr lang="en-US" dirty="0"/>
              <a:t> </a:t>
            </a:r>
            <a:r>
              <a:rPr lang="en-US" dirty="0" err="1"/>
              <a:t>hiện</a:t>
            </a:r>
            <a:r>
              <a:rPr lang="en-US" dirty="0"/>
              <a:t> </a:t>
            </a:r>
            <a:r>
              <a:rPr lang="en-US" dirty="0" err="1"/>
              <a:t>điều</a:t>
            </a:r>
            <a:r>
              <a:rPr lang="en-US" dirty="0"/>
              <a:t> </a:t>
            </a:r>
            <a:r>
              <a:rPr lang="en-US" dirty="0" err="1"/>
              <a:t>này</a:t>
            </a:r>
            <a:r>
              <a:rPr lang="en-US" dirty="0"/>
              <a:t>, </a:t>
            </a:r>
            <a:r>
              <a:rPr lang="en-US" dirty="0" err="1"/>
              <a:t>đầu</a:t>
            </a:r>
            <a:r>
              <a:rPr lang="en-US" dirty="0"/>
              <a:t> </a:t>
            </a:r>
            <a:r>
              <a:rPr lang="en-US" dirty="0" err="1"/>
              <a:t>tiên</a:t>
            </a:r>
            <a:r>
              <a:rPr lang="en-US" dirty="0"/>
              <a:t> </a:t>
            </a:r>
            <a:r>
              <a:rPr lang="en-US" dirty="0" err="1"/>
              <a:t>đưa</a:t>
            </a:r>
            <a:r>
              <a:rPr lang="en-US" dirty="0"/>
              <a:t> 16 bit </a:t>
            </a:r>
            <a:r>
              <a:rPr lang="en-US" dirty="0" err="1"/>
              <a:t>cao</a:t>
            </a:r>
            <a:r>
              <a:rPr lang="en-US" dirty="0"/>
              <a:t> (</a:t>
            </a:r>
            <a:r>
              <a:rPr lang="en-US" dirty="0" err="1"/>
              <a:t>giá</a:t>
            </a:r>
            <a:r>
              <a:rPr lang="en-US" dirty="0"/>
              <a:t> </a:t>
            </a:r>
            <a:r>
              <a:rPr lang="en-US" dirty="0" err="1"/>
              <a:t>trị</a:t>
            </a:r>
            <a:r>
              <a:rPr lang="en-US" dirty="0"/>
              <a:t> 61) </a:t>
            </a:r>
            <a:r>
              <a:rPr lang="en-US" dirty="0" err="1"/>
              <a:t>vào</a:t>
            </a:r>
            <a:r>
              <a:rPr lang="en-US" dirty="0"/>
              <a:t> 16 bit </a:t>
            </a:r>
            <a:r>
              <a:rPr lang="en-US" dirty="0" err="1"/>
              <a:t>cao</a:t>
            </a:r>
            <a:r>
              <a:rPr lang="en-US" dirty="0"/>
              <a:t> </a:t>
            </a:r>
            <a:r>
              <a:rPr lang="en-US" dirty="0" err="1"/>
              <a:t>của</a:t>
            </a:r>
            <a:r>
              <a:rPr lang="en-US" dirty="0"/>
              <a:t> </a:t>
            </a:r>
            <a:r>
              <a:rPr lang="en-US" dirty="0" err="1"/>
              <a:t>thanh</a:t>
            </a:r>
            <a:r>
              <a:rPr lang="en-US" dirty="0"/>
              <a:t> </a:t>
            </a:r>
            <a:r>
              <a:rPr lang="en-US" dirty="0" err="1"/>
              <a:t>ghi</a:t>
            </a:r>
            <a:r>
              <a:rPr lang="en-US" dirty="0"/>
              <a:t> $s0 </a:t>
            </a:r>
            <a:r>
              <a:rPr lang="en-US" dirty="0" err="1"/>
              <a:t>dùng</a:t>
            </a:r>
            <a:r>
              <a:rPr lang="en-US" dirty="0"/>
              <a:t> </a:t>
            </a:r>
            <a:r>
              <a:rPr lang="en-US" dirty="0" err="1"/>
              <a:t>lệnh</a:t>
            </a:r>
            <a:r>
              <a:rPr lang="en-US" dirty="0"/>
              <a:t> </a:t>
            </a:r>
            <a:r>
              <a:rPr lang="en-US" dirty="0" err="1"/>
              <a:t>lui</a:t>
            </a:r>
            <a:endParaRPr lang="en-US" dirty="0"/>
          </a:p>
          <a:p>
            <a:pPr marL="0" indent="0">
              <a:buNone/>
            </a:pPr>
            <a:r>
              <a:rPr lang="en-US" dirty="0"/>
              <a:t>	</a:t>
            </a:r>
            <a:r>
              <a:rPr lang="en-US" dirty="0" err="1"/>
              <a:t>lui</a:t>
            </a:r>
            <a:r>
              <a:rPr lang="en-US" dirty="0"/>
              <a:t>  $s0, 61	# 0000 0000 0011 1101</a:t>
            </a:r>
            <a:r>
              <a:rPr lang="en-US" baseline="-25000" dirty="0"/>
              <a:t>2</a:t>
            </a:r>
            <a:r>
              <a:rPr lang="en-US" dirty="0"/>
              <a:t> = 61</a:t>
            </a:r>
            <a:r>
              <a:rPr lang="en-US" baseline="-25000" dirty="0"/>
              <a:t>10</a:t>
            </a:r>
            <a:endParaRPr lang="en-US" dirty="0"/>
          </a:p>
          <a:p>
            <a:pPr marL="0" indent="0">
              <a:buNone/>
            </a:pPr>
            <a:r>
              <a:rPr lang="en-US" dirty="0" err="1"/>
              <a:t>tiếp</a:t>
            </a:r>
            <a:r>
              <a:rPr lang="en-US" dirty="0"/>
              <a:t> </a:t>
            </a:r>
            <a:r>
              <a:rPr lang="en-US" dirty="0" err="1"/>
              <a:t>theo</a:t>
            </a:r>
            <a:r>
              <a:rPr lang="en-US" dirty="0"/>
              <a:t> </a:t>
            </a:r>
            <a:r>
              <a:rPr lang="en-US" dirty="0" err="1"/>
              <a:t>chèn</a:t>
            </a:r>
            <a:r>
              <a:rPr lang="en-US" dirty="0"/>
              <a:t> 16 bit </a:t>
            </a:r>
            <a:r>
              <a:rPr lang="en-US" dirty="0" err="1"/>
              <a:t>thấp</a:t>
            </a:r>
            <a:r>
              <a:rPr lang="en-US" dirty="0"/>
              <a:t> (</a:t>
            </a:r>
            <a:r>
              <a:rPr lang="en-US" dirty="0" err="1"/>
              <a:t>giá</a:t>
            </a:r>
            <a:r>
              <a:rPr lang="en-US" dirty="0"/>
              <a:t> </a:t>
            </a:r>
            <a:r>
              <a:rPr lang="en-US" dirty="0" err="1"/>
              <a:t>trị</a:t>
            </a:r>
            <a:r>
              <a:rPr lang="en-US" dirty="0"/>
              <a:t> 2304) </a:t>
            </a:r>
            <a:r>
              <a:rPr lang="en-US" dirty="0" err="1"/>
              <a:t>vào</a:t>
            </a:r>
            <a:r>
              <a:rPr lang="en-US" dirty="0"/>
              <a:t> </a:t>
            </a:r>
            <a:r>
              <a:rPr lang="en-US" dirty="0" err="1"/>
              <a:t>bằng</a:t>
            </a:r>
            <a:r>
              <a:rPr lang="en-US" dirty="0"/>
              <a:t> </a:t>
            </a:r>
            <a:r>
              <a:rPr lang="en-US" dirty="0" err="1"/>
              <a:t>lệnh</a:t>
            </a:r>
            <a:r>
              <a:rPr lang="en-US" dirty="0"/>
              <a:t> </a:t>
            </a:r>
            <a:r>
              <a:rPr lang="en-US" dirty="0" err="1"/>
              <a:t>ori</a:t>
            </a:r>
            <a:endParaRPr lang="en-US" dirty="0"/>
          </a:p>
          <a:p>
            <a:pPr marL="0" indent="0">
              <a:buNone/>
            </a:pPr>
            <a:r>
              <a:rPr lang="en-US" dirty="0"/>
              <a:t>	</a:t>
            </a:r>
            <a:r>
              <a:rPr lang="en-US" dirty="0" err="1"/>
              <a:t>ori</a:t>
            </a:r>
            <a:r>
              <a:rPr lang="en-US" dirty="0"/>
              <a:t>  $s0,$s0,2304	# 0000 1001 0000 0000</a:t>
            </a:r>
            <a:r>
              <a:rPr lang="en-US" baseline="-25000" dirty="0"/>
              <a:t>2</a:t>
            </a:r>
            <a:r>
              <a:rPr lang="en-US" dirty="0"/>
              <a:t> = 2304</a:t>
            </a:r>
            <a:r>
              <a:rPr lang="en-US" baseline="-25000" dirty="0"/>
              <a:t>10</a:t>
            </a:r>
            <a:r>
              <a:rPr lang="en-US" dirty="0"/>
              <a:t>		</a:t>
            </a:r>
          </a:p>
          <a:p>
            <a:pPr marL="0" indent="0">
              <a:buNone/>
            </a:pPr>
            <a:endParaRPr lang="en-US" dirty="0"/>
          </a:p>
        </p:txBody>
      </p:sp>
      <p:pic>
        <p:nvPicPr>
          <p:cNvPr id="4" name="Picture 3"/>
          <p:cNvPicPr/>
          <p:nvPr/>
        </p:nvPicPr>
        <p:blipFill rotWithShape="1">
          <a:blip r:embed="rId2"/>
          <a:srcRect l="31608" t="60790" r="25882" b="31481"/>
          <a:stretch/>
        </p:blipFill>
        <p:spPr bwMode="auto">
          <a:xfrm>
            <a:off x="2038927" y="3467100"/>
            <a:ext cx="3657600" cy="533400"/>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352768621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Định</a:t>
            </a:r>
            <a:r>
              <a:rPr lang="en-US" dirty="0"/>
              <a:t> </a:t>
            </a:r>
            <a:r>
              <a:rPr lang="en-US" dirty="0" err="1"/>
              <a:t>dạng</a:t>
            </a:r>
            <a:r>
              <a:rPr lang="en-US" dirty="0"/>
              <a:t> </a:t>
            </a:r>
            <a:r>
              <a:rPr lang="en-US" dirty="0" err="1"/>
              <a:t>lệnh</a:t>
            </a:r>
            <a:endParaRPr lang="en-US" dirty="0"/>
          </a:p>
        </p:txBody>
      </p:sp>
      <p:sp>
        <p:nvSpPr>
          <p:cNvPr id="3" name="Content Placeholder 2"/>
          <p:cNvSpPr>
            <a:spLocks noGrp="1"/>
          </p:cNvSpPr>
          <p:nvPr>
            <p:ph idx="1"/>
          </p:nvPr>
        </p:nvSpPr>
        <p:spPr>
          <a:xfrm>
            <a:off x="304800" y="1371600"/>
            <a:ext cx="8686800" cy="5181600"/>
          </a:xfrm>
        </p:spPr>
        <p:txBody>
          <a:bodyPr>
            <a:normAutofit fontScale="85000" lnSpcReduction="20000"/>
          </a:bodyPr>
          <a:lstStyle/>
          <a:p>
            <a:pPr marL="0" indent="0">
              <a:buNone/>
            </a:pPr>
            <a:r>
              <a:rPr lang="en-US" dirty="0" err="1" smtClean="0"/>
              <a:t>Có</a:t>
            </a:r>
            <a:r>
              <a:rPr lang="en-US" dirty="0" smtClean="0"/>
              <a:t> 3 </a:t>
            </a:r>
            <a:r>
              <a:rPr lang="en-US" dirty="0" err="1" smtClean="0"/>
              <a:t>định</a:t>
            </a:r>
            <a:r>
              <a:rPr lang="en-US" dirty="0" smtClean="0"/>
              <a:t> </a:t>
            </a:r>
            <a:r>
              <a:rPr lang="en-US" dirty="0" err="1" smtClean="0"/>
              <a:t>dạng</a:t>
            </a:r>
            <a:r>
              <a:rPr lang="en-US" dirty="0" smtClean="0"/>
              <a:t> </a:t>
            </a:r>
            <a:r>
              <a:rPr lang="en-US" dirty="0" err="1" smtClean="0"/>
              <a:t>lệnh</a:t>
            </a:r>
            <a:r>
              <a:rPr lang="en-US" dirty="0" smtClean="0"/>
              <a:t> </a:t>
            </a:r>
            <a:r>
              <a:rPr lang="en-US" dirty="0" err="1" smtClean="0"/>
              <a:t>trong</a:t>
            </a:r>
            <a:r>
              <a:rPr lang="en-US" dirty="0" smtClean="0"/>
              <a:t> MIPS:</a:t>
            </a:r>
          </a:p>
          <a:p>
            <a:r>
              <a:rPr lang="en-US" dirty="0" err="1"/>
              <a:t>Định</a:t>
            </a:r>
            <a:r>
              <a:rPr lang="en-US" dirty="0"/>
              <a:t> </a:t>
            </a:r>
            <a:r>
              <a:rPr lang="en-US" dirty="0" err="1"/>
              <a:t>dạng</a:t>
            </a:r>
            <a:r>
              <a:rPr lang="en-US" dirty="0"/>
              <a:t> R-format:</a:t>
            </a:r>
            <a:br>
              <a:rPr lang="en-US" dirty="0"/>
            </a:br>
            <a:endParaRPr lang="en-US" dirty="0" smtClean="0"/>
          </a:p>
          <a:p>
            <a:endParaRPr lang="en-US" dirty="0"/>
          </a:p>
          <a:p>
            <a:pPr lvl="0">
              <a:buFont typeface="Calibri" panose="020F0502020204030204" pitchFamily="34" charset="0"/>
              <a:buChar char="-"/>
            </a:pPr>
            <a:r>
              <a:rPr lang="en-US" i="1" dirty="0"/>
              <a:t>op</a:t>
            </a:r>
            <a:r>
              <a:rPr lang="en-US" dirty="0"/>
              <a:t>: </a:t>
            </a:r>
            <a:r>
              <a:rPr lang="en-US" dirty="0" err="1"/>
              <a:t>mã</a:t>
            </a:r>
            <a:r>
              <a:rPr lang="en-US" dirty="0"/>
              <a:t> </a:t>
            </a:r>
            <a:r>
              <a:rPr lang="en-US" dirty="0" err="1"/>
              <a:t>lệnh</a:t>
            </a:r>
            <a:r>
              <a:rPr lang="en-US" dirty="0"/>
              <a:t> (opcode) </a:t>
            </a:r>
            <a:r>
              <a:rPr lang="en-US" dirty="0" err="1"/>
              <a:t>cho</a:t>
            </a:r>
            <a:r>
              <a:rPr lang="en-US" dirty="0"/>
              <a:t> </a:t>
            </a:r>
            <a:r>
              <a:rPr lang="en-US" dirty="0" err="1"/>
              <a:t>biết</a:t>
            </a:r>
            <a:r>
              <a:rPr lang="en-US" dirty="0"/>
              <a:t> </a:t>
            </a:r>
            <a:r>
              <a:rPr lang="en-US" dirty="0" err="1"/>
              <a:t>lệnh</a:t>
            </a:r>
            <a:r>
              <a:rPr lang="en-US" dirty="0"/>
              <a:t> </a:t>
            </a:r>
            <a:r>
              <a:rPr lang="en-US" dirty="0" err="1"/>
              <a:t>được</a:t>
            </a:r>
            <a:r>
              <a:rPr lang="en-US" dirty="0"/>
              <a:t> </a:t>
            </a:r>
            <a:r>
              <a:rPr lang="en-US" dirty="0" err="1"/>
              <a:t>thực</a:t>
            </a:r>
            <a:r>
              <a:rPr lang="en-US" dirty="0"/>
              <a:t> </a:t>
            </a:r>
            <a:r>
              <a:rPr lang="en-US" dirty="0" err="1"/>
              <a:t>hiện</a:t>
            </a:r>
            <a:endParaRPr lang="en-US" dirty="0"/>
          </a:p>
          <a:p>
            <a:pPr lvl="0">
              <a:buFont typeface="Calibri" panose="020F0502020204030204" pitchFamily="34" charset="0"/>
              <a:buChar char="-"/>
            </a:pPr>
            <a:r>
              <a:rPr lang="en-US" i="1" dirty="0" err="1"/>
              <a:t>rs</a:t>
            </a:r>
            <a:r>
              <a:rPr lang="en-US" dirty="0"/>
              <a:t>: </a:t>
            </a:r>
            <a:r>
              <a:rPr lang="en-US" dirty="0" err="1"/>
              <a:t>thanh</a:t>
            </a:r>
            <a:r>
              <a:rPr lang="en-US" dirty="0"/>
              <a:t> </a:t>
            </a:r>
            <a:r>
              <a:rPr lang="en-US" dirty="0" err="1"/>
              <a:t>ghi</a:t>
            </a:r>
            <a:r>
              <a:rPr lang="en-US" dirty="0"/>
              <a:t> </a:t>
            </a:r>
            <a:r>
              <a:rPr lang="en-US" dirty="0" err="1"/>
              <a:t>nguồn</a:t>
            </a:r>
            <a:r>
              <a:rPr lang="en-US" dirty="0"/>
              <a:t> </a:t>
            </a:r>
            <a:r>
              <a:rPr lang="en-US" dirty="0" err="1"/>
              <a:t>thứ</a:t>
            </a:r>
            <a:r>
              <a:rPr lang="en-US" dirty="0"/>
              <a:t> </a:t>
            </a:r>
            <a:r>
              <a:rPr lang="en-US" dirty="0" err="1"/>
              <a:t>nhất</a:t>
            </a:r>
            <a:endParaRPr lang="en-US" dirty="0"/>
          </a:p>
          <a:p>
            <a:pPr lvl="0">
              <a:buFont typeface="Calibri" panose="020F0502020204030204" pitchFamily="34" charset="0"/>
              <a:buChar char="-"/>
            </a:pPr>
            <a:r>
              <a:rPr lang="en-US" i="1" dirty="0" err="1"/>
              <a:t>rt</a:t>
            </a:r>
            <a:r>
              <a:rPr lang="en-US" dirty="0"/>
              <a:t>: </a:t>
            </a:r>
            <a:r>
              <a:rPr lang="en-US" dirty="0" err="1"/>
              <a:t>thanh</a:t>
            </a:r>
            <a:r>
              <a:rPr lang="en-US" dirty="0"/>
              <a:t> </a:t>
            </a:r>
            <a:r>
              <a:rPr lang="en-US" dirty="0" err="1"/>
              <a:t>ghi</a:t>
            </a:r>
            <a:r>
              <a:rPr lang="en-US" dirty="0"/>
              <a:t> </a:t>
            </a:r>
            <a:r>
              <a:rPr lang="en-US" dirty="0" err="1"/>
              <a:t>nguồn</a:t>
            </a:r>
            <a:r>
              <a:rPr lang="en-US" dirty="0"/>
              <a:t> </a:t>
            </a:r>
            <a:r>
              <a:rPr lang="en-US" dirty="0" err="1"/>
              <a:t>thứ</a:t>
            </a:r>
            <a:r>
              <a:rPr lang="en-US" dirty="0"/>
              <a:t> </a:t>
            </a:r>
            <a:r>
              <a:rPr lang="en-US" dirty="0" err="1"/>
              <a:t>hai</a:t>
            </a:r>
            <a:endParaRPr lang="en-US" dirty="0"/>
          </a:p>
          <a:p>
            <a:pPr lvl="0">
              <a:buFont typeface="Calibri" panose="020F0502020204030204" pitchFamily="34" charset="0"/>
              <a:buChar char="-"/>
            </a:pPr>
            <a:r>
              <a:rPr lang="en-US" i="1" dirty="0" err="1"/>
              <a:t>rd</a:t>
            </a:r>
            <a:r>
              <a:rPr lang="en-US" dirty="0"/>
              <a:t>: </a:t>
            </a:r>
            <a:r>
              <a:rPr lang="en-US" dirty="0" err="1"/>
              <a:t>thanh</a:t>
            </a:r>
            <a:r>
              <a:rPr lang="en-US" dirty="0"/>
              <a:t> </a:t>
            </a:r>
            <a:r>
              <a:rPr lang="en-US" dirty="0" err="1"/>
              <a:t>ghi</a:t>
            </a:r>
            <a:r>
              <a:rPr lang="en-US" dirty="0"/>
              <a:t> </a:t>
            </a:r>
            <a:r>
              <a:rPr lang="en-US" dirty="0" err="1"/>
              <a:t>đích</a:t>
            </a:r>
            <a:r>
              <a:rPr lang="en-US" dirty="0"/>
              <a:t> </a:t>
            </a:r>
            <a:r>
              <a:rPr lang="en-US" dirty="0" err="1"/>
              <a:t>dùng</a:t>
            </a:r>
            <a:r>
              <a:rPr lang="en-US" dirty="0"/>
              <a:t> </a:t>
            </a:r>
            <a:r>
              <a:rPr lang="en-US" dirty="0" err="1"/>
              <a:t>chứa</a:t>
            </a:r>
            <a:r>
              <a:rPr lang="en-US" dirty="0"/>
              <a:t> </a:t>
            </a:r>
            <a:r>
              <a:rPr lang="en-US" dirty="0" err="1"/>
              <a:t>kết</a:t>
            </a:r>
            <a:r>
              <a:rPr lang="en-US" dirty="0"/>
              <a:t> </a:t>
            </a:r>
            <a:r>
              <a:rPr lang="en-US" dirty="0" err="1"/>
              <a:t>quả</a:t>
            </a:r>
            <a:r>
              <a:rPr lang="en-US" dirty="0"/>
              <a:t> </a:t>
            </a:r>
            <a:r>
              <a:rPr lang="en-US" dirty="0" err="1"/>
              <a:t>của</a:t>
            </a:r>
            <a:r>
              <a:rPr lang="en-US" dirty="0"/>
              <a:t> </a:t>
            </a:r>
            <a:r>
              <a:rPr lang="en-US" dirty="0" err="1"/>
              <a:t>phép</a:t>
            </a:r>
            <a:r>
              <a:rPr lang="en-US" dirty="0"/>
              <a:t> </a:t>
            </a:r>
            <a:r>
              <a:rPr lang="en-US" dirty="0" err="1"/>
              <a:t>toán</a:t>
            </a:r>
            <a:endParaRPr lang="en-US" dirty="0"/>
          </a:p>
          <a:p>
            <a:pPr lvl="0">
              <a:buFont typeface="Calibri" panose="020F0502020204030204" pitchFamily="34" charset="0"/>
              <a:buChar char="-"/>
            </a:pPr>
            <a:r>
              <a:rPr lang="en-US" i="1" dirty="0" err="1"/>
              <a:t>shamt</a:t>
            </a:r>
            <a:r>
              <a:rPr lang="en-US" dirty="0"/>
              <a:t>: </a:t>
            </a:r>
            <a:r>
              <a:rPr lang="en-US" dirty="0" err="1"/>
              <a:t>số</a:t>
            </a:r>
            <a:r>
              <a:rPr lang="en-US" dirty="0"/>
              <a:t> </a:t>
            </a:r>
            <a:r>
              <a:rPr lang="en-US" dirty="0" err="1"/>
              <a:t>bít</a:t>
            </a:r>
            <a:r>
              <a:rPr lang="en-US" dirty="0"/>
              <a:t> </a:t>
            </a:r>
            <a:r>
              <a:rPr lang="en-US" dirty="0" err="1"/>
              <a:t>được</a:t>
            </a:r>
            <a:r>
              <a:rPr lang="en-US" dirty="0"/>
              <a:t> </a:t>
            </a:r>
            <a:r>
              <a:rPr lang="en-US" dirty="0" err="1"/>
              <a:t>dịch</a:t>
            </a:r>
            <a:r>
              <a:rPr lang="en-US" dirty="0"/>
              <a:t> shift amount (</a:t>
            </a:r>
            <a:r>
              <a:rPr lang="en-US" dirty="0" err="1"/>
              <a:t>dùng</a:t>
            </a:r>
            <a:r>
              <a:rPr lang="en-US" dirty="0"/>
              <a:t> </a:t>
            </a:r>
            <a:r>
              <a:rPr lang="en-US" dirty="0" err="1"/>
              <a:t>trong</a:t>
            </a:r>
            <a:r>
              <a:rPr lang="en-US" dirty="0"/>
              <a:t> </a:t>
            </a:r>
            <a:r>
              <a:rPr lang="en-US" dirty="0" err="1"/>
              <a:t>lệnh</a:t>
            </a:r>
            <a:r>
              <a:rPr lang="en-US" dirty="0"/>
              <a:t> </a:t>
            </a:r>
            <a:r>
              <a:rPr lang="en-US" dirty="0" err="1"/>
              <a:t>các</a:t>
            </a:r>
            <a:r>
              <a:rPr lang="en-US" dirty="0"/>
              <a:t> </a:t>
            </a:r>
            <a:r>
              <a:rPr lang="en-US" dirty="0" err="1"/>
              <a:t>lệnh</a:t>
            </a:r>
            <a:r>
              <a:rPr lang="en-US" dirty="0"/>
              <a:t> </a:t>
            </a:r>
            <a:r>
              <a:rPr lang="en-US" dirty="0" err="1"/>
              <a:t>dịch</a:t>
            </a:r>
            <a:r>
              <a:rPr lang="en-US" dirty="0"/>
              <a:t> </a:t>
            </a:r>
            <a:r>
              <a:rPr lang="en-US" dirty="0" err="1"/>
              <a:t>chuyển</a:t>
            </a:r>
            <a:r>
              <a:rPr lang="en-US" dirty="0"/>
              <a:t>, </a:t>
            </a:r>
            <a:r>
              <a:rPr lang="en-US" dirty="0" err="1"/>
              <a:t>đối</a:t>
            </a:r>
            <a:r>
              <a:rPr lang="en-US" dirty="0"/>
              <a:t> </a:t>
            </a:r>
            <a:r>
              <a:rPr lang="en-US" dirty="0" err="1"/>
              <a:t>với</a:t>
            </a:r>
            <a:r>
              <a:rPr lang="en-US" dirty="0"/>
              <a:t> </a:t>
            </a:r>
            <a:r>
              <a:rPr lang="en-US" dirty="0" err="1"/>
              <a:t>các</a:t>
            </a:r>
            <a:r>
              <a:rPr lang="en-US" dirty="0"/>
              <a:t> </a:t>
            </a:r>
            <a:r>
              <a:rPr lang="en-US" dirty="0" err="1"/>
              <a:t>lệnh</a:t>
            </a:r>
            <a:r>
              <a:rPr lang="en-US" dirty="0"/>
              <a:t> </a:t>
            </a:r>
            <a:r>
              <a:rPr lang="en-US" dirty="0" err="1"/>
              <a:t>khác</a:t>
            </a:r>
            <a:r>
              <a:rPr lang="en-US" dirty="0"/>
              <a:t> </a:t>
            </a:r>
            <a:r>
              <a:rPr lang="en-US" dirty="0" err="1"/>
              <a:t>không</a:t>
            </a:r>
            <a:r>
              <a:rPr lang="en-US" dirty="0"/>
              <a:t> </a:t>
            </a:r>
            <a:r>
              <a:rPr lang="en-US" dirty="0" err="1"/>
              <a:t>sử</a:t>
            </a:r>
            <a:r>
              <a:rPr lang="en-US" dirty="0"/>
              <a:t> </a:t>
            </a:r>
            <a:r>
              <a:rPr lang="en-US" dirty="0" err="1"/>
              <a:t>dụng</a:t>
            </a:r>
            <a:r>
              <a:rPr lang="en-US" dirty="0"/>
              <a:t> </a:t>
            </a:r>
            <a:r>
              <a:rPr lang="en-US" dirty="0" err="1"/>
              <a:t>trường</a:t>
            </a:r>
            <a:r>
              <a:rPr lang="en-US" dirty="0"/>
              <a:t> </a:t>
            </a:r>
            <a:r>
              <a:rPr lang="en-US" dirty="0" err="1"/>
              <a:t>này</a:t>
            </a:r>
            <a:r>
              <a:rPr lang="en-US" dirty="0"/>
              <a:t> </a:t>
            </a:r>
            <a:r>
              <a:rPr lang="en-US" dirty="0" err="1"/>
              <a:t>thì</a:t>
            </a:r>
            <a:r>
              <a:rPr lang="en-US" dirty="0"/>
              <a:t> </a:t>
            </a:r>
            <a:r>
              <a:rPr lang="en-US" dirty="0" err="1"/>
              <a:t>được</a:t>
            </a:r>
            <a:r>
              <a:rPr lang="en-US" dirty="0"/>
              <a:t> </a:t>
            </a:r>
            <a:r>
              <a:rPr lang="en-US" dirty="0" err="1"/>
              <a:t>thiết</a:t>
            </a:r>
            <a:r>
              <a:rPr lang="en-US" dirty="0"/>
              <a:t> </a:t>
            </a:r>
            <a:r>
              <a:rPr lang="en-US" dirty="0" err="1"/>
              <a:t>lập</a:t>
            </a:r>
            <a:r>
              <a:rPr lang="en-US" dirty="0"/>
              <a:t> </a:t>
            </a:r>
            <a:r>
              <a:rPr lang="en-US" dirty="0" err="1"/>
              <a:t>giá</a:t>
            </a:r>
            <a:r>
              <a:rPr lang="en-US" dirty="0"/>
              <a:t> </a:t>
            </a:r>
            <a:r>
              <a:rPr lang="en-US" dirty="0" err="1"/>
              <a:t>trị</a:t>
            </a:r>
            <a:r>
              <a:rPr lang="en-US" dirty="0"/>
              <a:t> 0)</a:t>
            </a:r>
          </a:p>
          <a:p>
            <a:pPr lvl="0">
              <a:buFont typeface="Calibri" panose="020F0502020204030204" pitchFamily="34" charset="0"/>
              <a:buChar char="-"/>
            </a:pPr>
            <a:r>
              <a:rPr lang="en-US" i="1" dirty="0" err="1"/>
              <a:t>funct</a:t>
            </a:r>
            <a:r>
              <a:rPr lang="en-US" dirty="0"/>
              <a:t>: </a:t>
            </a:r>
            <a:r>
              <a:rPr lang="en-US" dirty="0" err="1"/>
              <a:t>mã</a:t>
            </a:r>
            <a:r>
              <a:rPr lang="en-US" dirty="0"/>
              <a:t> </a:t>
            </a:r>
            <a:r>
              <a:rPr lang="en-US" dirty="0" err="1"/>
              <a:t>hàm</a:t>
            </a:r>
            <a:r>
              <a:rPr lang="en-US" dirty="0"/>
              <a:t> (function code) </a:t>
            </a:r>
            <a:r>
              <a:rPr lang="en-US" dirty="0" err="1"/>
              <a:t>kết</a:t>
            </a:r>
            <a:r>
              <a:rPr lang="en-US" dirty="0"/>
              <a:t> </a:t>
            </a:r>
            <a:r>
              <a:rPr lang="en-US" dirty="0" err="1"/>
              <a:t>hợp</a:t>
            </a:r>
            <a:r>
              <a:rPr lang="en-US" dirty="0"/>
              <a:t> </a:t>
            </a:r>
            <a:r>
              <a:rPr lang="en-US" dirty="0" err="1"/>
              <a:t>với</a:t>
            </a:r>
            <a:r>
              <a:rPr lang="en-US" dirty="0"/>
              <a:t> </a:t>
            </a:r>
            <a:r>
              <a:rPr lang="en-US" dirty="0" err="1"/>
              <a:t>mã</a:t>
            </a:r>
            <a:r>
              <a:rPr lang="en-US" dirty="0"/>
              <a:t> </a:t>
            </a:r>
            <a:r>
              <a:rPr lang="en-US" dirty="0" err="1"/>
              <a:t>lệnh</a:t>
            </a:r>
            <a:r>
              <a:rPr lang="en-US" dirty="0"/>
              <a:t> (opcode) </a:t>
            </a:r>
            <a:r>
              <a:rPr lang="en-US" dirty="0" err="1"/>
              <a:t>để</a:t>
            </a:r>
            <a:r>
              <a:rPr lang="en-US" dirty="0"/>
              <a:t> </a:t>
            </a:r>
            <a:r>
              <a:rPr lang="en-US" dirty="0" err="1"/>
              <a:t>biết</a:t>
            </a:r>
            <a:r>
              <a:rPr lang="en-US" dirty="0"/>
              <a:t> </a:t>
            </a:r>
            <a:r>
              <a:rPr lang="en-US" dirty="0" err="1"/>
              <a:t>một</a:t>
            </a:r>
            <a:r>
              <a:rPr lang="en-US" dirty="0"/>
              <a:t> </a:t>
            </a:r>
            <a:r>
              <a:rPr lang="en-US" dirty="0" err="1"/>
              <a:t>lệnh</a:t>
            </a:r>
            <a:r>
              <a:rPr lang="en-US" dirty="0"/>
              <a:t> </a:t>
            </a:r>
            <a:r>
              <a:rPr lang="en-US" dirty="0" err="1"/>
              <a:t>cụ</a:t>
            </a:r>
            <a:r>
              <a:rPr lang="en-US" dirty="0"/>
              <a:t> </a:t>
            </a:r>
            <a:r>
              <a:rPr lang="en-US" dirty="0" err="1"/>
              <a:t>thể</a:t>
            </a:r>
            <a:r>
              <a:rPr lang="en-US" dirty="0"/>
              <a:t> </a:t>
            </a:r>
            <a:r>
              <a:rPr lang="en-US" dirty="0" err="1"/>
              <a:t>sẽ</a:t>
            </a:r>
            <a:r>
              <a:rPr lang="en-US" dirty="0"/>
              <a:t> </a:t>
            </a:r>
            <a:r>
              <a:rPr lang="en-US" dirty="0" err="1"/>
              <a:t>được</a:t>
            </a:r>
            <a:r>
              <a:rPr lang="en-US" dirty="0"/>
              <a:t> </a:t>
            </a:r>
            <a:r>
              <a:rPr lang="en-US" dirty="0" err="1"/>
              <a:t>thực</a:t>
            </a:r>
            <a:r>
              <a:rPr lang="en-US" dirty="0"/>
              <a:t> </a:t>
            </a:r>
            <a:r>
              <a:rPr lang="en-US" dirty="0" err="1"/>
              <a:t>hiện</a:t>
            </a:r>
            <a:r>
              <a:rPr lang="en-US" dirty="0"/>
              <a:t>.</a:t>
            </a:r>
          </a:p>
          <a:p>
            <a:endParaRPr lang="en-US" dirty="0"/>
          </a:p>
        </p:txBody>
      </p:sp>
      <p:pic>
        <p:nvPicPr>
          <p:cNvPr id="5" name="Picture 4"/>
          <p:cNvPicPr/>
          <p:nvPr/>
        </p:nvPicPr>
        <p:blipFill rotWithShape="1">
          <a:blip r:embed="rId2"/>
          <a:srcRect l="26414" t="62762" r="9151" b="25828"/>
          <a:stretch/>
        </p:blipFill>
        <p:spPr bwMode="auto">
          <a:xfrm>
            <a:off x="1219200" y="2133600"/>
            <a:ext cx="6449695" cy="859155"/>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23694411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Định</a:t>
            </a:r>
            <a:r>
              <a:rPr lang="en-US" dirty="0"/>
              <a:t> </a:t>
            </a:r>
            <a:r>
              <a:rPr lang="en-US" dirty="0" err="1"/>
              <a:t>dạng</a:t>
            </a:r>
            <a:r>
              <a:rPr lang="en-US" dirty="0"/>
              <a:t> </a:t>
            </a:r>
            <a:r>
              <a:rPr lang="en-US" dirty="0" err="1"/>
              <a:t>lệnh</a:t>
            </a:r>
            <a:endParaRPr lang="en-US"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304800" y="1371600"/>
                <a:ext cx="8686800" cy="5181600"/>
              </a:xfrm>
            </p:spPr>
            <p:txBody>
              <a:bodyPr>
                <a:normAutofit/>
              </a:bodyPr>
              <a:lstStyle/>
              <a:p>
                <a:pPr lvl="0"/>
                <a:r>
                  <a:rPr lang="en-US" dirty="0" err="1"/>
                  <a:t>Định</a:t>
                </a:r>
                <a:r>
                  <a:rPr lang="en-US" dirty="0"/>
                  <a:t> </a:t>
                </a:r>
                <a:r>
                  <a:rPr lang="en-US" dirty="0" err="1"/>
                  <a:t>dạng</a:t>
                </a:r>
                <a:r>
                  <a:rPr lang="en-US" dirty="0"/>
                  <a:t> I-format:</a:t>
                </a:r>
              </a:p>
              <a:p>
                <a:pPr marL="0" indent="0">
                  <a:buNone/>
                </a:pPr>
                <a:endParaRPr lang="en-US" dirty="0" smtClean="0"/>
              </a:p>
              <a:p>
                <a:endParaRPr lang="en-US" dirty="0"/>
              </a:p>
              <a:p>
                <a:pPr marL="0" indent="0">
                  <a:buNone/>
                </a:pPr>
                <a:r>
                  <a:rPr lang="en-US" dirty="0" err="1"/>
                  <a:t>Trong</a:t>
                </a:r>
                <a:r>
                  <a:rPr lang="en-US" dirty="0"/>
                  <a:t> </a:t>
                </a:r>
                <a:r>
                  <a:rPr lang="en-US" dirty="0" err="1"/>
                  <a:t>định</a:t>
                </a:r>
                <a:r>
                  <a:rPr lang="en-US" dirty="0"/>
                  <a:t> </a:t>
                </a:r>
                <a:r>
                  <a:rPr lang="en-US" dirty="0" err="1"/>
                  <a:t>dạng</a:t>
                </a:r>
                <a:r>
                  <a:rPr lang="en-US" dirty="0"/>
                  <a:t> </a:t>
                </a:r>
                <a:r>
                  <a:rPr lang="en-US" dirty="0" err="1"/>
                  <a:t>này</a:t>
                </a:r>
                <a:r>
                  <a:rPr lang="en-US" dirty="0"/>
                  <a:t> ta </a:t>
                </a:r>
                <a:r>
                  <a:rPr lang="en-US" dirty="0" err="1"/>
                  <a:t>có</a:t>
                </a:r>
                <a:r>
                  <a:rPr lang="en-US" dirty="0"/>
                  <a:t> </a:t>
                </a:r>
                <a:r>
                  <a:rPr lang="en-US" dirty="0" err="1"/>
                  <a:t>hai</a:t>
                </a:r>
                <a:r>
                  <a:rPr lang="en-US" dirty="0"/>
                  <a:t> </a:t>
                </a:r>
                <a:r>
                  <a:rPr lang="en-US" dirty="0" err="1"/>
                  <a:t>thanh</a:t>
                </a:r>
                <a:r>
                  <a:rPr lang="en-US" dirty="0"/>
                  <a:t> </a:t>
                </a:r>
                <a:r>
                  <a:rPr lang="en-US" dirty="0" err="1"/>
                  <a:t>ghi</a:t>
                </a:r>
                <a:r>
                  <a:rPr lang="en-US" dirty="0"/>
                  <a:t> </a:t>
                </a:r>
                <a:r>
                  <a:rPr lang="en-US" dirty="0" err="1"/>
                  <a:t>rs</a:t>
                </a:r>
                <a:r>
                  <a:rPr lang="en-US" dirty="0"/>
                  <a:t> </a:t>
                </a:r>
                <a:r>
                  <a:rPr lang="en-US" dirty="0" err="1"/>
                  <a:t>và</a:t>
                </a:r>
                <a:r>
                  <a:rPr lang="en-US" dirty="0"/>
                  <a:t> </a:t>
                </a:r>
                <a:r>
                  <a:rPr lang="en-US" dirty="0" err="1"/>
                  <a:t>rt</a:t>
                </a:r>
                <a:r>
                  <a:rPr lang="en-US" dirty="0"/>
                  <a:t> (</a:t>
                </a:r>
                <a:r>
                  <a:rPr lang="en-US" dirty="0" err="1"/>
                  <a:t>mỗi</a:t>
                </a:r>
                <a:r>
                  <a:rPr lang="en-US" dirty="0"/>
                  <a:t> </a:t>
                </a:r>
                <a:r>
                  <a:rPr lang="en-US" dirty="0" err="1"/>
                  <a:t>trường</a:t>
                </a:r>
                <a:r>
                  <a:rPr lang="en-US" dirty="0"/>
                  <a:t> </a:t>
                </a:r>
                <a:r>
                  <a:rPr lang="en-US" dirty="0" err="1"/>
                  <a:t>chứa</a:t>
                </a:r>
                <a:r>
                  <a:rPr lang="en-US" dirty="0"/>
                  <a:t> 5 bit). </a:t>
                </a:r>
                <a:r>
                  <a:rPr lang="en-US" dirty="0" err="1"/>
                  <a:t>Trường</a:t>
                </a:r>
                <a:r>
                  <a:rPr lang="en-US" dirty="0"/>
                  <a:t> </a:t>
                </a:r>
                <a:r>
                  <a:rPr lang="en-US" dirty="0" err="1"/>
                  <a:t>cuối</a:t>
                </a:r>
                <a:r>
                  <a:rPr lang="en-US" dirty="0"/>
                  <a:t> </a:t>
                </a:r>
                <a:r>
                  <a:rPr lang="en-US" dirty="0" err="1"/>
                  <a:t>cùng</a:t>
                </a:r>
                <a:r>
                  <a:rPr lang="en-US" dirty="0"/>
                  <a:t> </a:t>
                </a:r>
                <a:r>
                  <a:rPr lang="en-US" dirty="0" err="1"/>
                  <a:t>chứa</a:t>
                </a:r>
                <a:r>
                  <a:rPr lang="en-US" dirty="0"/>
                  <a:t> 16 bit </a:t>
                </a:r>
                <a:r>
                  <a:rPr lang="en-US" dirty="0" err="1"/>
                  <a:t>dùng</a:t>
                </a:r>
                <a:r>
                  <a:rPr lang="en-US" dirty="0"/>
                  <a:t> </a:t>
                </a:r>
                <a:r>
                  <a:rPr lang="en-US" dirty="0" err="1"/>
                  <a:t>để</a:t>
                </a:r>
                <a:r>
                  <a:rPr lang="en-US" dirty="0"/>
                  <a:t> </a:t>
                </a:r>
                <a:r>
                  <a:rPr lang="en-US" dirty="0" err="1"/>
                  <a:t>chứa</a:t>
                </a:r>
                <a:r>
                  <a:rPr lang="en-US" dirty="0"/>
                  <a:t> </a:t>
                </a:r>
                <a:r>
                  <a:rPr lang="en-US" dirty="0" err="1"/>
                  <a:t>giá</a:t>
                </a:r>
                <a:r>
                  <a:rPr lang="en-US" dirty="0"/>
                  <a:t> </a:t>
                </a:r>
                <a:r>
                  <a:rPr lang="en-US" dirty="0" err="1"/>
                  <a:t>trị</a:t>
                </a:r>
                <a:r>
                  <a:rPr lang="en-US" dirty="0"/>
                  <a:t> </a:t>
                </a:r>
                <a:r>
                  <a:rPr lang="en-US" dirty="0" err="1"/>
                  <a:t>hằng</a:t>
                </a:r>
                <a:r>
                  <a:rPr lang="en-US" dirty="0"/>
                  <a:t> (</a:t>
                </a:r>
                <a:r>
                  <a:rPr lang="en-US" dirty="0" err="1"/>
                  <a:t>các</a:t>
                </a:r>
                <a:r>
                  <a:rPr lang="en-US" dirty="0"/>
                  <a:t> </a:t>
                </a:r>
                <a:r>
                  <a:rPr lang="en-US" dirty="0" err="1"/>
                  <a:t>lệnh</a:t>
                </a:r>
                <a:r>
                  <a:rPr lang="en-US" dirty="0"/>
                  <a:t> </a:t>
                </a:r>
                <a:r>
                  <a:rPr lang="en-US" dirty="0" err="1"/>
                  <a:t>dùng</a:t>
                </a:r>
                <a:r>
                  <a:rPr lang="en-US" dirty="0"/>
                  <a:t> </a:t>
                </a:r>
                <a:r>
                  <a:rPr lang="en-US" dirty="0" err="1"/>
                  <a:t>toán</a:t>
                </a:r>
                <a:r>
                  <a:rPr lang="en-US" dirty="0"/>
                  <a:t> </a:t>
                </a:r>
                <a:r>
                  <a:rPr lang="en-US" dirty="0" err="1"/>
                  <a:t>hạng</a:t>
                </a:r>
                <a:r>
                  <a:rPr lang="en-US" dirty="0"/>
                  <a:t> </a:t>
                </a:r>
                <a:r>
                  <a:rPr lang="en-US" dirty="0" err="1"/>
                  <a:t>hằng</a:t>
                </a:r>
                <a:r>
                  <a:rPr lang="en-US" dirty="0"/>
                  <a:t> </a:t>
                </a:r>
                <a:r>
                  <a:rPr lang="en-US" dirty="0" err="1"/>
                  <a:t>như</a:t>
                </a:r>
                <a:r>
                  <a:rPr lang="en-US" dirty="0"/>
                  <a:t> </a:t>
                </a:r>
                <a:r>
                  <a:rPr lang="en-US" dirty="0" err="1"/>
                  <a:t>addi</a:t>
                </a:r>
                <a:r>
                  <a:rPr lang="en-US" dirty="0"/>
                  <a:t>) </a:t>
                </a:r>
                <a:r>
                  <a:rPr lang="en-US" dirty="0" err="1"/>
                  <a:t>hoặc</a:t>
                </a:r>
                <a:r>
                  <a:rPr lang="en-US" dirty="0"/>
                  <a:t> </a:t>
                </a:r>
                <a:r>
                  <a:rPr lang="en-US" dirty="0" err="1"/>
                  <a:t>chứa</a:t>
                </a:r>
                <a:r>
                  <a:rPr lang="en-US" dirty="0"/>
                  <a:t> </a:t>
                </a:r>
                <a:r>
                  <a:rPr lang="en-US" dirty="0" err="1"/>
                  <a:t>địa</a:t>
                </a:r>
                <a:r>
                  <a:rPr lang="en-US" dirty="0"/>
                  <a:t> </a:t>
                </a:r>
                <a:r>
                  <a:rPr lang="en-US" dirty="0" err="1"/>
                  <a:t>chỉ</a:t>
                </a:r>
                <a:r>
                  <a:rPr lang="en-US" dirty="0"/>
                  <a:t> (</a:t>
                </a:r>
                <a:r>
                  <a:rPr lang="en-US" dirty="0" err="1"/>
                  <a:t>các</a:t>
                </a:r>
                <a:r>
                  <a:rPr lang="en-US" dirty="0"/>
                  <a:t> </a:t>
                </a:r>
                <a:r>
                  <a:rPr lang="en-US" dirty="0" err="1"/>
                  <a:t>lệnh</a:t>
                </a:r>
                <a:r>
                  <a:rPr lang="en-US" dirty="0"/>
                  <a:t> load, store </a:t>
                </a:r>
                <a:r>
                  <a:rPr lang="en-US" dirty="0" err="1"/>
                  <a:t>và</a:t>
                </a:r>
                <a:r>
                  <a:rPr lang="en-US" dirty="0"/>
                  <a:t> </a:t>
                </a:r>
                <a:r>
                  <a:rPr lang="en-US" dirty="0" err="1"/>
                  <a:t>các</a:t>
                </a:r>
                <a:r>
                  <a:rPr lang="en-US" dirty="0"/>
                  <a:t> </a:t>
                </a:r>
                <a:r>
                  <a:rPr lang="en-US" dirty="0" err="1"/>
                  <a:t>lệnh</a:t>
                </a:r>
                <a:r>
                  <a:rPr lang="en-US" dirty="0"/>
                  <a:t> </a:t>
                </a:r>
                <a:r>
                  <a:rPr lang="en-US" dirty="0" err="1"/>
                  <a:t>nhảy</a:t>
                </a:r>
                <a:r>
                  <a:rPr lang="en-US" dirty="0"/>
                  <a:t> </a:t>
                </a:r>
                <a:r>
                  <a:rPr lang="en-US" dirty="0" err="1"/>
                  <a:t>có</a:t>
                </a:r>
                <a:r>
                  <a:rPr lang="en-US" dirty="0"/>
                  <a:t> </a:t>
                </a:r>
                <a:r>
                  <a:rPr lang="en-US" dirty="0" err="1"/>
                  <a:t>điều</a:t>
                </a:r>
                <a:r>
                  <a:rPr lang="en-US" dirty="0"/>
                  <a:t> </a:t>
                </a:r>
                <a:r>
                  <a:rPr lang="en-US" dirty="0" err="1"/>
                  <a:t>kiện</a:t>
                </a:r>
                <a:r>
                  <a:rPr lang="en-US" dirty="0"/>
                  <a:t>). </a:t>
                </a:r>
                <a:r>
                  <a:rPr lang="en-US" dirty="0" err="1"/>
                  <a:t>Giá</a:t>
                </a:r>
                <a:r>
                  <a:rPr lang="en-US" dirty="0"/>
                  <a:t> </a:t>
                </a:r>
                <a:r>
                  <a:rPr lang="en-US" dirty="0" err="1"/>
                  <a:t>trị</a:t>
                </a:r>
                <a:r>
                  <a:rPr lang="en-US" dirty="0"/>
                  <a:t> </a:t>
                </a:r>
                <a:r>
                  <a:rPr lang="en-US" dirty="0" err="1"/>
                  <a:t>của</a:t>
                </a:r>
                <a:r>
                  <a:rPr lang="en-US" dirty="0"/>
                  <a:t> </a:t>
                </a:r>
                <a:r>
                  <a:rPr lang="en-US" dirty="0" err="1"/>
                  <a:t>trường</a:t>
                </a:r>
                <a:r>
                  <a:rPr lang="en-US" dirty="0"/>
                  <a:t> </a:t>
                </a:r>
                <a:r>
                  <a:rPr lang="en-US" dirty="0" err="1"/>
                  <a:t>này</a:t>
                </a:r>
                <a:r>
                  <a:rPr lang="en-US" dirty="0"/>
                  <a:t> </a:t>
                </a:r>
                <a:r>
                  <a:rPr lang="en-US" dirty="0" err="1"/>
                  <a:t>nằm</a:t>
                </a:r>
                <a:r>
                  <a:rPr lang="en-US" dirty="0"/>
                  <a:t> </a:t>
                </a:r>
                <a:r>
                  <a:rPr lang="en-US" dirty="0" err="1"/>
                  <a:t>trong</a:t>
                </a:r>
                <a:r>
                  <a:rPr lang="en-US" dirty="0"/>
                  <a:t> </a:t>
                </a:r>
                <a:r>
                  <a:rPr lang="en-US" dirty="0" err="1"/>
                  <a:t>giới</a:t>
                </a:r>
                <a:r>
                  <a:rPr lang="en-US" dirty="0"/>
                  <a:t> </a:t>
                </a:r>
                <a:r>
                  <a:rPr lang="en-US" dirty="0" err="1"/>
                  <a:t>hạn</a:t>
                </a:r>
                <a:r>
                  <a:rPr lang="en-US" dirty="0"/>
                  <a:t> </a:t>
                </a:r>
                <a14:m>
                  <m:oMath xmlns:m="http://schemas.openxmlformats.org/officeDocument/2006/math">
                    <m:r>
                      <a:rPr lang="en-US" i="1">
                        <a:latin typeface="Cambria Math"/>
                      </a:rPr>
                      <m:t>±</m:t>
                    </m:r>
                    <m:sSup>
                      <m:sSupPr>
                        <m:ctrlPr>
                          <a:rPr lang="en-US" i="1">
                            <a:latin typeface="Cambria Math"/>
                          </a:rPr>
                        </m:ctrlPr>
                      </m:sSupPr>
                      <m:e>
                        <m:r>
                          <a:rPr lang="en-US" i="1">
                            <a:latin typeface="Cambria Math"/>
                          </a:rPr>
                          <m:t>2</m:t>
                        </m:r>
                      </m:e>
                      <m:sup>
                        <m:r>
                          <a:rPr lang="en-US" i="1">
                            <a:latin typeface="Cambria Math"/>
                          </a:rPr>
                          <m:t>15</m:t>
                        </m:r>
                      </m:sup>
                    </m:sSup>
                  </m:oMath>
                </a14:m>
                <a:r>
                  <a:rPr lang="en-US" dirty="0"/>
                  <a:t>(32768)</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304800" y="1371600"/>
                <a:ext cx="8686800" cy="5181600"/>
              </a:xfrm>
              <a:blipFill rotWithShape="1">
                <a:blip r:embed="rId2"/>
                <a:stretch>
                  <a:fillRect l="-1754" t="-1529" r="-1333"/>
                </a:stretch>
              </a:blipFill>
            </p:spPr>
            <p:txBody>
              <a:bodyPr/>
              <a:lstStyle/>
              <a:p>
                <a:r>
                  <a:rPr lang="en-US">
                    <a:noFill/>
                  </a:rPr>
                  <a:t> </a:t>
                </a:r>
              </a:p>
            </p:txBody>
          </p:sp>
        </mc:Fallback>
      </mc:AlternateContent>
      <p:pic>
        <p:nvPicPr>
          <p:cNvPr id="6" name="Picture 5"/>
          <p:cNvPicPr/>
          <p:nvPr/>
        </p:nvPicPr>
        <p:blipFill rotWithShape="1">
          <a:blip r:embed="rId3"/>
          <a:srcRect l="11604" t="30877" r="26509" b="58048"/>
          <a:stretch/>
        </p:blipFill>
        <p:spPr bwMode="auto">
          <a:xfrm>
            <a:off x="1143000" y="2057400"/>
            <a:ext cx="6373495" cy="847725"/>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264014982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Định</a:t>
            </a:r>
            <a:r>
              <a:rPr lang="en-US" dirty="0"/>
              <a:t> </a:t>
            </a:r>
            <a:r>
              <a:rPr lang="en-US" dirty="0" err="1"/>
              <a:t>dạng</a:t>
            </a:r>
            <a:r>
              <a:rPr lang="en-US" dirty="0"/>
              <a:t> </a:t>
            </a:r>
            <a:r>
              <a:rPr lang="en-US" dirty="0" err="1"/>
              <a:t>lệnh</a:t>
            </a:r>
            <a:endParaRPr lang="en-US" dirty="0"/>
          </a:p>
        </p:txBody>
      </p:sp>
      <p:sp>
        <p:nvSpPr>
          <p:cNvPr id="3" name="Content Placeholder 2"/>
          <p:cNvSpPr>
            <a:spLocks noGrp="1"/>
          </p:cNvSpPr>
          <p:nvPr>
            <p:ph idx="1"/>
          </p:nvPr>
        </p:nvSpPr>
        <p:spPr>
          <a:xfrm>
            <a:off x="304800" y="1371600"/>
            <a:ext cx="8686800" cy="5181600"/>
          </a:xfrm>
        </p:spPr>
        <p:txBody>
          <a:bodyPr>
            <a:normAutofit lnSpcReduction="10000"/>
          </a:bodyPr>
          <a:lstStyle/>
          <a:p>
            <a:pPr lvl="0"/>
            <a:r>
              <a:rPr lang="en-US" dirty="0" err="1"/>
              <a:t>Định</a:t>
            </a:r>
            <a:r>
              <a:rPr lang="en-US" dirty="0"/>
              <a:t> </a:t>
            </a:r>
            <a:r>
              <a:rPr lang="en-US" dirty="0" err="1"/>
              <a:t>dạng</a:t>
            </a:r>
            <a:r>
              <a:rPr lang="en-US" dirty="0"/>
              <a:t> J-format:</a:t>
            </a:r>
          </a:p>
          <a:p>
            <a:pPr marL="0" indent="0">
              <a:buNone/>
            </a:pPr>
            <a:r>
              <a:rPr lang="en-US" dirty="0" err="1"/>
              <a:t>Lệnh</a:t>
            </a:r>
            <a:r>
              <a:rPr lang="en-US" dirty="0"/>
              <a:t> </a:t>
            </a:r>
            <a:r>
              <a:rPr lang="en-US" dirty="0" err="1"/>
              <a:t>nhảy</a:t>
            </a:r>
            <a:r>
              <a:rPr lang="en-US" dirty="0"/>
              <a:t> </a:t>
            </a:r>
            <a:r>
              <a:rPr lang="en-US" dirty="0" err="1"/>
              <a:t>không</a:t>
            </a:r>
            <a:r>
              <a:rPr lang="en-US" dirty="0"/>
              <a:t> </a:t>
            </a:r>
            <a:r>
              <a:rPr lang="en-US" dirty="0" err="1"/>
              <a:t>điều</a:t>
            </a:r>
            <a:r>
              <a:rPr lang="en-US" dirty="0"/>
              <a:t> </a:t>
            </a:r>
            <a:r>
              <a:rPr lang="en-US" dirty="0" err="1"/>
              <a:t>kiện</a:t>
            </a:r>
            <a:r>
              <a:rPr lang="en-US" dirty="0"/>
              <a:t> </a:t>
            </a:r>
            <a:r>
              <a:rPr lang="en-US" dirty="0" err="1"/>
              <a:t>sử</a:t>
            </a:r>
            <a:r>
              <a:rPr lang="en-US" dirty="0"/>
              <a:t> </a:t>
            </a:r>
            <a:r>
              <a:rPr lang="en-US" dirty="0" err="1"/>
              <a:t>dụng</a:t>
            </a:r>
            <a:r>
              <a:rPr lang="en-US" dirty="0"/>
              <a:t> </a:t>
            </a:r>
            <a:r>
              <a:rPr lang="en-US" dirty="0" err="1"/>
              <a:t>định</a:t>
            </a:r>
            <a:r>
              <a:rPr lang="en-US" dirty="0"/>
              <a:t> </a:t>
            </a:r>
            <a:r>
              <a:rPr lang="en-US" dirty="0" err="1"/>
              <a:t>dạng</a:t>
            </a:r>
            <a:r>
              <a:rPr lang="en-US" dirty="0"/>
              <a:t> </a:t>
            </a:r>
            <a:r>
              <a:rPr lang="en-US" dirty="0" err="1"/>
              <a:t>này</a:t>
            </a:r>
            <a:r>
              <a:rPr lang="en-US" dirty="0"/>
              <a:t>, </a:t>
            </a:r>
            <a:r>
              <a:rPr lang="en-US" dirty="0" err="1"/>
              <a:t>ví</a:t>
            </a:r>
            <a:r>
              <a:rPr lang="en-US" dirty="0"/>
              <a:t> </a:t>
            </a:r>
            <a:r>
              <a:rPr lang="en-US" dirty="0" err="1"/>
              <a:t>dụ</a:t>
            </a:r>
            <a:r>
              <a:rPr lang="en-US" dirty="0"/>
              <a:t>:</a:t>
            </a:r>
          </a:p>
          <a:p>
            <a:pPr marL="0" indent="0">
              <a:buNone/>
            </a:pPr>
            <a:r>
              <a:rPr lang="en-US" dirty="0"/>
              <a:t>j  10000</a:t>
            </a:r>
          </a:p>
          <a:p>
            <a:pPr marL="0" indent="0">
              <a:buNone/>
            </a:pPr>
            <a:endParaRPr lang="en-US" dirty="0" smtClean="0"/>
          </a:p>
          <a:p>
            <a:pPr marL="0" indent="0">
              <a:buNone/>
            </a:pPr>
            <a:endParaRPr lang="en-US" dirty="0"/>
          </a:p>
          <a:p>
            <a:pPr marL="0" indent="0">
              <a:buNone/>
            </a:pPr>
            <a:r>
              <a:rPr lang="en-US" dirty="0" err="1"/>
              <a:t>câu</a:t>
            </a:r>
            <a:r>
              <a:rPr lang="en-US" dirty="0"/>
              <a:t> </a:t>
            </a:r>
            <a:r>
              <a:rPr lang="en-US" dirty="0" err="1"/>
              <a:t>lệnh</a:t>
            </a:r>
            <a:r>
              <a:rPr lang="en-US" dirty="0"/>
              <a:t> </a:t>
            </a:r>
            <a:r>
              <a:rPr lang="en-US" dirty="0" err="1"/>
              <a:t>này</a:t>
            </a:r>
            <a:r>
              <a:rPr lang="en-US" dirty="0"/>
              <a:t> </a:t>
            </a:r>
            <a:r>
              <a:rPr lang="en-US" dirty="0" err="1"/>
              <a:t>có</a:t>
            </a:r>
            <a:r>
              <a:rPr lang="en-US" dirty="0"/>
              <a:t> </a:t>
            </a:r>
            <a:r>
              <a:rPr lang="en-US" dirty="0" err="1"/>
              <a:t>định</a:t>
            </a:r>
            <a:r>
              <a:rPr lang="en-US" dirty="0"/>
              <a:t> </a:t>
            </a:r>
            <a:r>
              <a:rPr lang="en-US" dirty="0" err="1"/>
              <a:t>dạng</a:t>
            </a:r>
            <a:r>
              <a:rPr lang="en-US" dirty="0"/>
              <a:t> J-format </a:t>
            </a:r>
            <a:r>
              <a:rPr lang="en-US" dirty="0" err="1"/>
              <a:t>đơn</a:t>
            </a:r>
            <a:r>
              <a:rPr lang="en-US" dirty="0"/>
              <a:t> </a:t>
            </a:r>
            <a:r>
              <a:rPr lang="en-US" dirty="0" err="1"/>
              <a:t>giản</a:t>
            </a:r>
            <a:r>
              <a:rPr lang="en-US" dirty="0"/>
              <a:t> </a:t>
            </a:r>
            <a:r>
              <a:rPr lang="en-US" dirty="0" err="1"/>
              <a:t>nhất</a:t>
            </a:r>
            <a:r>
              <a:rPr lang="en-US" dirty="0"/>
              <a:t> so </a:t>
            </a:r>
            <a:r>
              <a:rPr lang="en-US" dirty="0" err="1"/>
              <a:t>với</a:t>
            </a:r>
            <a:r>
              <a:rPr lang="en-US" dirty="0"/>
              <a:t> </a:t>
            </a:r>
            <a:r>
              <a:rPr lang="en-US" dirty="0" err="1"/>
              <a:t>các</a:t>
            </a:r>
            <a:r>
              <a:rPr lang="en-US" dirty="0"/>
              <a:t> </a:t>
            </a:r>
            <a:r>
              <a:rPr lang="en-US" dirty="0" err="1"/>
              <a:t>định</a:t>
            </a:r>
            <a:r>
              <a:rPr lang="en-US" dirty="0"/>
              <a:t> </a:t>
            </a:r>
            <a:r>
              <a:rPr lang="en-US" dirty="0" err="1"/>
              <a:t>dạng</a:t>
            </a:r>
            <a:r>
              <a:rPr lang="en-US" dirty="0"/>
              <a:t> </a:t>
            </a:r>
            <a:r>
              <a:rPr lang="en-US" dirty="0" err="1"/>
              <a:t>trên</a:t>
            </a:r>
            <a:r>
              <a:rPr lang="en-US" dirty="0"/>
              <a:t> </a:t>
            </a:r>
            <a:r>
              <a:rPr lang="en-US" dirty="0" err="1"/>
              <a:t>gồm</a:t>
            </a:r>
            <a:r>
              <a:rPr lang="en-US" dirty="0"/>
              <a:t> </a:t>
            </a:r>
            <a:r>
              <a:rPr lang="en-US" dirty="0" err="1"/>
              <a:t>một</a:t>
            </a:r>
            <a:r>
              <a:rPr lang="en-US" dirty="0"/>
              <a:t> </a:t>
            </a:r>
            <a:r>
              <a:rPr lang="en-US" dirty="0" err="1"/>
              <a:t>trường</a:t>
            </a:r>
            <a:r>
              <a:rPr lang="en-US" dirty="0"/>
              <a:t> </a:t>
            </a:r>
            <a:r>
              <a:rPr lang="en-US" i="1" dirty="0"/>
              <a:t>op</a:t>
            </a:r>
            <a:r>
              <a:rPr lang="en-US" dirty="0"/>
              <a:t> (6 bit) </a:t>
            </a:r>
            <a:r>
              <a:rPr lang="en-US" dirty="0" err="1"/>
              <a:t>có</a:t>
            </a:r>
            <a:r>
              <a:rPr lang="en-US" dirty="0"/>
              <a:t> </a:t>
            </a:r>
            <a:r>
              <a:rPr lang="en-US" dirty="0" err="1"/>
              <a:t>giá</a:t>
            </a:r>
            <a:r>
              <a:rPr lang="en-US" dirty="0"/>
              <a:t> </a:t>
            </a:r>
            <a:r>
              <a:rPr lang="en-US" dirty="0" err="1"/>
              <a:t>trị</a:t>
            </a:r>
            <a:r>
              <a:rPr lang="en-US" dirty="0"/>
              <a:t> 2 </a:t>
            </a:r>
            <a:r>
              <a:rPr lang="en-US" dirty="0" err="1"/>
              <a:t>và</a:t>
            </a:r>
            <a:r>
              <a:rPr lang="en-US" dirty="0"/>
              <a:t> </a:t>
            </a:r>
            <a:r>
              <a:rPr lang="en-US" dirty="0" err="1"/>
              <a:t>trường</a:t>
            </a:r>
            <a:r>
              <a:rPr lang="en-US" dirty="0"/>
              <a:t> </a:t>
            </a:r>
            <a:r>
              <a:rPr lang="en-US" dirty="0" err="1"/>
              <a:t>địa</a:t>
            </a:r>
            <a:r>
              <a:rPr lang="en-US" dirty="0"/>
              <a:t> </a:t>
            </a:r>
            <a:r>
              <a:rPr lang="en-US" dirty="0" err="1"/>
              <a:t>chỉ</a:t>
            </a:r>
            <a:r>
              <a:rPr lang="en-US" dirty="0"/>
              <a:t> (26 bit) </a:t>
            </a:r>
            <a:r>
              <a:rPr lang="en-US" dirty="0" err="1"/>
              <a:t>chứa</a:t>
            </a:r>
            <a:r>
              <a:rPr lang="en-US" dirty="0"/>
              <a:t> </a:t>
            </a:r>
            <a:r>
              <a:rPr lang="en-US" dirty="0" err="1"/>
              <a:t>giá</a:t>
            </a:r>
            <a:r>
              <a:rPr lang="en-US" dirty="0"/>
              <a:t> </a:t>
            </a:r>
            <a:r>
              <a:rPr lang="en-US" dirty="0" err="1"/>
              <a:t>trị</a:t>
            </a:r>
            <a:r>
              <a:rPr lang="en-US" dirty="0"/>
              <a:t> </a:t>
            </a:r>
            <a:r>
              <a:rPr lang="en-US" dirty="0" smtClean="0"/>
              <a:t>10000</a:t>
            </a:r>
            <a:endParaRPr lang="en-US" dirty="0"/>
          </a:p>
          <a:p>
            <a:pPr marL="0" indent="0">
              <a:buNone/>
            </a:pPr>
            <a:endParaRPr lang="en-US" dirty="0" smtClean="0"/>
          </a:p>
        </p:txBody>
      </p:sp>
      <p:pic>
        <p:nvPicPr>
          <p:cNvPr id="5" name="Picture 4"/>
          <p:cNvPicPr/>
          <p:nvPr/>
        </p:nvPicPr>
        <p:blipFill rotWithShape="1">
          <a:blip r:embed="rId2"/>
          <a:srcRect l="26698" t="30205" r="9340" b="55195"/>
          <a:stretch/>
        </p:blipFill>
        <p:spPr bwMode="auto">
          <a:xfrm>
            <a:off x="1251526" y="3327501"/>
            <a:ext cx="6496685" cy="1103948"/>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182012664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Định</a:t>
            </a:r>
            <a:r>
              <a:rPr lang="en-US" dirty="0"/>
              <a:t> </a:t>
            </a:r>
            <a:r>
              <a:rPr lang="en-US" dirty="0" err="1"/>
              <a:t>dạng</a:t>
            </a:r>
            <a:r>
              <a:rPr lang="en-US" dirty="0"/>
              <a:t> </a:t>
            </a:r>
            <a:r>
              <a:rPr lang="en-US" dirty="0" err="1"/>
              <a:t>lệnh</a:t>
            </a:r>
            <a:endParaRPr lang="en-US" dirty="0"/>
          </a:p>
        </p:txBody>
      </p:sp>
      <p:sp>
        <p:nvSpPr>
          <p:cNvPr id="3" name="Content Placeholder 2"/>
          <p:cNvSpPr>
            <a:spLocks noGrp="1"/>
          </p:cNvSpPr>
          <p:nvPr>
            <p:ph idx="1"/>
          </p:nvPr>
        </p:nvSpPr>
        <p:spPr>
          <a:xfrm>
            <a:off x="304800" y="1371600"/>
            <a:ext cx="8686800" cy="5181600"/>
          </a:xfrm>
        </p:spPr>
        <p:txBody>
          <a:bodyPr>
            <a:normAutofit/>
          </a:bodyPr>
          <a:lstStyle/>
          <a:p>
            <a:pPr lvl="0"/>
            <a:r>
              <a:rPr lang="en-US" dirty="0" err="1" smtClean="0"/>
              <a:t>Tóm</a:t>
            </a:r>
            <a:r>
              <a:rPr lang="en-US" dirty="0" smtClean="0"/>
              <a:t> </a:t>
            </a:r>
            <a:r>
              <a:rPr lang="en-US" dirty="0" err="1" smtClean="0"/>
              <a:t>tắt</a:t>
            </a:r>
            <a:r>
              <a:rPr lang="en-US" dirty="0" smtClean="0"/>
              <a:t> </a:t>
            </a:r>
            <a:r>
              <a:rPr lang="en-US" dirty="0" err="1" smtClean="0"/>
              <a:t>các</a:t>
            </a:r>
            <a:r>
              <a:rPr lang="en-US" dirty="0" smtClean="0"/>
              <a:t> </a:t>
            </a:r>
            <a:r>
              <a:rPr lang="en-US" dirty="0" err="1" smtClean="0"/>
              <a:t>định</a:t>
            </a:r>
            <a:r>
              <a:rPr lang="en-US" dirty="0" smtClean="0"/>
              <a:t> </a:t>
            </a:r>
            <a:r>
              <a:rPr lang="en-US" dirty="0" err="1"/>
              <a:t>dạng</a:t>
            </a:r>
            <a:r>
              <a:rPr lang="en-US" dirty="0"/>
              <a:t> </a:t>
            </a:r>
            <a:r>
              <a:rPr lang="en-US" dirty="0" err="1"/>
              <a:t>lệnh</a:t>
            </a:r>
            <a:r>
              <a:rPr lang="en-US" dirty="0"/>
              <a:t> </a:t>
            </a:r>
            <a:r>
              <a:rPr lang="en-US" dirty="0" smtClean="0"/>
              <a:t>MIPS:</a:t>
            </a:r>
          </a:p>
          <a:p>
            <a:pPr marL="0" lvl="0" indent="0">
              <a:buNone/>
            </a:pPr>
            <a:endParaRPr lang="en-US" dirty="0" smtClean="0"/>
          </a:p>
        </p:txBody>
      </p:sp>
      <p:pic>
        <p:nvPicPr>
          <p:cNvPr id="6" name="Picture 5"/>
          <p:cNvPicPr/>
          <p:nvPr/>
        </p:nvPicPr>
        <p:blipFill rotWithShape="1">
          <a:blip r:embed="rId2"/>
          <a:srcRect l="23490" t="29199" r="16321" b="51503"/>
          <a:stretch/>
        </p:blipFill>
        <p:spPr bwMode="auto">
          <a:xfrm>
            <a:off x="762000" y="2209800"/>
            <a:ext cx="7086600" cy="2895600"/>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12647514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Lệnh luận lý (logical operation)</a:t>
            </a:r>
          </a:p>
        </p:txBody>
      </p:sp>
      <p:sp>
        <p:nvSpPr>
          <p:cNvPr id="3" name="Content Placeholder 2"/>
          <p:cNvSpPr>
            <a:spLocks noGrp="1"/>
          </p:cNvSpPr>
          <p:nvPr>
            <p:ph idx="1"/>
          </p:nvPr>
        </p:nvSpPr>
        <p:spPr>
          <a:xfrm>
            <a:off x="304800" y="1371600"/>
            <a:ext cx="8686800" cy="5181600"/>
          </a:xfrm>
        </p:spPr>
        <p:txBody>
          <a:bodyPr>
            <a:normAutofit/>
          </a:bodyPr>
          <a:lstStyle/>
          <a:p>
            <a:pPr lvl="0"/>
            <a:r>
              <a:rPr lang="en-US"/>
              <a:t>Lệnh dịch trái sll (shift left logical): các bít 0 được thêm vào bên phải khi thực hiện lệnh dịch.</a:t>
            </a:r>
          </a:p>
          <a:p>
            <a:pPr lvl="0"/>
            <a:r>
              <a:rPr lang="en-US"/>
              <a:t>Lệnh dịch phải srl (shift right logical): các bít 0 được thêm vào bên trái khi thực hiện lệnh dịch.</a:t>
            </a:r>
          </a:p>
          <a:p>
            <a:pPr marL="0" indent="0">
              <a:buNone/>
            </a:pPr>
            <a:r>
              <a:rPr lang="en-US" smtClean="0"/>
              <a:t>Ví dụ: thanh </a:t>
            </a:r>
            <a:r>
              <a:rPr lang="en-US"/>
              <a:t>ghi $s0 chứa giá trị 9</a:t>
            </a:r>
            <a:br>
              <a:rPr lang="en-US"/>
            </a:br>
            <a:r>
              <a:rPr lang="en-US"/>
              <a:t/>
            </a:r>
            <a:br>
              <a:rPr lang="en-US"/>
            </a:br>
            <a:r>
              <a:rPr lang="en-US"/>
              <a:t>Sau khi thực hiện lệnh dịch trái 4 bít:</a:t>
            </a:r>
            <a:br>
              <a:rPr lang="en-US"/>
            </a:br>
            <a:r>
              <a:rPr lang="en-US"/>
              <a:t>sll   $t2,$s0,4</a:t>
            </a:r>
            <a:br>
              <a:rPr lang="en-US"/>
            </a:br>
            <a:r>
              <a:rPr lang="en-US"/>
              <a:t>thì kết quả thanh ghi $t2 chứa giá trị là 144.</a:t>
            </a:r>
            <a:br>
              <a:rPr lang="en-US"/>
            </a:br>
            <a:endParaRPr lang="en-US"/>
          </a:p>
          <a:p>
            <a:pPr marL="0" lvl="0" indent="0">
              <a:buNone/>
            </a:pPr>
            <a:endParaRPr lang="en-US" dirty="0" smtClean="0"/>
          </a:p>
        </p:txBody>
      </p:sp>
      <p:pic>
        <p:nvPicPr>
          <p:cNvPr id="5" name="Picture 4"/>
          <p:cNvPicPr/>
          <p:nvPr/>
        </p:nvPicPr>
        <p:blipFill rotWithShape="1">
          <a:blip r:embed="rId2"/>
          <a:srcRect l="31320" t="33730" r="23963" b="59557"/>
          <a:stretch/>
        </p:blipFill>
        <p:spPr bwMode="auto">
          <a:xfrm>
            <a:off x="2286000" y="4038600"/>
            <a:ext cx="4848225" cy="533400"/>
          </a:xfrm>
          <a:prstGeom prst="rect">
            <a:avLst/>
          </a:prstGeom>
          <a:ln>
            <a:noFill/>
          </a:ln>
          <a:extLst>
            <a:ext uri="{53640926-AAD7-44D8-BBD7-CCE9431645EC}">
              <a14:shadowObscured xmlns:a14="http://schemas.microsoft.com/office/drawing/2010/main"/>
            </a:ext>
          </a:extLst>
        </p:spPr>
      </p:pic>
      <p:pic>
        <p:nvPicPr>
          <p:cNvPr id="7" name="Picture 6"/>
          <p:cNvPicPr/>
          <p:nvPr/>
        </p:nvPicPr>
        <p:blipFill rotWithShape="1">
          <a:blip r:embed="rId2"/>
          <a:srcRect l="31415" t="47825" r="21510" b="44791"/>
          <a:stretch/>
        </p:blipFill>
        <p:spPr bwMode="auto">
          <a:xfrm>
            <a:off x="2133600" y="6096000"/>
            <a:ext cx="4533900" cy="596900"/>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248773033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Lệnh luận lý (logical operation)</a:t>
            </a:r>
          </a:p>
        </p:txBody>
      </p:sp>
      <p:sp>
        <p:nvSpPr>
          <p:cNvPr id="3" name="Content Placeholder 2"/>
          <p:cNvSpPr>
            <a:spLocks noGrp="1"/>
          </p:cNvSpPr>
          <p:nvPr>
            <p:ph idx="1"/>
          </p:nvPr>
        </p:nvSpPr>
        <p:spPr>
          <a:xfrm>
            <a:off x="304800" y="1371600"/>
            <a:ext cx="8686800" cy="5181600"/>
          </a:xfrm>
        </p:spPr>
        <p:txBody>
          <a:bodyPr>
            <a:normAutofit/>
          </a:bodyPr>
          <a:lstStyle/>
          <a:p>
            <a:r>
              <a:rPr lang="en-US"/>
              <a:t>Lệnh and: thực hiện phép toán and với hai toán hạng nguồn theo từng bit và kết quả lưu vào toán hạng </a:t>
            </a:r>
            <a:r>
              <a:rPr lang="en-US"/>
              <a:t>đích</a:t>
            </a:r>
            <a:r>
              <a:rPr lang="en-US" smtClean="0"/>
              <a:t>.</a:t>
            </a:r>
          </a:p>
          <a:p>
            <a:r>
              <a:rPr lang="en-US"/>
              <a:t>Lệnh or: tương tự như lệnh and nhưng thực hiện phép toán or trên từng </a:t>
            </a:r>
            <a:r>
              <a:rPr lang="en-US"/>
              <a:t>bit</a:t>
            </a:r>
            <a:r>
              <a:rPr lang="en-US" smtClean="0"/>
              <a:t>.</a:t>
            </a:r>
          </a:p>
          <a:p>
            <a:r>
              <a:rPr lang="en-US" smtClean="0"/>
              <a:t>Lệnh </a:t>
            </a:r>
            <a:r>
              <a:rPr lang="en-US"/>
              <a:t>not và lệnh nor: lệnh not thực hiện đảo bit (0 thành 1, 1 thành 0) trên một toán hạng, còn có lệnh nor (not or) thực hiện đảo ngược của lệnh or.</a:t>
            </a:r>
          </a:p>
          <a:p>
            <a:endParaRPr lang="en-US" dirty="0" smtClean="0"/>
          </a:p>
        </p:txBody>
      </p:sp>
    </p:spTree>
    <p:extLst>
      <p:ext uri="{BB962C8B-B14F-4D97-AF65-F5344CB8AC3E}">
        <p14:creationId xmlns:p14="http://schemas.microsoft.com/office/powerpoint/2010/main" val="403560560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Các lệnh rẽ nhánh</a:t>
            </a:r>
          </a:p>
        </p:txBody>
      </p:sp>
      <p:sp>
        <p:nvSpPr>
          <p:cNvPr id="3" name="Content Placeholder 2"/>
          <p:cNvSpPr>
            <a:spLocks noGrp="1"/>
          </p:cNvSpPr>
          <p:nvPr>
            <p:ph idx="1"/>
          </p:nvPr>
        </p:nvSpPr>
        <p:spPr>
          <a:xfrm>
            <a:off x="304800" y="1371600"/>
            <a:ext cx="8686800" cy="5181600"/>
          </a:xfrm>
        </p:spPr>
        <p:txBody>
          <a:bodyPr>
            <a:normAutofit fontScale="70000" lnSpcReduction="20000"/>
          </a:bodyPr>
          <a:lstStyle/>
          <a:p>
            <a:r>
              <a:rPr lang="en-US"/>
              <a:t>beq  register1,register2,L1</a:t>
            </a:r>
          </a:p>
          <a:p>
            <a:r>
              <a:rPr lang="en-US" smtClean="0"/>
              <a:t>bne  </a:t>
            </a:r>
            <a:r>
              <a:rPr lang="en-US"/>
              <a:t>register1,register2,L1</a:t>
            </a:r>
          </a:p>
          <a:p>
            <a:pPr marL="0" indent="0">
              <a:buNone/>
            </a:pPr>
            <a:r>
              <a:rPr lang="en-US"/>
              <a:t>Các lệnh này thường được sử dụng để thể hiện câu lệnh if-then-else của ngôn </a:t>
            </a:r>
            <a:r>
              <a:rPr lang="en-US"/>
              <a:t>ngữ </a:t>
            </a:r>
            <a:r>
              <a:rPr lang="en-US" smtClean="0"/>
              <a:t>cấp </a:t>
            </a:r>
            <a:r>
              <a:rPr lang="en-US"/>
              <a:t>cao</a:t>
            </a:r>
            <a:r>
              <a:rPr lang="en-US" smtClean="0"/>
              <a:t>.</a:t>
            </a:r>
          </a:p>
          <a:p>
            <a:pPr marL="0" indent="0">
              <a:buNone/>
            </a:pPr>
            <a:r>
              <a:rPr lang="en-US"/>
              <a:t>Ví dụ hãy biểu diễn các lệnh hợp ngữ MIPS tương ứng với phát biểu if của ngôn ngữ C:</a:t>
            </a:r>
          </a:p>
          <a:p>
            <a:pPr marL="0" indent="0">
              <a:buNone/>
            </a:pPr>
            <a:r>
              <a:rPr lang="en-US"/>
              <a:t>		If (i == j) f = g + h; else f = g – h</a:t>
            </a:r>
          </a:p>
          <a:p>
            <a:pPr marL="0" indent="0">
              <a:buNone/>
            </a:pPr>
            <a:r>
              <a:rPr lang="en-US"/>
              <a:t>với các biến f,g,h,i và j lần lượt được lưu trong các thanh ghi từ $s0 đến $s4.</a:t>
            </a:r>
          </a:p>
          <a:p>
            <a:pPr marL="0" indent="0">
              <a:buNone/>
            </a:pPr>
            <a:r>
              <a:rPr lang="en-US"/>
              <a:t>Các lệnh tương ứng như sau:</a:t>
            </a:r>
          </a:p>
          <a:p>
            <a:pPr marL="0" indent="0">
              <a:buNone/>
            </a:pPr>
            <a:r>
              <a:rPr lang="en-US"/>
              <a:t>		bne $s3,$s4,Else</a:t>
            </a:r>
          </a:p>
          <a:p>
            <a:pPr marL="0" indent="0">
              <a:buNone/>
            </a:pPr>
            <a:r>
              <a:rPr lang="en-US"/>
              <a:t>		add $s0,$s1,$s2</a:t>
            </a:r>
          </a:p>
          <a:p>
            <a:pPr marL="0" indent="0">
              <a:buNone/>
            </a:pPr>
            <a:r>
              <a:rPr lang="en-US"/>
              <a:t>		j  Exit</a:t>
            </a:r>
          </a:p>
          <a:p>
            <a:pPr marL="0" indent="0">
              <a:buNone/>
            </a:pPr>
            <a:r>
              <a:rPr lang="en-US"/>
              <a:t>	Else:	sub $s0,$s1,$s2</a:t>
            </a:r>
          </a:p>
          <a:p>
            <a:pPr marL="0" indent="0">
              <a:buNone/>
            </a:pPr>
            <a:r>
              <a:rPr lang="en-US"/>
              <a:t>	Exit:	… </a:t>
            </a:r>
          </a:p>
          <a:p>
            <a:pPr marL="0" indent="0">
              <a:buNone/>
            </a:pPr>
            <a:endParaRPr lang="en-US" dirty="0" smtClean="0"/>
          </a:p>
        </p:txBody>
      </p:sp>
    </p:spTree>
    <p:extLst>
      <p:ext uri="{BB962C8B-B14F-4D97-AF65-F5344CB8AC3E}">
        <p14:creationId xmlns:p14="http://schemas.microsoft.com/office/powerpoint/2010/main" val="367547455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Các lệnh rẽ nhánh</a:t>
            </a:r>
          </a:p>
        </p:txBody>
      </p:sp>
      <p:sp>
        <p:nvSpPr>
          <p:cNvPr id="3" name="Content Placeholder 2"/>
          <p:cNvSpPr>
            <a:spLocks noGrp="1"/>
          </p:cNvSpPr>
          <p:nvPr>
            <p:ph idx="1"/>
          </p:nvPr>
        </p:nvSpPr>
        <p:spPr>
          <a:xfrm>
            <a:off x="304800" y="1371600"/>
            <a:ext cx="8686800" cy="5181600"/>
          </a:xfrm>
        </p:spPr>
        <p:txBody>
          <a:bodyPr>
            <a:normAutofit fontScale="70000" lnSpcReduction="20000"/>
          </a:bodyPr>
          <a:lstStyle/>
          <a:p>
            <a:pPr lvl="0"/>
            <a:r>
              <a:rPr lang="en-US"/>
              <a:t>Vòng </a:t>
            </a:r>
            <a:r>
              <a:rPr lang="en-US"/>
              <a:t>lặp</a:t>
            </a:r>
            <a:r>
              <a:rPr lang="en-US" smtClean="0"/>
              <a:t>:</a:t>
            </a:r>
          </a:p>
          <a:p>
            <a:pPr marL="0" indent="0">
              <a:buNone/>
            </a:pPr>
            <a:r>
              <a:rPr lang="en-US"/>
              <a:t>Giả sử ta có vòng lặp được thể hiện trong ngôn ngữ C như sau:</a:t>
            </a:r>
          </a:p>
          <a:p>
            <a:pPr marL="0" indent="0">
              <a:buNone/>
            </a:pPr>
            <a:r>
              <a:rPr lang="en-US"/>
              <a:t>	while (save[i]==k)</a:t>
            </a:r>
          </a:p>
          <a:p>
            <a:pPr marL="0" indent="0">
              <a:buNone/>
            </a:pPr>
            <a:r>
              <a:rPr lang="en-US"/>
              <a:t>		i +=1;</a:t>
            </a:r>
          </a:p>
          <a:p>
            <a:pPr marL="0" indent="0">
              <a:buNone/>
            </a:pPr>
            <a:r>
              <a:rPr lang="en-US"/>
              <a:t>Với các giá trị i,k lần lượt được lưu trong thanh ghi $s3,$s5 và địa chỉ của mảng save (mỗi phần tử mảng là một từ - word gồm 4 byte) được  lưu trong thanh ghi $s6. Các lệnh hợp ngữ tương ứng trong MIPS là:</a:t>
            </a:r>
          </a:p>
          <a:p>
            <a:pPr marL="0" indent="0">
              <a:buNone/>
            </a:pPr>
            <a:r>
              <a:rPr lang="en-US"/>
              <a:t>	Loop:	sll  $t1</a:t>
            </a:r>
            <a:r>
              <a:rPr lang="en-US"/>
              <a:t>,$</a:t>
            </a:r>
            <a:r>
              <a:rPr lang="en-US" smtClean="0"/>
              <a:t>s3,2</a:t>
            </a:r>
            <a:r>
              <a:rPr lang="en-US"/>
              <a:t>	# thanh ghi tạm $t1= i*4</a:t>
            </a:r>
          </a:p>
          <a:p>
            <a:pPr marL="0" indent="0">
              <a:buNone/>
            </a:pPr>
            <a:r>
              <a:rPr lang="en-US"/>
              <a:t>		add $t1,$t1,$s6</a:t>
            </a:r>
            <a:r>
              <a:rPr lang="en-US"/>
              <a:t>	</a:t>
            </a:r>
            <a:r>
              <a:rPr lang="en-US" smtClean="0"/>
              <a:t># </a:t>
            </a:r>
            <a:r>
              <a:rPr lang="en-US"/>
              <a:t>$t1 chứa địa chỉ của save[i]</a:t>
            </a:r>
          </a:p>
          <a:p>
            <a:pPr marL="0" indent="0">
              <a:buNone/>
            </a:pPr>
            <a:r>
              <a:rPr lang="en-US"/>
              <a:t>		lw $t0,0($t1)</a:t>
            </a:r>
            <a:r>
              <a:rPr lang="en-US"/>
              <a:t>	</a:t>
            </a:r>
            <a:r>
              <a:rPr lang="en-US" smtClean="0"/>
              <a:t># </a:t>
            </a:r>
            <a:r>
              <a:rPr lang="en-US"/>
              <a:t>thanh ghi tạm $t0 = save[i]</a:t>
            </a:r>
          </a:p>
          <a:p>
            <a:pPr marL="0" indent="0">
              <a:buNone/>
            </a:pPr>
            <a:r>
              <a:rPr lang="en-US"/>
              <a:t>		bne $t0</a:t>
            </a:r>
            <a:r>
              <a:rPr lang="en-US"/>
              <a:t>,$</a:t>
            </a:r>
            <a:r>
              <a:rPr lang="en-US" smtClean="0"/>
              <a:t>s5,Exit	# </a:t>
            </a:r>
            <a:r>
              <a:rPr lang="en-US"/>
              <a:t>nhảy đến nhãn Exit nếu save[i] ≠ k</a:t>
            </a:r>
          </a:p>
          <a:p>
            <a:pPr marL="0" indent="0">
              <a:buNone/>
            </a:pPr>
            <a:r>
              <a:rPr lang="en-US"/>
              <a:t>		addi $s3,$s3,1	# i = i+1</a:t>
            </a:r>
          </a:p>
          <a:p>
            <a:pPr marL="0" indent="0">
              <a:buNone/>
            </a:pPr>
            <a:r>
              <a:rPr lang="en-US"/>
              <a:t>		j  Loop		# lệnh nhảy không điều kiện</a:t>
            </a:r>
          </a:p>
          <a:p>
            <a:pPr marL="0" indent="0">
              <a:buNone/>
            </a:pPr>
            <a:r>
              <a:rPr lang="en-US"/>
              <a:t>	Exit:	…</a:t>
            </a:r>
          </a:p>
          <a:p>
            <a:pPr marL="0" indent="0">
              <a:buNone/>
            </a:pPr>
            <a:endParaRPr lang="en-US"/>
          </a:p>
        </p:txBody>
      </p:sp>
    </p:spTree>
    <p:extLst>
      <p:ext uri="{BB962C8B-B14F-4D97-AF65-F5344CB8AC3E}">
        <p14:creationId xmlns:p14="http://schemas.microsoft.com/office/powerpoint/2010/main" val="282364987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Giải mã ngôn ngữ máy</a:t>
            </a:r>
            <a:endParaRPr lang="en-US"/>
          </a:p>
        </p:txBody>
      </p:sp>
      <p:sp>
        <p:nvSpPr>
          <p:cNvPr id="3" name="Content Placeholder 2"/>
          <p:cNvSpPr>
            <a:spLocks noGrp="1"/>
          </p:cNvSpPr>
          <p:nvPr>
            <p:ph idx="1"/>
          </p:nvPr>
        </p:nvSpPr>
        <p:spPr>
          <a:xfrm>
            <a:off x="304800" y="1371600"/>
            <a:ext cx="8686800" cy="5181600"/>
          </a:xfrm>
        </p:spPr>
        <p:txBody>
          <a:bodyPr>
            <a:normAutofit/>
          </a:bodyPr>
          <a:lstStyle/>
          <a:p>
            <a:pPr lvl="0"/>
            <a:r>
              <a:rPr lang="en-US"/>
              <a:t>mã lệnh </a:t>
            </a:r>
            <a:r>
              <a:rPr lang="en-US" i="1"/>
              <a:t>op</a:t>
            </a:r>
            <a:r>
              <a:rPr lang="en-US"/>
              <a:t> của các </a:t>
            </a:r>
            <a:r>
              <a:rPr lang="en-US"/>
              <a:t>lệnh </a:t>
            </a:r>
            <a:r>
              <a:rPr lang="en-US" smtClean="0"/>
              <a:t>MIPS</a:t>
            </a:r>
          </a:p>
          <a:p>
            <a:pPr marL="0" lvl="0" indent="0">
              <a:buNone/>
            </a:pPr>
            <a:endParaRPr lang="en-US"/>
          </a:p>
        </p:txBody>
      </p:sp>
      <p:pic>
        <p:nvPicPr>
          <p:cNvPr id="4" name="Picture 3"/>
          <p:cNvPicPr/>
          <p:nvPr/>
        </p:nvPicPr>
        <p:blipFill rotWithShape="1">
          <a:blip r:embed="rId2"/>
          <a:srcRect l="10377" t="14768" r="6132" b="15759"/>
          <a:stretch/>
        </p:blipFill>
        <p:spPr bwMode="auto">
          <a:xfrm>
            <a:off x="990600" y="1905000"/>
            <a:ext cx="7282815" cy="4437698"/>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236052196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Giải mã ngôn ngữ máy</a:t>
            </a:r>
            <a:endParaRPr lang="en-US"/>
          </a:p>
        </p:txBody>
      </p:sp>
      <p:sp>
        <p:nvSpPr>
          <p:cNvPr id="3" name="Content Placeholder 2"/>
          <p:cNvSpPr>
            <a:spLocks noGrp="1"/>
          </p:cNvSpPr>
          <p:nvPr>
            <p:ph idx="1"/>
          </p:nvPr>
        </p:nvSpPr>
        <p:spPr>
          <a:xfrm>
            <a:off x="304800" y="1371600"/>
            <a:ext cx="8686800" cy="5181600"/>
          </a:xfrm>
        </p:spPr>
        <p:txBody>
          <a:bodyPr>
            <a:normAutofit/>
          </a:bodyPr>
          <a:lstStyle/>
          <a:p>
            <a:pPr lvl="0"/>
            <a:r>
              <a:rPr lang="en-US"/>
              <a:t>các giá trị </a:t>
            </a:r>
            <a:r>
              <a:rPr lang="en-US"/>
              <a:t>của </a:t>
            </a:r>
            <a:r>
              <a:rPr lang="en-US" smtClean="0"/>
              <a:t>trường </a:t>
            </a:r>
            <a:r>
              <a:rPr lang="en-US"/>
              <a:t>funct </a:t>
            </a:r>
            <a:r>
              <a:rPr lang="en-US"/>
              <a:t>với </a:t>
            </a:r>
            <a:r>
              <a:rPr lang="en-US" smtClean="0"/>
              <a:t>R-format</a:t>
            </a:r>
          </a:p>
          <a:p>
            <a:pPr marL="0" lvl="0" indent="0">
              <a:buNone/>
            </a:pPr>
            <a:endParaRPr lang="en-US"/>
          </a:p>
        </p:txBody>
      </p:sp>
      <p:pic>
        <p:nvPicPr>
          <p:cNvPr id="5" name="Picture 4"/>
          <p:cNvPicPr/>
          <p:nvPr/>
        </p:nvPicPr>
        <p:blipFill rotWithShape="1">
          <a:blip r:embed="rId2"/>
          <a:srcRect l="10754" t="23493" r="6604" b="22640"/>
          <a:stretch/>
        </p:blipFill>
        <p:spPr bwMode="auto">
          <a:xfrm>
            <a:off x="914400" y="1981200"/>
            <a:ext cx="7511415" cy="4373563"/>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398131426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Giải mã ngôn ngữ máy</a:t>
            </a:r>
            <a:endParaRPr lang="en-US"/>
          </a:p>
        </p:txBody>
      </p:sp>
      <p:sp>
        <p:nvSpPr>
          <p:cNvPr id="3" name="Content Placeholder 2"/>
          <p:cNvSpPr>
            <a:spLocks noGrp="1"/>
          </p:cNvSpPr>
          <p:nvPr>
            <p:ph idx="1"/>
          </p:nvPr>
        </p:nvSpPr>
        <p:spPr>
          <a:xfrm>
            <a:off x="304800" y="1371600"/>
            <a:ext cx="8686800" cy="5181600"/>
          </a:xfrm>
        </p:spPr>
        <p:txBody>
          <a:bodyPr>
            <a:normAutofit/>
          </a:bodyPr>
          <a:lstStyle/>
          <a:p>
            <a:r>
              <a:rPr lang="en-US" smtClean="0"/>
              <a:t>Ví dụ </a:t>
            </a:r>
            <a:r>
              <a:rPr lang="en-US"/>
              <a:t>có một lệnh mã máy như sau:</a:t>
            </a:r>
          </a:p>
          <a:p>
            <a:pPr marL="0" indent="0">
              <a:buNone/>
            </a:pPr>
            <a:r>
              <a:rPr lang="en-US"/>
              <a:t>		00af8020hex</a:t>
            </a:r>
          </a:p>
          <a:p>
            <a:pPr marL="0" indent="0">
              <a:buNone/>
            </a:pPr>
            <a:r>
              <a:rPr lang="en-US"/>
              <a:t>Lệnh hợp ngữ tương ứng là lệnh gì?</a:t>
            </a:r>
          </a:p>
          <a:p>
            <a:pPr marL="0" indent="0">
              <a:buNone/>
            </a:pPr>
            <a:r>
              <a:rPr lang="en-US" smtClean="0"/>
              <a:t>Để giải mã lệnh mã máy trên, đầu tiên chuyển các số hex sang nhị phân để xác định trường </a:t>
            </a:r>
            <a:r>
              <a:rPr lang="en-US" i="1" smtClean="0"/>
              <a:t>op</a:t>
            </a:r>
            <a:r>
              <a:rPr lang="en-US" smtClean="0"/>
              <a:t> có giá trị bao nhiêu.</a:t>
            </a:r>
          </a:p>
          <a:p>
            <a:pPr marL="0" indent="0">
              <a:buNone/>
            </a:pPr>
            <a:endParaRPr lang="en-US"/>
          </a:p>
        </p:txBody>
      </p:sp>
      <p:pic>
        <p:nvPicPr>
          <p:cNvPr id="6" name="Picture 5"/>
          <p:cNvPicPr/>
          <p:nvPr/>
        </p:nvPicPr>
        <p:blipFill rotWithShape="1">
          <a:blip r:embed="rId2"/>
          <a:srcRect l="32170" t="67962" r="18773" b="22137"/>
          <a:stretch/>
        </p:blipFill>
        <p:spPr bwMode="auto">
          <a:xfrm>
            <a:off x="1371600" y="5029200"/>
            <a:ext cx="5698490" cy="1111250"/>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391275165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Giải mã ngôn ngữ máy</a:t>
            </a:r>
            <a:endParaRPr lang="en-US"/>
          </a:p>
        </p:txBody>
      </p:sp>
      <p:sp>
        <p:nvSpPr>
          <p:cNvPr id="3" name="Content Placeholder 2"/>
          <p:cNvSpPr>
            <a:spLocks noGrp="1"/>
          </p:cNvSpPr>
          <p:nvPr>
            <p:ph idx="1"/>
          </p:nvPr>
        </p:nvSpPr>
        <p:spPr>
          <a:xfrm>
            <a:off x="304800" y="1371600"/>
            <a:ext cx="8686800" cy="5181600"/>
          </a:xfrm>
        </p:spPr>
        <p:txBody>
          <a:bodyPr>
            <a:normAutofit fontScale="92500" lnSpcReduction="20000"/>
          </a:bodyPr>
          <a:lstStyle/>
          <a:p>
            <a:pPr marL="0" indent="0">
              <a:buNone/>
            </a:pPr>
            <a:endParaRPr lang="en-US" smtClean="0"/>
          </a:p>
          <a:p>
            <a:pPr marL="0" indent="0">
              <a:buNone/>
            </a:pPr>
            <a:endParaRPr lang="en-US"/>
          </a:p>
          <a:p>
            <a:pPr marL="0" indent="0">
              <a:buNone/>
            </a:pPr>
            <a:r>
              <a:rPr lang="en-US"/>
              <a:t>trường </a:t>
            </a:r>
            <a:r>
              <a:rPr lang="en-US" i="1"/>
              <a:t>op</a:t>
            </a:r>
            <a:r>
              <a:rPr lang="en-US"/>
              <a:t> (6 bit) với các bit 29 → 31 có giá trị 000 và các bit 26 → 28 cũng có giá trị là 000. Do đó đây là một lệnh dạng R-format (xem bảng 2.2). Tiếp theo xác định giá trị của các trường còn lại của định dạng này.</a:t>
            </a:r>
          </a:p>
          <a:p>
            <a:pPr marL="0" indent="0">
              <a:buNone/>
            </a:pPr>
            <a:r>
              <a:rPr lang="en-US"/>
              <a:t>dựa vào trường </a:t>
            </a:r>
            <a:r>
              <a:rPr lang="en-US" i="1"/>
              <a:t>funct</a:t>
            </a:r>
            <a:r>
              <a:rPr lang="en-US"/>
              <a:t> với các bit 3 → 5 là 100 và các bit 0 → 2 là 000 nên lệnh này là </a:t>
            </a:r>
            <a:r>
              <a:rPr lang="en-US"/>
              <a:t>lệnh </a:t>
            </a:r>
            <a:r>
              <a:rPr lang="en-US" i="1" smtClean="0"/>
              <a:t>add</a:t>
            </a:r>
            <a:r>
              <a:rPr lang="en-US" smtClean="0"/>
              <a:t>. </a:t>
            </a:r>
            <a:r>
              <a:rPr lang="en-US"/>
              <a:t>Trường rs có giá trị 5 ($a1), trường rt có giá trị 15 ($t7) và trường rd có giá trị 16 ($s0) còn trường shamt không sử dụng (được thiết lập giá trị 0). Vậy lệnh hợp ngữ tương </a:t>
            </a:r>
            <a:r>
              <a:rPr lang="en-US"/>
              <a:t>ứng </a:t>
            </a:r>
            <a:r>
              <a:rPr lang="en-US" smtClean="0"/>
              <a:t>là:</a:t>
            </a:r>
          </a:p>
          <a:p>
            <a:pPr marL="0" indent="0">
              <a:buNone/>
            </a:pPr>
            <a:r>
              <a:rPr lang="en-US" smtClean="0"/>
              <a:t>add  </a:t>
            </a:r>
            <a:r>
              <a:rPr lang="en-US"/>
              <a:t>$s0,$a1,$t7</a:t>
            </a:r>
          </a:p>
          <a:p>
            <a:pPr marL="0" indent="0">
              <a:buNone/>
            </a:pPr>
            <a:endParaRPr lang="en-US"/>
          </a:p>
        </p:txBody>
      </p:sp>
      <p:pic>
        <p:nvPicPr>
          <p:cNvPr id="7" name="Picture 6"/>
          <p:cNvPicPr/>
          <p:nvPr/>
        </p:nvPicPr>
        <p:blipFill rotWithShape="1">
          <a:blip r:embed="rId2"/>
          <a:srcRect l="31793" t="60411" r="14475" b="29857"/>
          <a:stretch/>
        </p:blipFill>
        <p:spPr bwMode="auto">
          <a:xfrm>
            <a:off x="1981200" y="1371600"/>
            <a:ext cx="5421630" cy="800100"/>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184705742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104</TotalTime>
  <Words>846</Words>
  <Application>Microsoft Office PowerPoint</Application>
  <PresentationFormat>On-screen Show (4:3)</PresentationFormat>
  <Paragraphs>110</Paragraphs>
  <Slides>19</Slides>
  <Notes>0</Notes>
  <HiddenSlides>0</HiddenSlides>
  <MMClips>0</MMClips>
  <ScaleCrop>false</ScaleCrop>
  <HeadingPairs>
    <vt:vector size="4" baseType="variant">
      <vt:variant>
        <vt:lpstr>Theme</vt:lpstr>
      </vt:variant>
      <vt:variant>
        <vt:i4>1</vt:i4>
      </vt:variant>
      <vt:variant>
        <vt:lpstr>Slide Titles</vt:lpstr>
      </vt:variant>
      <vt:variant>
        <vt:i4>19</vt:i4>
      </vt:variant>
    </vt:vector>
  </HeadingPairs>
  <TitlesOfParts>
    <vt:vector size="20" baseType="lpstr">
      <vt:lpstr>Office Theme</vt:lpstr>
      <vt:lpstr>Chương 2 TẬP LỆNH VI XỬ LÝ </vt:lpstr>
      <vt:lpstr>Toán tử (operation)</vt:lpstr>
      <vt:lpstr>Toán tử (operation)</vt:lpstr>
      <vt:lpstr>Toán hạng (operand)</vt:lpstr>
      <vt:lpstr>Toán hạng (operand)</vt:lpstr>
      <vt:lpstr>Toán hạng (operand)</vt:lpstr>
      <vt:lpstr>Toán hạng (operand)</vt:lpstr>
      <vt:lpstr>Định dạng lệnh</vt:lpstr>
      <vt:lpstr>Định dạng lệnh</vt:lpstr>
      <vt:lpstr>Định dạng lệnh</vt:lpstr>
      <vt:lpstr>Định dạng lệnh</vt:lpstr>
      <vt:lpstr>Lệnh luận lý (logical operation)</vt:lpstr>
      <vt:lpstr>Lệnh luận lý (logical operation)</vt:lpstr>
      <vt:lpstr>Các lệnh rẽ nhánh</vt:lpstr>
      <vt:lpstr>Các lệnh rẽ nhánh</vt:lpstr>
      <vt:lpstr>Giải mã ngôn ngữ máy</vt:lpstr>
      <vt:lpstr>Giải mã ngôn ngữ máy</vt:lpstr>
      <vt:lpstr>Giải mã ngôn ngữ máy</vt:lpstr>
      <vt:lpstr>Giải mã ngôn ngữ máy</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Chương 2 TẬP LỆNH VI XỬ LÝ </dc:title>
  <dc:creator>SinhVien</dc:creator>
  <cp:lastModifiedBy>user</cp:lastModifiedBy>
  <cp:revision>16</cp:revision>
  <dcterms:created xsi:type="dcterms:W3CDTF">2006-08-16T00:00:00Z</dcterms:created>
  <dcterms:modified xsi:type="dcterms:W3CDTF">2015-10-26T12:01:11Z</dcterms:modified>
</cp:coreProperties>
</file>