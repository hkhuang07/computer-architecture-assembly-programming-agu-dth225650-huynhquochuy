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01" autoAdjust="0"/>
  </p:normalViewPr>
  <p:slideViewPr>
    <p:cSldViewPr>
      <p:cViewPr varScale="1">
        <p:scale>
          <a:sx n="103" d="100"/>
          <a:sy n="103" d="100"/>
        </p:scale>
        <p:origin x="-1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16/11/15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09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vi-VN"/>
              <a:t>Chương 3</a:t>
            </a:r>
            <a:br>
              <a:rPr lang="vi-VN"/>
            </a:br>
            <a:r>
              <a:rPr lang="vi-VN"/>
              <a:t>TỔ CHỨC BỘ XỬ LÝ</a:t>
            </a:r>
            <a:br>
              <a:rPr lang="vi-VN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05000"/>
            <a:ext cx="8458200" cy="45720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/>
              <a:t>Giới </a:t>
            </a:r>
            <a:r>
              <a:rPr lang="en-US" smtClean="0"/>
              <a:t>thiệu: </a:t>
            </a:r>
            <a:r>
              <a:rPr lang="en-US"/>
              <a:t>Trong chương này giới thiệu các nguyên lý và kỹ thuật được tổ chức trong bộ xử lý</a:t>
            </a:r>
            <a:r>
              <a:rPr lang="en-US" smtClean="0"/>
              <a:t>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/>
              <a:t>Các lệnh cơ bản được xem xét bao </a:t>
            </a:r>
            <a:r>
              <a:rPr lang="en-US" smtClean="0"/>
              <a:t>gồm:</a:t>
            </a:r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US" smtClean="0"/>
              <a:t>Các </a:t>
            </a:r>
            <a:r>
              <a:rPr lang="en-US"/>
              <a:t>lệnh tham chiếu bộ nhớ như: load word (lw) và store word (sw</a:t>
            </a:r>
            <a:r>
              <a:rPr lang="en-US" smtClean="0"/>
              <a:t>)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mtClean="0"/>
              <a:t>Các </a:t>
            </a:r>
            <a:r>
              <a:rPr lang="en-US"/>
              <a:t>lệnh số học và luận lý: add, sub, AND, OR và </a:t>
            </a:r>
            <a:r>
              <a:rPr lang="en-US" smtClean="0"/>
              <a:t>slt</a:t>
            </a:r>
          </a:p>
          <a:p>
            <a:pPr marL="914400" lvl="1" indent="-457200" algn="l">
              <a:buFont typeface="Wingdings" pitchFamily="2" charset="2"/>
              <a:buChar char="§"/>
            </a:pPr>
            <a:r>
              <a:rPr lang="en-US" smtClean="0"/>
              <a:t>Lệnh </a:t>
            </a:r>
            <a:r>
              <a:rPr lang="en-US"/>
              <a:t>so sánh bằng beq và lệnh nhảy j.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8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8229600" cy="1470025"/>
          </a:xfrm>
        </p:spPr>
        <p:txBody>
          <a:bodyPr>
            <a:normAutofit/>
          </a:bodyPr>
          <a:lstStyle/>
          <a:p>
            <a:r>
              <a:rPr lang="en-US"/>
              <a:t>Sơ đồ tổ chức tổng quát của MIPS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6415" t="19130" r="9811" b="18276"/>
          <a:stretch/>
        </p:blipFill>
        <p:spPr bwMode="auto">
          <a:xfrm>
            <a:off x="533400" y="1828800"/>
            <a:ext cx="8305800" cy="45719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689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8229600" cy="1470025"/>
          </a:xfrm>
        </p:spPr>
        <p:txBody>
          <a:bodyPr>
            <a:normAutofit/>
          </a:bodyPr>
          <a:lstStyle/>
          <a:p>
            <a:r>
              <a:rPr lang="vi-VN"/>
              <a:t>Đường dẫn dữ liệu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vi-VN" sz="2800"/>
              <a:t>Đường dẫn dữ liệu của ba loại lệnh cơ bản</a:t>
            </a:r>
            <a:endParaRPr lang="en-US" sz="280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21132" t="15271" r="16982" b="11731"/>
          <a:stretch/>
        </p:blipFill>
        <p:spPr bwMode="auto">
          <a:xfrm>
            <a:off x="838200" y="1855787"/>
            <a:ext cx="7097078" cy="48498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904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8229600" cy="1470025"/>
          </a:xfrm>
        </p:spPr>
        <p:txBody>
          <a:bodyPr>
            <a:normAutofit/>
          </a:bodyPr>
          <a:lstStyle/>
          <a:p>
            <a:r>
              <a:rPr lang="vi-VN" sz="4000"/>
              <a:t>Tổ chức bộ tính toán và luận lý (ALU)</a:t>
            </a:r>
            <a:endParaRPr lang="en-US" sz="4000"/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777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Bộ tính toán và luận lý (ALU) của bộ xử lý MIPS xác định các phép toán thực hiện dựa vào tính hiệu điều khiển 4-bit: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38868" t="35240" r="22076" b="36064"/>
          <a:stretch/>
        </p:blipFill>
        <p:spPr bwMode="auto">
          <a:xfrm>
            <a:off x="1752600" y="3048000"/>
            <a:ext cx="5854065" cy="28203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410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8229600" cy="1470025"/>
          </a:xfrm>
        </p:spPr>
        <p:txBody>
          <a:bodyPr>
            <a:normAutofit/>
          </a:bodyPr>
          <a:lstStyle/>
          <a:p>
            <a:r>
              <a:rPr lang="vi-VN" sz="4000"/>
              <a:t>Tổ chức bộ tính toán và luận lý (ALU)</a:t>
            </a:r>
            <a:endParaRPr lang="en-US" sz="4000"/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7772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Các tín hiệu điều khiển 4-bit của ALU có thể được tạo ra bằng mạch điều khiển đơn giản có tín hiệu nhập là các bit của trường funct cùng với 2-bit điều khiển đặc biệt (được gọi là ALUOp)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9811" t="31380" r="27170" b="28513"/>
          <a:stretch/>
        </p:blipFill>
        <p:spPr bwMode="auto">
          <a:xfrm>
            <a:off x="990600" y="3200400"/>
            <a:ext cx="7205028" cy="34201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9215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Ba định dạng lệnh R-type, load và store, branch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7264" t="18963" r="22736" b="33715"/>
          <a:stretch/>
        </p:blipFill>
        <p:spPr bwMode="auto">
          <a:xfrm>
            <a:off x="990600" y="2057400"/>
            <a:ext cx="7162800" cy="4191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26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Các tín hiệu điều khiển trong hệ </a:t>
            </a:r>
            <a:r>
              <a:rPr lang="en-US" sz="2800" smtClean="0"/>
              <a:t>thống: gồm có </a:t>
            </a:r>
            <a:r>
              <a:rPr lang="en-US" sz="2800"/>
              <a:t>bảy đường điều khiển 1-bít và một đường điều khiển ALUOp </a:t>
            </a:r>
            <a:r>
              <a:rPr lang="en-US" sz="2800" smtClean="0"/>
              <a:t>2-bit và </a:t>
            </a:r>
            <a:r>
              <a:rPr lang="en-US" sz="2800"/>
              <a:t>thiết bị bộ điều </a:t>
            </a:r>
            <a:r>
              <a:rPr lang="en-US" sz="2800" smtClean="0"/>
              <a:t>hợp (Multiplexor).</a:t>
            </a:r>
            <a:endParaRPr lang="en-US" sz="280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5378" t="16445" r="20095" b="10557"/>
          <a:stretch/>
        </p:blipFill>
        <p:spPr bwMode="auto">
          <a:xfrm>
            <a:off x="856673" y="2865061"/>
            <a:ext cx="7112000" cy="39090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6609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Các tín hiệu điều khiển của các dạng lệnh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3019" t="28930" r="8396" b="52579"/>
          <a:stretch/>
        </p:blipFill>
        <p:spPr bwMode="auto">
          <a:xfrm>
            <a:off x="990600" y="2438400"/>
            <a:ext cx="6756400" cy="30610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7015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Đường đi dữ liệu của dạng lệnh R-format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3301" t="17806" r="16038" b="14624"/>
          <a:stretch/>
        </p:blipFill>
        <p:spPr bwMode="auto">
          <a:xfrm>
            <a:off x="1143000" y="2209800"/>
            <a:ext cx="6429375" cy="42500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5020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Đường đi dữ liệu của lệnh load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9528" t="21132" r="15188" b="12327"/>
          <a:stretch/>
        </p:blipFill>
        <p:spPr bwMode="auto">
          <a:xfrm>
            <a:off x="1066800" y="2003286"/>
            <a:ext cx="7010400" cy="44737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86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1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80066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Đường đi dữ liệu của lệnh beq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6699" t="22013" r="18019" b="9686"/>
          <a:stretch/>
        </p:blipFill>
        <p:spPr bwMode="auto">
          <a:xfrm>
            <a:off x="990600" y="2024068"/>
            <a:ext cx="6722428" cy="45500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086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91" y="152400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/>
              <a:t>Bộ điều khiển chính (Main Control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27" y="12192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/>
              <a:t>Cuối cùng đối với lệnh nhảy không điều kiện j address, lệnh này có định dạng (opcode=2)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3580" t="68684" r="13585" b="24025"/>
          <a:stretch/>
        </p:blipFill>
        <p:spPr bwMode="auto">
          <a:xfrm>
            <a:off x="1699490" y="2057400"/>
            <a:ext cx="5306695" cy="5698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3"/>
          <a:srcRect l="19151" t="21635" r="14433" b="9560"/>
          <a:stretch/>
        </p:blipFill>
        <p:spPr bwMode="auto">
          <a:xfrm>
            <a:off x="600564" y="2627294"/>
            <a:ext cx="7781436" cy="42307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9607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r>
              <a:rPr lang="en-US" sz="4000" dirty="0"/>
              <a:t> </a:t>
            </a:r>
            <a:r>
              <a:rPr lang="en-US" sz="4000" dirty="0" err="1"/>
              <a:t>ống</a:t>
            </a:r>
            <a:r>
              <a:rPr lang="en-US" sz="4000" dirty="0"/>
              <a:t> </a:t>
            </a:r>
            <a:r>
              <a:rPr lang="en-US" sz="4000" dirty="0" err="1"/>
              <a:t>dẫn</a:t>
            </a:r>
            <a:r>
              <a:rPr lang="en-US" sz="4000" dirty="0"/>
              <a:t> (pipeline)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063" y="2438400"/>
            <a:ext cx="868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lệnh</a:t>
            </a:r>
            <a:r>
              <a:rPr lang="en-US" sz="3200" dirty="0"/>
              <a:t> MIPS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5 </a:t>
            </a:r>
            <a:r>
              <a:rPr lang="en-US" sz="3200" dirty="0" err="1"/>
              <a:t>bước</a:t>
            </a:r>
            <a:r>
              <a:rPr lang="en-US" sz="3200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/>
              <a:t>Duyệt</a:t>
            </a:r>
            <a:r>
              <a:rPr lang="en-US" sz="3200" dirty="0"/>
              <a:t> </a:t>
            </a:r>
            <a:r>
              <a:rPr lang="en-US" sz="3200" dirty="0" err="1"/>
              <a:t>lệnh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nhớ</a:t>
            </a:r>
            <a:endParaRPr lang="en-US" sz="32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/>
              <a:t>Giải</a:t>
            </a:r>
            <a:r>
              <a:rPr lang="en-US" sz="3200" dirty="0"/>
              <a:t> </a:t>
            </a:r>
            <a:r>
              <a:rPr lang="en-US" sz="3200" dirty="0" err="1"/>
              <a:t>mã</a:t>
            </a:r>
            <a:r>
              <a:rPr lang="en-US" sz="3200" dirty="0"/>
              <a:t> </a:t>
            </a:r>
            <a:r>
              <a:rPr lang="en-US" sz="3200" dirty="0" err="1"/>
              <a:t>lệnh</a:t>
            </a:r>
            <a:r>
              <a:rPr lang="en-US" sz="3200" dirty="0"/>
              <a:t>, </a:t>
            </a:r>
            <a:r>
              <a:rPr lang="en-US" sz="3200" dirty="0" err="1"/>
              <a:t>đồng</a:t>
            </a:r>
            <a:r>
              <a:rPr lang="en-US" sz="3200" dirty="0"/>
              <a:t> </a:t>
            </a:r>
            <a:r>
              <a:rPr lang="en-US" sz="3200" dirty="0" err="1"/>
              <a:t>thời</a:t>
            </a:r>
            <a:r>
              <a:rPr lang="en-US" sz="3200" dirty="0"/>
              <a:t> </a:t>
            </a:r>
            <a:r>
              <a:rPr lang="en-US" sz="3200" dirty="0" err="1"/>
              <a:t>đọc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endParaRPr lang="en-US" sz="32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thi</a:t>
            </a:r>
            <a:r>
              <a:rPr lang="en-US" sz="3200" dirty="0"/>
              <a:t> </a:t>
            </a:r>
            <a:r>
              <a:rPr lang="en-US" sz="3200" dirty="0" err="1"/>
              <a:t>lệnh</a:t>
            </a:r>
            <a:r>
              <a:rPr lang="en-US" sz="3200" dirty="0"/>
              <a:t> </a:t>
            </a:r>
            <a:r>
              <a:rPr lang="en-US" sz="3200" dirty="0" err="1"/>
              <a:t>hoặc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 err="1"/>
              <a:t>địa</a:t>
            </a:r>
            <a:r>
              <a:rPr lang="en-US" sz="3200" dirty="0"/>
              <a:t> </a:t>
            </a:r>
            <a:r>
              <a:rPr lang="en-US" sz="3200" dirty="0" err="1"/>
              <a:t>chỉ</a:t>
            </a:r>
            <a:endParaRPr lang="en-US" sz="32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/>
              <a:t>Truy</a:t>
            </a:r>
            <a:r>
              <a:rPr lang="en-US" sz="3200" dirty="0"/>
              <a:t> </a:t>
            </a:r>
            <a:r>
              <a:rPr lang="en-US" sz="3200" dirty="0" err="1"/>
              <a:t>cập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r>
              <a:rPr lang="en-US" sz="3200" dirty="0"/>
              <a:t> </a:t>
            </a:r>
            <a:r>
              <a:rPr lang="en-US" sz="3200" dirty="0" err="1"/>
              <a:t>hạng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nhớ</a:t>
            </a:r>
            <a:endParaRPr lang="en-US" sz="32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/>
              <a:t>Ghi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quả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946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r>
              <a:rPr lang="en-US" sz="4000" dirty="0"/>
              <a:t> </a:t>
            </a:r>
            <a:r>
              <a:rPr lang="en-US" sz="4000" dirty="0" err="1"/>
              <a:t>ống</a:t>
            </a:r>
            <a:r>
              <a:rPr lang="en-US" sz="4000" dirty="0"/>
              <a:t> </a:t>
            </a:r>
            <a:r>
              <a:rPr lang="en-US" sz="4000" dirty="0" err="1"/>
              <a:t>dẫn</a:t>
            </a:r>
            <a:r>
              <a:rPr lang="en-US" sz="4000" dirty="0"/>
              <a:t> (pipeline)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1752600"/>
            <a:ext cx="8686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3200" dirty="0" err="1"/>
              <a:t>Giả</a:t>
            </a:r>
            <a:r>
              <a:rPr lang="en-US" sz="3200" dirty="0"/>
              <a:t>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thời</a:t>
            </a:r>
            <a:r>
              <a:rPr lang="en-US" sz="3200" dirty="0"/>
              <a:t> </a:t>
            </a:r>
            <a:r>
              <a:rPr lang="en-US" sz="3200" dirty="0" err="1"/>
              <a:t>gian</a:t>
            </a:r>
            <a:r>
              <a:rPr lang="en-US" sz="3200" dirty="0"/>
              <a:t> </a:t>
            </a: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hiện</a:t>
            </a:r>
            <a:r>
              <a:rPr lang="en-US" sz="3200" dirty="0"/>
              <a:t> </a:t>
            </a:r>
            <a:r>
              <a:rPr lang="en-US" sz="3200" dirty="0" err="1"/>
              <a:t>từng</a:t>
            </a:r>
            <a:r>
              <a:rPr lang="en-US" sz="3200" dirty="0"/>
              <a:t> </a:t>
            </a:r>
            <a:r>
              <a:rPr lang="en-US" sz="3200" dirty="0" err="1"/>
              <a:t>thành</a:t>
            </a:r>
            <a:r>
              <a:rPr lang="en-US" sz="3200" dirty="0"/>
              <a:t> </a:t>
            </a:r>
            <a:r>
              <a:rPr lang="en-US" sz="3200" dirty="0" err="1"/>
              <a:t>phần</a:t>
            </a:r>
            <a:r>
              <a:rPr lang="en-US" sz="3200" dirty="0"/>
              <a:t> </a:t>
            </a:r>
            <a:r>
              <a:rPr lang="en-US" sz="3200" dirty="0" err="1"/>
              <a:t>như</a:t>
            </a:r>
            <a:r>
              <a:rPr lang="en-US" sz="3200" dirty="0"/>
              <a:t> </a:t>
            </a:r>
            <a:r>
              <a:rPr lang="en-US" sz="3200" dirty="0" err="1"/>
              <a:t>sau</a:t>
            </a:r>
            <a:r>
              <a:rPr lang="en-US" sz="3200" dirty="0"/>
              <a:t>: </a:t>
            </a:r>
            <a:r>
              <a:rPr lang="en-US" sz="3200" dirty="0" err="1"/>
              <a:t>thao</a:t>
            </a:r>
            <a:r>
              <a:rPr lang="en-US" sz="3200" dirty="0"/>
              <a:t> </a:t>
            </a:r>
            <a:r>
              <a:rPr lang="en-US" sz="3200" dirty="0" err="1"/>
              <a:t>tác</a:t>
            </a:r>
            <a:r>
              <a:rPr lang="en-US" sz="3200" dirty="0"/>
              <a:t> </a:t>
            </a:r>
            <a:r>
              <a:rPr lang="en-US" sz="3200" dirty="0" err="1"/>
              <a:t>truy</a:t>
            </a:r>
            <a:r>
              <a:rPr lang="en-US" sz="3200" dirty="0"/>
              <a:t> </a:t>
            </a:r>
            <a:r>
              <a:rPr lang="en-US" sz="3200" dirty="0" err="1"/>
              <a:t>cập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nhớ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200 </a:t>
            </a:r>
            <a:r>
              <a:rPr lang="en-US" sz="3200" dirty="0" err="1"/>
              <a:t>ps</a:t>
            </a:r>
            <a:r>
              <a:rPr lang="en-US" sz="3200" dirty="0"/>
              <a:t>,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phép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r>
              <a:rPr lang="en-US" sz="3200" dirty="0"/>
              <a:t> ALU </a:t>
            </a:r>
            <a:r>
              <a:rPr lang="en-US" sz="3200" dirty="0" err="1"/>
              <a:t>cần</a:t>
            </a:r>
            <a:r>
              <a:rPr lang="en-US" sz="3200" dirty="0"/>
              <a:t> 200 </a:t>
            </a:r>
            <a:r>
              <a:rPr lang="en-US" sz="3200" dirty="0" err="1"/>
              <a:t>ps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100 </a:t>
            </a:r>
            <a:r>
              <a:rPr lang="en-US" sz="3200" dirty="0" err="1"/>
              <a:t>ps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đọc</a:t>
            </a:r>
            <a:r>
              <a:rPr lang="en-US" sz="3200" dirty="0"/>
              <a:t> </a:t>
            </a:r>
            <a:r>
              <a:rPr lang="en-US" sz="3200" dirty="0" err="1"/>
              <a:t>hoặc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r>
              <a:rPr lang="en-US" sz="3200" dirty="0"/>
              <a:t> </a:t>
            </a:r>
            <a:r>
              <a:rPr lang="en-US" sz="3200" dirty="0" err="1"/>
              <a:t>vào</a:t>
            </a:r>
            <a:r>
              <a:rPr lang="en-US" sz="3200" dirty="0"/>
              <a:t> </a:t>
            </a:r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 smtClean="0"/>
              <a:t>ghi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2076" t="42624" r="26698" b="30358"/>
          <a:stretch/>
        </p:blipFill>
        <p:spPr bwMode="auto">
          <a:xfrm>
            <a:off x="990600" y="3814703"/>
            <a:ext cx="7279640" cy="26911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1166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r>
              <a:rPr lang="en-US" sz="4000" dirty="0"/>
              <a:t> </a:t>
            </a:r>
            <a:r>
              <a:rPr lang="en-US" sz="4000" dirty="0" err="1"/>
              <a:t>ống</a:t>
            </a:r>
            <a:r>
              <a:rPr lang="en-US" sz="4000" dirty="0"/>
              <a:t> </a:t>
            </a:r>
            <a:r>
              <a:rPr lang="en-US" sz="4000" dirty="0" err="1"/>
              <a:t>dẫn</a:t>
            </a:r>
            <a:r>
              <a:rPr lang="en-US" sz="4000" dirty="0"/>
              <a:t> (pipeline)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17526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 err="1"/>
              <a:t>Giả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chúng</a:t>
            </a:r>
            <a:r>
              <a:rPr lang="en-US" sz="2800" dirty="0"/>
              <a:t> ta </a:t>
            </a:r>
            <a:r>
              <a:rPr lang="en-US" sz="2800" dirty="0" err="1"/>
              <a:t>xét</a:t>
            </a:r>
            <a:r>
              <a:rPr lang="en-US" sz="2800" dirty="0"/>
              <a:t> 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ba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 err="1"/>
              <a:t>lw</a:t>
            </a:r>
            <a:r>
              <a:rPr lang="en-US" sz="2800" dirty="0"/>
              <a:t> $1,100($0)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 err="1"/>
              <a:t>lw</a:t>
            </a:r>
            <a:r>
              <a:rPr lang="en-US" sz="2800" dirty="0"/>
              <a:t> $2,200($0)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 err="1"/>
              <a:t>lw</a:t>
            </a:r>
            <a:r>
              <a:rPr lang="en-US" sz="2800" dirty="0"/>
              <a:t> $3,300($0</a:t>
            </a:r>
            <a:r>
              <a:rPr lang="en-US" sz="2800" dirty="0" smtClean="0"/>
              <a:t>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 err="1" smtClean="0"/>
              <a:t>Nếu</a:t>
            </a:r>
            <a:r>
              <a:rPr lang="en-US" sz="2800" dirty="0" smtClean="0"/>
              <a:t> </a:t>
            </a:r>
            <a:r>
              <a:rPr lang="en-US" sz="2800" dirty="0" err="1" smtClean="0"/>
              <a:t>ba</a:t>
            </a:r>
            <a:r>
              <a:rPr lang="en-US" sz="2800" dirty="0" smtClean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tuần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800 × 3 = 2400 </a:t>
            </a:r>
            <a:r>
              <a:rPr lang="en-US" sz="2800" dirty="0" err="1"/>
              <a:t>ps</a:t>
            </a:r>
            <a:r>
              <a:rPr lang="en-US" sz="2800" dirty="0"/>
              <a:t>,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 </a:t>
            </a:r>
            <a:r>
              <a:rPr lang="en-US" sz="2800" dirty="0" err="1"/>
              <a:t>giữa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800 ps.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ở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dưới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thấy</a:t>
            </a:r>
            <a:r>
              <a:rPr lang="en-US" sz="2800" dirty="0"/>
              <a:t>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ba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này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ống</a:t>
            </a:r>
            <a:r>
              <a:rPr lang="en-US" sz="2800" dirty="0"/>
              <a:t> </a:t>
            </a:r>
            <a:r>
              <a:rPr lang="en-US" sz="2800" dirty="0" err="1"/>
              <a:t>dẫn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1400 </a:t>
            </a:r>
            <a:r>
              <a:rPr lang="en-US" sz="2800" dirty="0" err="1"/>
              <a:t>ps</a:t>
            </a:r>
            <a:r>
              <a:rPr lang="en-US" sz="2800" dirty="0"/>
              <a:t>,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 </a:t>
            </a:r>
            <a:r>
              <a:rPr lang="en-US" sz="2800" dirty="0" err="1"/>
              <a:t>giữa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200 ps.</a:t>
            </a:r>
          </a:p>
        </p:txBody>
      </p:sp>
    </p:spTree>
    <p:extLst>
      <p:ext uri="{BB962C8B-B14F-4D97-AF65-F5344CB8AC3E}">
        <p14:creationId xmlns:p14="http://schemas.microsoft.com/office/powerpoint/2010/main" val="333305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257" y="228600"/>
            <a:ext cx="8610600" cy="1219200"/>
          </a:xfrm>
        </p:spPr>
        <p:txBody>
          <a:bodyPr>
            <a:normAutofit/>
          </a:bodyPr>
          <a:lstStyle/>
          <a:p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r>
              <a:rPr lang="en-US" sz="4000" dirty="0"/>
              <a:t> </a:t>
            </a:r>
            <a:r>
              <a:rPr lang="en-US" sz="4000" dirty="0" err="1"/>
              <a:t>ống</a:t>
            </a:r>
            <a:r>
              <a:rPr lang="en-US" sz="4000" dirty="0"/>
              <a:t> </a:t>
            </a:r>
            <a:r>
              <a:rPr lang="en-US" sz="4000" dirty="0" err="1"/>
              <a:t>dẫn</a:t>
            </a:r>
            <a:r>
              <a:rPr lang="en-US" sz="4000" dirty="0"/>
              <a:t> (pipeline)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8491" t="15606" r="11603" b="10557"/>
          <a:stretch/>
        </p:blipFill>
        <p:spPr bwMode="auto">
          <a:xfrm>
            <a:off x="304800" y="1609269"/>
            <a:ext cx="8591233" cy="49439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0704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2547" t="22995" r="9623" b="9198"/>
          <a:stretch/>
        </p:blipFill>
        <p:spPr bwMode="auto">
          <a:xfrm>
            <a:off x="0" y="1371600"/>
            <a:ext cx="9144000" cy="5181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447800" y="6366681"/>
            <a:ext cx="5943600" cy="501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/>
              <a:t>Các giai đoạn thực thi một lệnh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048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lw</a:t>
            </a:r>
            <a:r>
              <a:rPr lang="en-US" dirty="0" smtClean="0"/>
              <a:t> </a:t>
            </a:r>
            <a:r>
              <a:rPr lang="en-US" dirty="0"/>
              <a:t>$1,100($0)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 $2,200($0)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lw</a:t>
            </a:r>
            <a:r>
              <a:rPr lang="en-US" dirty="0"/>
              <a:t> $3,300($0)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99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29812" t="23702" r="12641" b="32665"/>
          <a:stretch/>
        </p:blipFill>
        <p:spPr bwMode="auto">
          <a:xfrm>
            <a:off x="228600" y="1219200"/>
            <a:ext cx="8534400" cy="541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5696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ở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1792" t="24411" r="7735" b="27712"/>
          <a:stretch/>
        </p:blipFill>
        <p:spPr bwMode="auto">
          <a:xfrm>
            <a:off x="1066800" y="2947883"/>
            <a:ext cx="6974840" cy="39055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6561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,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lênh</a:t>
            </a:r>
            <a:r>
              <a:rPr lang="en-US" dirty="0"/>
              <a:t> </a:t>
            </a:r>
            <a:r>
              <a:rPr lang="en-US" dirty="0" err="1"/>
              <a:t>lw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15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6793" t="21132" r="2076" b="12830"/>
          <a:stretch/>
        </p:blipFill>
        <p:spPr bwMode="auto">
          <a:xfrm>
            <a:off x="533400" y="2057400"/>
            <a:ext cx="8133080" cy="4800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4411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5095" t="22138" r="3963" b="11446"/>
          <a:stretch/>
        </p:blipFill>
        <p:spPr bwMode="auto">
          <a:xfrm>
            <a:off x="685800" y="1920873"/>
            <a:ext cx="8273733" cy="49371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78235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4339" t="21132" r="2830" b="10566"/>
          <a:stretch/>
        </p:blipFill>
        <p:spPr bwMode="auto">
          <a:xfrm>
            <a:off x="381000" y="1985560"/>
            <a:ext cx="8321358" cy="48895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73351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: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6321" t="22893" r="4434" b="11446"/>
          <a:stretch/>
        </p:blipFill>
        <p:spPr bwMode="auto">
          <a:xfrm>
            <a:off x="838200" y="2000250"/>
            <a:ext cx="7451725" cy="48577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2126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6320" t="24529" r="4056" b="11950"/>
          <a:stretch/>
        </p:blipFill>
        <p:spPr bwMode="auto">
          <a:xfrm>
            <a:off x="838200" y="1981199"/>
            <a:ext cx="8074660" cy="48779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3485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lw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6132" t="24025" r="4622" b="18239"/>
          <a:stretch/>
        </p:blipFill>
        <p:spPr bwMode="auto">
          <a:xfrm>
            <a:off x="838200" y="2743200"/>
            <a:ext cx="7377748" cy="39954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33095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dirty="0" err="1"/>
              <a:t>lw</a:t>
            </a:r>
            <a:r>
              <a:rPr lang="en-US" dirty="0"/>
              <a:t> $10, 20($1)</a:t>
            </a:r>
            <a:br>
              <a:rPr lang="en-US" dirty="0"/>
            </a:br>
            <a:r>
              <a:rPr lang="en-US" dirty="0"/>
              <a:t>sub $11, $2, $3</a:t>
            </a:r>
            <a:br>
              <a:rPr lang="en-US" dirty="0"/>
            </a:br>
            <a:r>
              <a:rPr lang="en-US" dirty="0"/>
              <a:t>add $12, $3, $4</a:t>
            </a:r>
            <a:br>
              <a:rPr lang="en-US" dirty="0"/>
            </a:br>
            <a:r>
              <a:rPr lang="en-US" dirty="0" err="1"/>
              <a:t>lw</a:t>
            </a:r>
            <a:r>
              <a:rPr lang="en-US" dirty="0"/>
              <a:t> $13, 24($1)</a:t>
            </a:r>
            <a:br>
              <a:rPr lang="en-US" dirty="0"/>
            </a:br>
            <a:r>
              <a:rPr lang="en-US" dirty="0"/>
              <a:t>add $14, $5, $6</a:t>
            </a:r>
          </a:p>
        </p:txBody>
      </p:sp>
    </p:spTree>
    <p:extLst>
      <p:ext uri="{BB962C8B-B14F-4D97-AF65-F5344CB8AC3E}">
        <p14:creationId xmlns:p14="http://schemas.microsoft.com/office/powerpoint/2010/main" val="2944986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.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6604" t="22264" r="12359" b="10692"/>
          <a:stretch/>
        </p:blipFill>
        <p:spPr bwMode="auto">
          <a:xfrm>
            <a:off x="838200" y="2664725"/>
            <a:ext cx="7691755" cy="40805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569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5 (CC5)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5377" t="22138" r="6320" b="11446"/>
          <a:stretch/>
        </p:blipFill>
        <p:spPr bwMode="auto">
          <a:xfrm>
            <a:off x="533400" y="2143219"/>
            <a:ext cx="7848600" cy="44099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7011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3961" t="15270" r="12547" b="11617"/>
          <a:stretch/>
        </p:blipFill>
        <p:spPr bwMode="auto">
          <a:xfrm>
            <a:off x="457200" y="2286000"/>
            <a:ext cx="7550150" cy="44005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1449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ALU control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1699" t="17956" r="15377" b="44287"/>
          <a:stretch/>
        </p:blipFill>
        <p:spPr bwMode="auto">
          <a:xfrm>
            <a:off x="381000" y="1981200"/>
            <a:ext cx="8077200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4254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8585" t="42624" r="10755" b="25492"/>
          <a:stretch/>
        </p:blipFill>
        <p:spPr bwMode="auto">
          <a:xfrm>
            <a:off x="1066800" y="2895600"/>
            <a:ext cx="7501573" cy="33651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49894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 smtClean="0"/>
              <a:t>cùng</a:t>
            </a:r>
            <a:r>
              <a:rPr lang="en-US" dirty="0"/>
              <a:t>: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0849" t="14935" r="24245" b="13242"/>
          <a:stretch/>
        </p:blipFill>
        <p:spPr bwMode="auto">
          <a:xfrm>
            <a:off x="914400" y="2514600"/>
            <a:ext cx="6820535" cy="3791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84287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1148" y="10668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9469" t="14599" r="20949" b="11264"/>
          <a:stretch/>
        </p:blipFill>
        <p:spPr bwMode="auto">
          <a:xfrm>
            <a:off x="1371600" y="2155507"/>
            <a:ext cx="6850380" cy="47024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4211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922</Words>
  <Application>Microsoft Office PowerPoint</Application>
  <PresentationFormat>On-screen Show (4:3)</PresentationFormat>
  <Paragraphs>79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Chương 3 TỔ CHỨC BỘ XỬ LÝ </vt:lpstr>
      <vt:lpstr>Sơ đồ tổ chức tổng quát của MIPS</vt:lpstr>
      <vt:lpstr>Đường dẫn dữ liệu</vt:lpstr>
      <vt:lpstr>Tổ chức bộ tính toán và luận lý (ALU)</vt:lpstr>
      <vt:lpstr>Tổ chức bộ tính toán và luận lý (ALU)</vt:lpstr>
      <vt:lpstr>Bộ điều khiển chính (Main Control Unit)</vt:lpstr>
      <vt:lpstr>Bộ điều khiển chính (Main Control Unit)</vt:lpstr>
      <vt:lpstr>Bộ điều khiển chính (Main Control Unit)</vt:lpstr>
      <vt:lpstr>Bộ điều khiển chính (Main Control Unit)</vt:lpstr>
      <vt:lpstr>Bộ điều khiển chính (Main Control Unit)</vt:lpstr>
      <vt:lpstr>Bộ điều khiển chính (Main Control Unit)</vt:lpstr>
      <vt:lpstr>Bộ điều khiển chính (Main Control Unit)</vt:lpstr>
      <vt:lpstr>Kỹ thuật ống dẫn (pipeline)</vt:lpstr>
      <vt:lpstr>Kỹ thuật ống dẫn (pipeline)</vt:lpstr>
      <vt:lpstr>Kỹ thuật ống dẫn (pipeline)</vt:lpstr>
      <vt:lpstr>Kỹ thuật ống dẫn (pipeline)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Đường đi dữ liệu của kỹ thuật ống dẫn</vt:lpstr>
      <vt:lpstr>Điều khiển trong kỹ thuật ống dẫn</vt:lpstr>
      <vt:lpstr>Điều khiển trong kỹ thuật ống dẫn</vt:lpstr>
      <vt:lpstr>Điều khiển trong kỹ thuật ống dẫn</vt:lpstr>
      <vt:lpstr>Điều khiển trong kỹ thuật ống dẫn</vt:lpstr>
      <vt:lpstr>Điều khiển trong kỹ thuật ống dẫn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 TỔ CHỨC BỘ XỬ LÝ </dc:title>
  <dc:creator>SinhVien</dc:creator>
  <cp:lastModifiedBy>SinhVien</cp:lastModifiedBy>
  <cp:revision>9</cp:revision>
  <dcterms:created xsi:type="dcterms:W3CDTF">2006-08-16T00:00:00Z</dcterms:created>
  <dcterms:modified xsi:type="dcterms:W3CDTF">2015-11-16T01:16:32Z</dcterms:modified>
</cp:coreProperties>
</file>