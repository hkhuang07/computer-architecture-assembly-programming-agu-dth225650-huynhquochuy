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72" autoAdjust="0"/>
  </p:normalViewPr>
  <p:slideViewPr>
    <p:cSldViewPr>
      <p:cViewPr varScale="1">
        <p:scale>
          <a:sx n="69" d="100"/>
          <a:sy n="69" d="100"/>
        </p:scale>
        <p:origin x="-13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04800"/>
            <a:ext cx="7772400" cy="1470025"/>
          </a:xfrm>
        </p:spPr>
        <p:txBody>
          <a:bodyPr/>
          <a:lstStyle/>
          <a:p>
            <a:r>
              <a:rPr lang="en-US" smtClean="0"/>
              <a:t>Chương 4: Bộ nhớ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28800"/>
            <a:ext cx="6400800" cy="3810000"/>
          </a:xfrm>
        </p:spPr>
        <p:txBody>
          <a:bodyPr>
            <a:normAutofit/>
          </a:bodyPr>
          <a:lstStyle/>
          <a:p>
            <a:pPr marL="457200" indent="-457200" algn="l">
              <a:buFont typeface="Wingdings" pitchFamily="2" charset="2"/>
              <a:buChar char="Ø"/>
            </a:pPr>
            <a:r>
              <a:rPr lang="en-US" smtClean="0"/>
              <a:t>Một </a:t>
            </a:r>
            <a:r>
              <a:rPr lang="en-US"/>
              <a:t>số khái niệm đặc trưng cho hoạt động của bộ nhớ</a:t>
            </a:r>
            <a:r>
              <a:rPr lang="en-US" smtClean="0"/>
              <a:t>.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/>
              <a:t>N</a:t>
            </a:r>
            <a:r>
              <a:rPr lang="en-US" smtClean="0"/>
              <a:t>guyên </a:t>
            </a:r>
            <a:r>
              <a:rPr lang="en-US"/>
              <a:t>lý hoạt động của  bộ nhớ </a:t>
            </a:r>
            <a:r>
              <a:rPr lang="en-US" smtClean="0"/>
              <a:t>cache.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mtClean="0"/>
              <a:t> Nguyên lý hoạt </a:t>
            </a:r>
            <a:r>
              <a:rPr lang="en-US"/>
              <a:t>động của bộ nhớ ảo trong hệ thống máy </a:t>
            </a:r>
            <a:r>
              <a:rPr lang="en-US" smtClean="0"/>
              <a:t>tính.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5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Giới thiệu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943600"/>
            <a:ext cx="8229600" cy="609600"/>
          </a:xfrm>
        </p:spPr>
        <p:txBody>
          <a:bodyPr/>
          <a:lstStyle/>
          <a:p>
            <a:pPr marL="0" indent="0" algn="ctr">
              <a:buNone/>
            </a:pPr>
            <a:r>
              <a:rPr lang="en-US"/>
              <a:t>Cấu trúc của cấp bậc bộ nhớ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35181" r="20242" b="23387"/>
          <a:stretch/>
        </p:blipFill>
        <p:spPr bwMode="auto">
          <a:xfrm>
            <a:off x="1207971" y="1676400"/>
            <a:ext cx="6410633" cy="4041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048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1470025"/>
          </a:xfrm>
        </p:spPr>
        <p:txBody>
          <a:bodyPr/>
          <a:lstStyle/>
          <a:p>
            <a:r>
              <a:rPr lang="en-US" smtClean="0"/>
              <a:t>Bộ nhớ cache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5029200"/>
            <a:ext cx="6400800" cy="990600"/>
          </a:xfrm>
        </p:spPr>
        <p:txBody>
          <a:bodyPr>
            <a:normAutofit lnSpcReduction="10000"/>
          </a:bodyPr>
          <a:lstStyle/>
          <a:p>
            <a:r>
              <a:rPr lang="en-US"/>
              <a:t>Bộ nhớ Cache trước và sau khi CPU tham khảo từ X</a:t>
            </a:r>
            <a:r>
              <a:rPr lang="en-US" baseline="-25000"/>
              <a:t>n</a:t>
            </a:r>
            <a:endParaRPr lang="en-US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38585" t="24411" r="21698" b="42217"/>
          <a:stretch/>
        </p:blipFill>
        <p:spPr bwMode="auto">
          <a:xfrm>
            <a:off x="2099109" y="1371600"/>
            <a:ext cx="4777422" cy="37271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39454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1"/>
            <a:ext cx="7772400" cy="1219200"/>
          </a:xfrm>
        </p:spPr>
        <p:txBody>
          <a:bodyPr/>
          <a:lstStyle/>
          <a:p>
            <a:r>
              <a:rPr lang="en-US" smtClean="0"/>
              <a:t>Bộ nhớ cache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905000"/>
            <a:ext cx="7848600" cy="2971800"/>
          </a:xfrm>
        </p:spPr>
        <p:txBody>
          <a:bodyPr>
            <a:normAutofit fontScale="85000" lnSpcReduction="10000"/>
          </a:bodyPr>
          <a:lstStyle/>
          <a:p>
            <a:pPr marL="457200" indent="-457200" algn="l">
              <a:buFont typeface="Wingdings" pitchFamily="2" charset="2"/>
              <a:buChar char="Ø"/>
            </a:pPr>
            <a:r>
              <a:rPr lang="en-US" sz="4100"/>
              <a:t>Mô hình đơn giản nhất thường được sử dụng là ánh xạ trực </a:t>
            </a:r>
            <a:r>
              <a:rPr lang="en-US" sz="4100" smtClean="0"/>
              <a:t>tiếp: ánh </a:t>
            </a:r>
            <a:r>
              <a:rPr lang="en-US" sz="4100"/>
              <a:t>xạ địa chỉ bộ nhớ của một khối sang chính xác một vị trí trong </a:t>
            </a:r>
            <a:r>
              <a:rPr lang="en-US" sz="4100" smtClean="0"/>
              <a:t>cache </a:t>
            </a:r>
            <a:r>
              <a:rPr lang="en-US" sz="4100"/>
              <a:t>theo công thức</a:t>
            </a:r>
            <a:r>
              <a:rPr lang="en-US" sz="4100" smtClean="0"/>
              <a:t>:</a:t>
            </a:r>
          </a:p>
          <a:p>
            <a:pPr algn="l"/>
            <a:endParaRPr lang="en-US" sz="2800"/>
          </a:p>
          <a:p>
            <a:r>
              <a:rPr lang="en-US" sz="3100"/>
              <a:t>(địa chỉ khối trong bộ nhớ) modulo (số khối trong cache)</a:t>
            </a:r>
          </a:p>
        </p:txBody>
      </p:sp>
    </p:spTree>
    <p:extLst>
      <p:ext uri="{BB962C8B-B14F-4D97-AF65-F5344CB8AC3E}">
        <p14:creationId xmlns:p14="http://schemas.microsoft.com/office/powerpoint/2010/main" val="625393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1"/>
            <a:ext cx="7772400" cy="1219200"/>
          </a:xfrm>
        </p:spPr>
        <p:txBody>
          <a:bodyPr/>
          <a:lstStyle/>
          <a:p>
            <a:r>
              <a:rPr lang="en-US" smtClean="0"/>
              <a:t>Bộ nhớ cache</a:t>
            </a:r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71600" y="5334000"/>
            <a:ext cx="6400800" cy="1219200"/>
          </a:xfrm>
        </p:spPr>
        <p:txBody>
          <a:bodyPr/>
          <a:lstStyle/>
          <a:p>
            <a:r>
              <a:rPr lang="en-US"/>
              <a:t>Ánh xạ trực tiếp từ bộ nhớ sang cache có 8 khối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13963" t="14432" r="28302" b="16430"/>
          <a:stretch/>
        </p:blipFill>
        <p:spPr bwMode="auto">
          <a:xfrm>
            <a:off x="1371600" y="1219200"/>
            <a:ext cx="5997258" cy="40189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47552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1"/>
            <a:ext cx="7772400" cy="1219200"/>
          </a:xfrm>
        </p:spPr>
        <p:txBody>
          <a:bodyPr/>
          <a:lstStyle/>
          <a:p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cập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nhớ</a:t>
            </a:r>
            <a:r>
              <a:rPr lang="en-US" dirty="0" smtClean="0"/>
              <a:t> cache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71600" y="5334000"/>
            <a:ext cx="6705600" cy="1219200"/>
          </a:xfrm>
        </p:spPr>
        <p:txBody>
          <a:bodyPr/>
          <a:lstStyle/>
          <a:p>
            <a:r>
              <a:rPr lang="en-US" dirty="0"/>
              <a:t>CPU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lượt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9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93" t="34325" r="16224" b="14394"/>
          <a:stretch/>
        </p:blipFill>
        <p:spPr bwMode="auto">
          <a:xfrm>
            <a:off x="381000" y="1281545"/>
            <a:ext cx="8367309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8410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1"/>
            <a:ext cx="7772400" cy="1219200"/>
          </a:xfrm>
        </p:spPr>
        <p:txBody>
          <a:bodyPr/>
          <a:lstStyle/>
          <a:p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305800" cy="49530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: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đồng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: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cache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.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đệm</a:t>
            </a:r>
            <a:r>
              <a:rPr lang="en-US" dirty="0" smtClean="0"/>
              <a:t>: 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đệm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.</a:t>
            </a:r>
            <a:endParaRPr lang="en-US" dirty="0" smtClean="0"/>
          </a:p>
          <a:p>
            <a:pPr marL="457200" indent="-457200" algn="l">
              <a:buFont typeface="Wingdings" pitchFamily="2" charset="2"/>
              <a:buChar char="Ø"/>
            </a:pP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: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,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cache.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1308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182" y="304800"/>
            <a:ext cx="8839200" cy="12192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ĐO LƯỜNG VÀ CẢI TIẾN HIỆU SUẤT CACHE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91" y="2209800"/>
            <a:ext cx="8674547" cy="1163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46" y="3962400"/>
            <a:ext cx="9144000" cy="1338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3242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182" y="304800"/>
            <a:ext cx="8839200" cy="12192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ĐO LƯỜNG VÀ CẢI TIẾN HIỆU SUẤT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600200"/>
            <a:ext cx="8382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 smtClean="0"/>
              <a:t>Ví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dụ</a:t>
            </a:r>
            <a:r>
              <a:rPr lang="en-US" sz="2800" dirty="0" smtClean="0"/>
              <a:t>:</a:t>
            </a:r>
          </a:p>
          <a:p>
            <a:r>
              <a:rPr lang="en-US" sz="2800" dirty="0" err="1" smtClean="0"/>
              <a:t>Xét</a:t>
            </a:r>
            <a:r>
              <a:rPr lang="en-US" sz="2800" dirty="0" smtClean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hệ</a:t>
            </a:r>
            <a:r>
              <a:rPr lang="en-US" sz="2800" dirty="0"/>
              <a:t> </a:t>
            </a:r>
            <a:r>
              <a:rPr lang="en-US" sz="2800" dirty="0" err="1"/>
              <a:t>thống</a:t>
            </a:r>
            <a:r>
              <a:rPr lang="en-US" sz="2800" dirty="0"/>
              <a:t> </a:t>
            </a:r>
            <a:r>
              <a:rPr lang="en-US" sz="2800" dirty="0" err="1"/>
              <a:t>tỷ</a:t>
            </a:r>
            <a:r>
              <a:rPr lang="en-US" sz="2800" dirty="0"/>
              <a:t> </a:t>
            </a:r>
            <a:r>
              <a:rPr lang="en-US" sz="2800" dirty="0" err="1"/>
              <a:t>lệ</a:t>
            </a:r>
            <a:r>
              <a:rPr lang="en-US" sz="2800" dirty="0"/>
              <a:t> </a:t>
            </a:r>
            <a:r>
              <a:rPr lang="en-US" sz="2800" dirty="0" err="1"/>
              <a:t>thất</a:t>
            </a:r>
            <a:r>
              <a:rPr lang="en-US" sz="2800" dirty="0"/>
              <a:t> </a:t>
            </a:r>
            <a:r>
              <a:rPr lang="en-US" sz="2800" dirty="0" err="1"/>
              <a:t>bại</a:t>
            </a:r>
            <a:r>
              <a:rPr lang="en-US" sz="2800" dirty="0"/>
              <a:t> (</a:t>
            </a:r>
            <a:r>
              <a:rPr lang="en-US" sz="2800" i="1" dirty="0"/>
              <a:t>miss rate</a:t>
            </a:r>
            <a:r>
              <a:rPr lang="en-US" sz="2800" dirty="0"/>
              <a:t>) </a:t>
            </a:r>
            <a:r>
              <a:rPr lang="en-US" sz="2800" dirty="0" err="1"/>
              <a:t>của</a:t>
            </a:r>
            <a:r>
              <a:rPr lang="en-US" sz="2800" dirty="0"/>
              <a:t> cache </a:t>
            </a:r>
            <a:r>
              <a:rPr lang="en-US" sz="2800" dirty="0" err="1"/>
              <a:t>lệnh</a:t>
            </a:r>
            <a:r>
              <a:rPr lang="en-US" sz="2800" dirty="0"/>
              <a:t> (</a:t>
            </a:r>
            <a:r>
              <a:rPr lang="en-US" sz="2800" i="1" dirty="0"/>
              <a:t>instruction cache</a:t>
            </a:r>
            <a:r>
              <a:rPr lang="en-US" sz="2800" dirty="0"/>
              <a:t>) </a:t>
            </a:r>
            <a:r>
              <a:rPr lang="en-US" sz="2800" dirty="0" err="1"/>
              <a:t>là</a:t>
            </a:r>
            <a:r>
              <a:rPr lang="en-US" sz="2800" dirty="0"/>
              <a:t> 2%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cache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(</a:t>
            </a:r>
            <a:r>
              <a:rPr lang="en-US" sz="2800" i="1" dirty="0"/>
              <a:t>data cache</a:t>
            </a:r>
            <a:r>
              <a:rPr lang="en-US" sz="2800" dirty="0"/>
              <a:t>) </a:t>
            </a:r>
            <a:r>
              <a:rPr lang="en-US" sz="2800" dirty="0" err="1"/>
              <a:t>là</a:t>
            </a:r>
            <a:r>
              <a:rPr lang="en-US" sz="2800" dirty="0"/>
              <a:t> 4%. </a:t>
            </a:r>
            <a:r>
              <a:rPr lang="en-US" sz="2800" dirty="0" err="1"/>
              <a:t>Giả</a:t>
            </a:r>
            <a:r>
              <a:rPr lang="en-US" sz="2800" dirty="0"/>
              <a:t> </a:t>
            </a:r>
            <a:r>
              <a:rPr lang="en-US" sz="2800" dirty="0" err="1"/>
              <a:t>sử</a:t>
            </a:r>
            <a:r>
              <a:rPr lang="en-US" sz="2800" dirty="0"/>
              <a:t> CPU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trường</a:t>
            </a:r>
            <a:r>
              <a:rPr lang="en-US" sz="2800" dirty="0"/>
              <a:t> </a:t>
            </a:r>
            <a:r>
              <a:rPr lang="en-US" sz="2800" dirty="0" err="1"/>
              <a:t>hợp</a:t>
            </a:r>
            <a:r>
              <a:rPr lang="en-US" sz="2800" dirty="0"/>
              <a:t>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trì</a:t>
            </a:r>
            <a:r>
              <a:rPr lang="en-US" sz="2800" dirty="0"/>
              <a:t> </a:t>
            </a:r>
            <a:r>
              <a:rPr lang="en-US" sz="2800" dirty="0" err="1"/>
              <a:t>hoãn</a:t>
            </a:r>
            <a:r>
              <a:rPr lang="en-US" sz="2800" dirty="0"/>
              <a:t> </a:t>
            </a:r>
            <a:r>
              <a:rPr lang="en-US" sz="2800" dirty="0" err="1"/>
              <a:t>bộ</a:t>
            </a:r>
            <a:r>
              <a:rPr lang="en-US" sz="2800" dirty="0"/>
              <a:t> </a:t>
            </a:r>
            <a:r>
              <a:rPr lang="en-US" sz="2800" dirty="0" err="1"/>
              <a:t>nhớ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CPI </a:t>
            </a:r>
            <a:r>
              <a:rPr lang="en-US" sz="2800" dirty="0" err="1"/>
              <a:t>là</a:t>
            </a:r>
            <a:r>
              <a:rPr lang="en-US" sz="2800" dirty="0"/>
              <a:t> 2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trừng</a:t>
            </a:r>
            <a:r>
              <a:rPr lang="en-US" sz="2800" dirty="0"/>
              <a:t> </a:t>
            </a:r>
            <a:r>
              <a:rPr lang="en-US" sz="2800" dirty="0" err="1"/>
              <a:t>phạt</a:t>
            </a:r>
            <a:r>
              <a:rPr lang="en-US" sz="2800" dirty="0"/>
              <a:t> </a:t>
            </a:r>
            <a:r>
              <a:rPr lang="en-US" sz="2800" dirty="0" err="1"/>
              <a:t>thất</a:t>
            </a:r>
            <a:r>
              <a:rPr lang="en-US" sz="2800" dirty="0"/>
              <a:t> </a:t>
            </a:r>
            <a:r>
              <a:rPr lang="en-US" sz="2800" dirty="0" err="1"/>
              <a:t>bại</a:t>
            </a:r>
            <a:r>
              <a:rPr lang="en-US" sz="2800" dirty="0"/>
              <a:t>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thao</a:t>
            </a:r>
            <a:r>
              <a:rPr lang="en-US" sz="2800" dirty="0"/>
              <a:t> </a:t>
            </a:r>
            <a:r>
              <a:rPr lang="en-US" sz="2800" dirty="0" err="1"/>
              <a:t>tác</a:t>
            </a:r>
            <a:r>
              <a:rPr lang="en-US" sz="2800" dirty="0"/>
              <a:t> </a:t>
            </a:r>
            <a:r>
              <a:rPr lang="en-US" sz="2800" dirty="0" err="1"/>
              <a:t>đọc</a:t>
            </a:r>
            <a:r>
              <a:rPr lang="en-US" sz="2800" dirty="0"/>
              <a:t> </a:t>
            </a:r>
            <a:r>
              <a:rPr lang="en-US" sz="2800" dirty="0" err="1"/>
              <a:t>hoặc</a:t>
            </a:r>
            <a:r>
              <a:rPr lang="en-US" sz="2800" dirty="0"/>
              <a:t> </a:t>
            </a:r>
            <a:r>
              <a:rPr lang="en-US" sz="2800" dirty="0" err="1"/>
              <a:t>ghi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100 </a:t>
            </a:r>
            <a:r>
              <a:rPr lang="en-US" sz="2800" dirty="0" err="1"/>
              <a:t>chu</a:t>
            </a:r>
            <a:r>
              <a:rPr lang="en-US" sz="2800" dirty="0"/>
              <a:t> </a:t>
            </a:r>
            <a:r>
              <a:rPr lang="en-US" sz="2800" dirty="0" err="1"/>
              <a:t>kỳ</a:t>
            </a:r>
            <a:r>
              <a:rPr lang="en-US" sz="2800" dirty="0"/>
              <a:t>. </a:t>
            </a:r>
            <a:r>
              <a:rPr lang="en-US" sz="2800" dirty="0" err="1"/>
              <a:t>Hãy</a:t>
            </a:r>
            <a:r>
              <a:rPr lang="en-US" sz="2800" dirty="0"/>
              <a:t> </a:t>
            </a:r>
            <a:r>
              <a:rPr lang="en-US" sz="2800" dirty="0" err="1"/>
              <a:t>xác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r>
              <a:rPr lang="en-US" sz="2800" dirty="0"/>
              <a:t> CPU </a:t>
            </a:r>
            <a:r>
              <a:rPr lang="en-US" sz="2800" dirty="0" err="1"/>
              <a:t>nhanh</a:t>
            </a:r>
            <a:r>
              <a:rPr lang="en-US" sz="2800" dirty="0"/>
              <a:t> </a:t>
            </a:r>
            <a:r>
              <a:rPr lang="en-US" sz="2800" dirty="0" err="1"/>
              <a:t>hơn</a:t>
            </a:r>
            <a:r>
              <a:rPr lang="en-US" sz="2800" dirty="0"/>
              <a:t> </a:t>
            </a:r>
            <a:r>
              <a:rPr lang="en-US" sz="2800" dirty="0" err="1"/>
              <a:t>bao</a:t>
            </a:r>
            <a:r>
              <a:rPr lang="en-US" sz="2800" dirty="0"/>
              <a:t> </a:t>
            </a:r>
            <a:r>
              <a:rPr lang="en-US" sz="2800" dirty="0" err="1"/>
              <a:t>nhiêu</a:t>
            </a:r>
            <a:r>
              <a:rPr lang="en-US" sz="2800" dirty="0"/>
              <a:t> </a:t>
            </a:r>
            <a:r>
              <a:rPr lang="en-US" sz="2800" dirty="0" err="1"/>
              <a:t>lần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trường</a:t>
            </a:r>
            <a:r>
              <a:rPr lang="en-US" sz="2800" dirty="0"/>
              <a:t> </a:t>
            </a:r>
            <a:r>
              <a:rPr lang="en-US" sz="2800" dirty="0" err="1"/>
              <a:t>hợp</a:t>
            </a:r>
            <a:r>
              <a:rPr lang="en-US" sz="2800" dirty="0"/>
              <a:t> cache </a:t>
            </a:r>
            <a:r>
              <a:rPr lang="en-US" sz="2800" dirty="0" err="1"/>
              <a:t>hoàn</a:t>
            </a:r>
            <a:r>
              <a:rPr lang="en-US" sz="2800" dirty="0"/>
              <a:t> </a:t>
            </a:r>
            <a:r>
              <a:rPr lang="en-US" sz="2800" dirty="0" err="1"/>
              <a:t>hảo</a:t>
            </a:r>
            <a:r>
              <a:rPr lang="en-US" sz="2800" dirty="0"/>
              <a:t> (</a:t>
            </a:r>
            <a:r>
              <a:rPr lang="en-US" sz="2800" i="1" dirty="0"/>
              <a:t>perfect cache –</a:t>
            </a:r>
            <a:r>
              <a:rPr lang="en-US" sz="2800" dirty="0"/>
              <a:t> </a:t>
            </a:r>
            <a:r>
              <a:rPr lang="en-US" sz="2800" dirty="0" err="1"/>
              <a:t>trường</a:t>
            </a:r>
            <a:r>
              <a:rPr lang="en-US" sz="2800" dirty="0"/>
              <a:t> </a:t>
            </a:r>
            <a:r>
              <a:rPr lang="en-US" sz="2800" dirty="0" err="1"/>
              <a:t>hợp</a:t>
            </a:r>
            <a:r>
              <a:rPr lang="en-US" sz="2800" dirty="0"/>
              <a:t> CPU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trì</a:t>
            </a:r>
            <a:r>
              <a:rPr lang="en-US" sz="2800" dirty="0"/>
              <a:t> </a:t>
            </a:r>
            <a:r>
              <a:rPr lang="en-US" sz="2800" dirty="0" err="1"/>
              <a:t>hoãn</a:t>
            </a:r>
            <a:r>
              <a:rPr lang="en-US" sz="2800" dirty="0"/>
              <a:t> do </a:t>
            </a:r>
            <a:r>
              <a:rPr lang="en-US" sz="2800" dirty="0" err="1"/>
              <a:t>bộ</a:t>
            </a:r>
            <a:r>
              <a:rPr lang="en-US" sz="2800" dirty="0"/>
              <a:t> </a:t>
            </a:r>
            <a:r>
              <a:rPr lang="en-US" sz="2800" dirty="0" err="1"/>
              <a:t>nhớ</a:t>
            </a:r>
            <a:r>
              <a:rPr lang="en-US" sz="2800" dirty="0"/>
              <a:t>) so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trường</a:t>
            </a:r>
            <a:r>
              <a:rPr lang="en-US" sz="2800" dirty="0"/>
              <a:t> </a:t>
            </a:r>
            <a:r>
              <a:rPr lang="en-US" sz="2800" dirty="0" err="1"/>
              <a:t>hợp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trì</a:t>
            </a:r>
            <a:r>
              <a:rPr lang="en-US" sz="2800" dirty="0"/>
              <a:t> </a:t>
            </a:r>
            <a:r>
              <a:rPr lang="en-US" sz="2800" dirty="0" err="1"/>
              <a:t>hoãn</a:t>
            </a:r>
            <a:r>
              <a:rPr lang="en-US" sz="2800" dirty="0"/>
              <a:t> do </a:t>
            </a:r>
            <a:r>
              <a:rPr lang="en-US" sz="2800" dirty="0" err="1"/>
              <a:t>bộ</a:t>
            </a:r>
            <a:r>
              <a:rPr lang="en-US" sz="2800" dirty="0"/>
              <a:t> </a:t>
            </a:r>
            <a:r>
              <a:rPr lang="en-US" sz="2800" dirty="0" err="1"/>
              <a:t>nhớ</a:t>
            </a:r>
            <a:r>
              <a:rPr lang="en-US" sz="2800" dirty="0"/>
              <a:t>. </a:t>
            </a:r>
            <a:r>
              <a:rPr lang="en-US" sz="2800" dirty="0" err="1"/>
              <a:t>Giả</a:t>
            </a:r>
            <a:r>
              <a:rPr lang="en-US" sz="2800" dirty="0"/>
              <a:t> </a:t>
            </a:r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tần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lệnh</a:t>
            </a:r>
            <a:r>
              <a:rPr lang="en-US" sz="2800" dirty="0"/>
              <a:t> </a:t>
            </a:r>
            <a:r>
              <a:rPr lang="en-US" sz="2800" i="1" dirty="0"/>
              <a:t>load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i="1" dirty="0"/>
              <a:t>store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36%.</a:t>
            </a:r>
          </a:p>
        </p:txBody>
      </p:sp>
    </p:spTree>
    <p:extLst>
      <p:ext uri="{BB962C8B-B14F-4D97-AF65-F5344CB8AC3E}">
        <p14:creationId xmlns:p14="http://schemas.microsoft.com/office/powerpoint/2010/main" val="3237557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717" y="152400"/>
            <a:ext cx="8839200" cy="12192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ĐO LƯỜNG VÀ CẢI TIẾN HIỆU SUẤT CACHE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68" t="21428" r="16113" b="12500"/>
          <a:stretch/>
        </p:blipFill>
        <p:spPr bwMode="auto">
          <a:xfrm>
            <a:off x="62346" y="1295400"/>
            <a:ext cx="8945366" cy="5410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2377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717" y="152400"/>
            <a:ext cx="8839200" cy="12192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ĐO LƯỜNG VÀ CẢI TIẾN HIỆU SUẤT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2509" y="1088132"/>
            <a:ext cx="876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 smtClean="0"/>
              <a:t>Ngoài</a:t>
            </a:r>
            <a:r>
              <a:rPr lang="en-US" sz="2200" dirty="0" smtClean="0"/>
              <a:t> </a:t>
            </a:r>
            <a:r>
              <a:rPr lang="en-US" sz="2200" dirty="0" err="1" smtClean="0"/>
              <a:t>ra</a:t>
            </a:r>
            <a:r>
              <a:rPr lang="en-US" sz="2200" dirty="0" smtClean="0"/>
              <a:t>, </a:t>
            </a:r>
            <a:r>
              <a:rPr lang="en-US" sz="2200" dirty="0" err="1" smtClean="0"/>
              <a:t>người</a:t>
            </a:r>
            <a:r>
              <a:rPr lang="en-US" sz="2200" dirty="0" smtClean="0"/>
              <a:t> ta </a:t>
            </a:r>
            <a:r>
              <a:rPr lang="en-US" sz="2200" dirty="0" err="1" smtClean="0"/>
              <a:t>còn</a:t>
            </a:r>
            <a:r>
              <a:rPr lang="en-US" sz="2200" dirty="0" smtClean="0"/>
              <a:t> </a:t>
            </a:r>
            <a:r>
              <a:rPr lang="en-US" sz="2200" dirty="0" err="1"/>
              <a:t>dùng</a:t>
            </a:r>
            <a:r>
              <a:rPr lang="en-US" sz="2200" dirty="0"/>
              <a:t> </a:t>
            </a:r>
            <a:r>
              <a:rPr lang="en-US" sz="2200" dirty="0" err="1"/>
              <a:t>thời</a:t>
            </a:r>
            <a:r>
              <a:rPr lang="en-US" sz="2200" dirty="0"/>
              <a:t> </a:t>
            </a:r>
            <a:r>
              <a:rPr lang="en-US" sz="2200" dirty="0" err="1"/>
              <a:t>gian</a:t>
            </a:r>
            <a:r>
              <a:rPr lang="en-US" sz="2200" dirty="0"/>
              <a:t> </a:t>
            </a:r>
            <a:r>
              <a:rPr lang="en-US" sz="2200" dirty="0" err="1"/>
              <a:t>truy</a:t>
            </a:r>
            <a:r>
              <a:rPr lang="en-US" sz="2200" dirty="0"/>
              <a:t> </a:t>
            </a:r>
            <a:r>
              <a:rPr lang="en-US" sz="2200" dirty="0" err="1"/>
              <a:t>cập</a:t>
            </a:r>
            <a:r>
              <a:rPr lang="en-US" sz="2200" dirty="0"/>
              <a:t> </a:t>
            </a:r>
            <a:r>
              <a:rPr lang="en-US" sz="2200" dirty="0" err="1"/>
              <a:t>bộ</a:t>
            </a:r>
            <a:r>
              <a:rPr lang="en-US" sz="2200" dirty="0"/>
              <a:t> </a:t>
            </a:r>
            <a:r>
              <a:rPr lang="en-US" sz="2200" dirty="0" err="1"/>
              <a:t>nhớ</a:t>
            </a:r>
            <a:r>
              <a:rPr lang="en-US" sz="2200" dirty="0"/>
              <a:t> </a:t>
            </a:r>
            <a:r>
              <a:rPr lang="en-US" sz="2200" dirty="0" err="1"/>
              <a:t>trung</a:t>
            </a:r>
            <a:r>
              <a:rPr lang="en-US" sz="2200" dirty="0"/>
              <a:t> </a:t>
            </a:r>
            <a:r>
              <a:rPr lang="en-US" sz="2200" dirty="0" err="1"/>
              <a:t>bình</a:t>
            </a:r>
            <a:r>
              <a:rPr lang="en-US" sz="2200" dirty="0"/>
              <a:t> (</a:t>
            </a:r>
            <a:r>
              <a:rPr lang="en-US" sz="2200" i="1" dirty="0"/>
              <a:t>average memory access time</a:t>
            </a:r>
            <a:r>
              <a:rPr lang="en-US" sz="2200" dirty="0"/>
              <a:t> – </a:t>
            </a:r>
            <a:r>
              <a:rPr lang="en-US" sz="2200" dirty="0" smtClean="0"/>
              <a:t>AMAT) </a:t>
            </a:r>
            <a:r>
              <a:rPr lang="en-US" sz="2200" dirty="0" err="1" smtClean="0"/>
              <a:t>để</a:t>
            </a:r>
            <a:r>
              <a:rPr lang="en-US" sz="2200" dirty="0" smtClean="0"/>
              <a:t> </a:t>
            </a:r>
            <a:r>
              <a:rPr lang="en-US" sz="2200" dirty="0" err="1" smtClean="0"/>
              <a:t>đánh</a:t>
            </a:r>
            <a:r>
              <a:rPr lang="en-US" sz="2200" dirty="0" smtClean="0"/>
              <a:t> </a:t>
            </a:r>
            <a:r>
              <a:rPr lang="en-US" sz="2200" dirty="0" err="1" smtClean="0"/>
              <a:t>giá</a:t>
            </a:r>
            <a:r>
              <a:rPr lang="en-US" sz="2200" dirty="0" smtClean="0"/>
              <a:t> </a:t>
            </a:r>
            <a:r>
              <a:rPr lang="en-US" sz="2200" dirty="0" err="1" smtClean="0"/>
              <a:t>hiệu</a:t>
            </a:r>
            <a:r>
              <a:rPr lang="en-US" sz="2200" dirty="0" smtClean="0"/>
              <a:t> </a:t>
            </a:r>
            <a:r>
              <a:rPr lang="en-US" sz="2200" dirty="0" err="1" smtClean="0"/>
              <a:t>suất</a:t>
            </a:r>
            <a:r>
              <a:rPr lang="en-US" sz="2200" dirty="0" smtClean="0"/>
              <a:t>. </a:t>
            </a:r>
            <a:r>
              <a:rPr lang="en-US" sz="2200" dirty="0" err="1"/>
              <a:t>Đại</a:t>
            </a:r>
            <a:r>
              <a:rPr lang="en-US" sz="2200" dirty="0"/>
              <a:t> </a:t>
            </a:r>
            <a:r>
              <a:rPr lang="en-US" sz="2200" dirty="0" err="1"/>
              <a:t>lượng</a:t>
            </a:r>
            <a:r>
              <a:rPr lang="en-US" sz="2200" dirty="0"/>
              <a:t> </a:t>
            </a:r>
            <a:r>
              <a:rPr lang="en-US" sz="2200" dirty="0" err="1"/>
              <a:t>này</a:t>
            </a:r>
            <a:r>
              <a:rPr lang="en-US" sz="2200" dirty="0"/>
              <a:t> </a:t>
            </a:r>
            <a:r>
              <a:rPr lang="en-US" sz="2200" dirty="0" err="1"/>
              <a:t>được</a:t>
            </a:r>
            <a:r>
              <a:rPr lang="en-US" sz="2200" dirty="0"/>
              <a:t> </a:t>
            </a:r>
            <a:r>
              <a:rPr lang="en-US" sz="2200" dirty="0" err="1"/>
              <a:t>định</a:t>
            </a:r>
            <a:r>
              <a:rPr lang="en-US" sz="2200" dirty="0"/>
              <a:t> </a:t>
            </a:r>
            <a:r>
              <a:rPr lang="en-US" sz="2200" dirty="0" err="1"/>
              <a:t>nghĩa</a:t>
            </a:r>
            <a:r>
              <a:rPr lang="en-US" sz="2200" dirty="0"/>
              <a:t> </a:t>
            </a:r>
            <a:r>
              <a:rPr lang="en-US" sz="2200" dirty="0" err="1" smtClean="0"/>
              <a:t>như</a:t>
            </a:r>
            <a:r>
              <a:rPr lang="en-US" sz="2200" dirty="0" smtClean="0"/>
              <a:t> </a:t>
            </a:r>
            <a:r>
              <a:rPr lang="en-US" sz="2200" dirty="0" err="1" smtClean="0"/>
              <a:t>sau</a:t>
            </a:r>
            <a:r>
              <a:rPr lang="en-US" sz="2200" dirty="0" smtClean="0"/>
              <a:t>:</a:t>
            </a:r>
            <a:endParaRPr lang="en-US" sz="2200" dirty="0"/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0"/>
            <a:ext cx="8329973" cy="110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11727" y="3048000"/>
            <a:ext cx="87630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 smtClean="0"/>
              <a:t>Ví</a:t>
            </a:r>
            <a:r>
              <a:rPr lang="en-US" sz="2200" dirty="0" smtClean="0"/>
              <a:t> </a:t>
            </a:r>
            <a:r>
              <a:rPr lang="en-US" sz="2200" dirty="0" err="1" smtClean="0"/>
              <a:t>dụ</a:t>
            </a:r>
            <a:r>
              <a:rPr lang="en-US" sz="2200" dirty="0" smtClean="0"/>
              <a:t>: </a:t>
            </a: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hệ</a:t>
            </a:r>
            <a:r>
              <a:rPr lang="en-US" sz="2200" dirty="0"/>
              <a:t> </a:t>
            </a:r>
            <a:r>
              <a:rPr lang="en-US" sz="2200" dirty="0" err="1"/>
              <a:t>thống</a:t>
            </a:r>
            <a:r>
              <a:rPr lang="en-US" sz="2200" dirty="0"/>
              <a:t> </a:t>
            </a:r>
            <a:r>
              <a:rPr lang="en-US" sz="2200" dirty="0" err="1"/>
              <a:t>với</a:t>
            </a:r>
            <a:r>
              <a:rPr lang="en-US" sz="2200" dirty="0"/>
              <a:t> CPU </a:t>
            </a:r>
            <a:r>
              <a:rPr lang="en-US" sz="2200" dirty="0" err="1"/>
              <a:t>có</a:t>
            </a:r>
            <a:r>
              <a:rPr lang="en-US" sz="2200" dirty="0"/>
              <a:t> </a:t>
            </a:r>
            <a:r>
              <a:rPr lang="en-US" sz="2200" dirty="0" err="1"/>
              <a:t>chu</a:t>
            </a:r>
            <a:r>
              <a:rPr lang="en-US" sz="2200" dirty="0"/>
              <a:t> </a:t>
            </a:r>
            <a:r>
              <a:rPr lang="en-US" sz="2200" dirty="0" err="1"/>
              <a:t>kỳ</a:t>
            </a:r>
            <a:r>
              <a:rPr lang="en-US" sz="2200" dirty="0"/>
              <a:t> </a:t>
            </a:r>
            <a:r>
              <a:rPr lang="en-US" sz="2200" dirty="0" err="1"/>
              <a:t>xung</a:t>
            </a:r>
            <a:r>
              <a:rPr lang="en-US" sz="2200" dirty="0"/>
              <a:t> </a:t>
            </a:r>
            <a:r>
              <a:rPr lang="en-US" sz="2200" dirty="0" err="1"/>
              <a:t>nhịp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1ns, </a:t>
            </a:r>
            <a:r>
              <a:rPr lang="en-US" sz="2200" dirty="0" err="1"/>
              <a:t>trừng</a:t>
            </a:r>
            <a:r>
              <a:rPr lang="en-US" sz="2200" dirty="0"/>
              <a:t> </a:t>
            </a:r>
            <a:r>
              <a:rPr lang="en-US" sz="2200" dirty="0" err="1"/>
              <a:t>phạt</a:t>
            </a:r>
            <a:r>
              <a:rPr lang="en-US" sz="2200" dirty="0"/>
              <a:t> </a:t>
            </a:r>
            <a:r>
              <a:rPr lang="en-US" sz="2200" dirty="0" err="1"/>
              <a:t>thất</a:t>
            </a:r>
            <a:r>
              <a:rPr lang="en-US" sz="2200" dirty="0"/>
              <a:t> </a:t>
            </a:r>
            <a:r>
              <a:rPr lang="en-US" sz="2200" dirty="0" err="1"/>
              <a:t>bại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20 </a:t>
            </a:r>
            <a:r>
              <a:rPr lang="en-US" sz="2200" dirty="0" err="1"/>
              <a:t>chu</a:t>
            </a:r>
            <a:r>
              <a:rPr lang="en-US" sz="2200" dirty="0"/>
              <a:t> </a:t>
            </a:r>
            <a:r>
              <a:rPr lang="en-US" sz="2200" dirty="0" err="1"/>
              <a:t>kỳ</a:t>
            </a:r>
            <a:r>
              <a:rPr lang="en-US" sz="2200" dirty="0"/>
              <a:t> </a:t>
            </a:r>
            <a:r>
              <a:rPr lang="en-US" sz="2200" dirty="0" err="1"/>
              <a:t>xung</a:t>
            </a:r>
            <a:r>
              <a:rPr lang="en-US" sz="2200" dirty="0"/>
              <a:t> </a:t>
            </a:r>
            <a:r>
              <a:rPr lang="en-US" sz="2200" dirty="0" err="1"/>
              <a:t>nhịp</a:t>
            </a:r>
            <a:r>
              <a:rPr lang="en-US" sz="2200" dirty="0"/>
              <a:t>, </a:t>
            </a:r>
            <a:r>
              <a:rPr lang="en-US" sz="2200" dirty="0" err="1"/>
              <a:t>tỷ</a:t>
            </a:r>
            <a:r>
              <a:rPr lang="en-US" sz="2200" dirty="0"/>
              <a:t> </a:t>
            </a:r>
            <a:r>
              <a:rPr lang="en-US" sz="2200" dirty="0" err="1"/>
              <a:t>lệ</a:t>
            </a:r>
            <a:r>
              <a:rPr lang="en-US" sz="2200" dirty="0"/>
              <a:t> </a:t>
            </a:r>
            <a:r>
              <a:rPr lang="en-US" sz="2200" dirty="0" err="1"/>
              <a:t>thất</a:t>
            </a:r>
            <a:r>
              <a:rPr lang="en-US" sz="2200" dirty="0"/>
              <a:t> </a:t>
            </a:r>
            <a:r>
              <a:rPr lang="en-US" sz="2200" dirty="0" err="1"/>
              <a:t>bại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0.05 </a:t>
            </a:r>
            <a:r>
              <a:rPr lang="en-US" sz="2200" dirty="0" err="1"/>
              <a:t>thất</a:t>
            </a:r>
            <a:r>
              <a:rPr lang="en-US" sz="2200" dirty="0"/>
              <a:t> </a:t>
            </a:r>
            <a:r>
              <a:rPr lang="en-US" sz="2200" dirty="0" err="1"/>
              <a:t>bại</a:t>
            </a:r>
            <a:r>
              <a:rPr lang="en-US" sz="2200" dirty="0"/>
              <a:t> </a:t>
            </a:r>
            <a:r>
              <a:rPr lang="en-US" sz="2200" dirty="0" err="1"/>
              <a:t>trên</a:t>
            </a:r>
            <a:r>
              <a:rPr lang="en-US" sz="2200" dirty="0"/>
              <a:t> </a:t>
            </a: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lệnh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thời</a:t>
            </a:r>
            <a:r>
              <a:rPr lang="en-US" sz="2200" dirty="0"/>
              <a:t> </a:t>
            </a:r>
            <a:r>
              <a:rPr lang="en-US" sz="2200" dirty="0" err="1"/>
              <a:t>gian</a:t>
            </a:r>
            <a:r>
              <a:rPr lang="en-US" sz="2200" dirty="0"/>
              <a:t> </a:t>
            </a:r>
            <a:r>
              <a:rPr lang="en-US" sz="2200" dirty="0" err="1"/>
              <a:t>truy</a:t>
            </a:r>
            <a:r>
              <a:rPr lang="en-US" sz="2200" dirty="0"/>
              <a:t> </a:t>
            </a:r>
            <a:r>
              <a:rPr lang="en-US" sz="2200" dirty="0" err="1"/>
              <a:t>cập</a:t>
            </a:r>
            <a:r>
              <a:rPr lang="en-US" sz="2200" dirty="0"/>
              <a:t> cache (</a:t>
            </a:r>
            <a:r>
              <a:rPr lang="en-US" sz="2200" dirty="0" err="1"/>
              <a:t>bao</a:t>
            </a:r>
            <a:r>
              <a:rPr lang="en-US" sz="2200" dirty="0"/>
              <a:t> </a:t>
            </a:r>
            <a:r>
              <a:rPr lang="en-US" sz="2200" dirty="0" err="1"/>
              <a:t>gồm</a:t>
            </a:r>
            <a:r>
              <a:rPr lang="en-US" sz="2200" dirty="0"/>
              <a:t> </a:t>
            </a:r>
            <a:r>
              <a:rPr lang="en-US" sz="2200" dirty="0" err="1"/>
              <a:t>xác</a:t>
            </a:r>
            <a:r>
              <a:rPr lang="en-US" sz="2200" dirty="0"/>
              <a:t> </a:t>
            </a:r>
            <a:r>
              <a:rPr lang="en-US" sz="2200" dirty="0" err="1"/>
              <a:t>định</a:t>
            </a:r>
            <a:r>
              <a:rPr lang="en-US" sz="2200" dirty="0"/>
              <a:t> </a:t>
            </a:r>
            <a:r>
              <a:rPr lang="en-US" sz="2200" dirty="0" err="1"/>
              <a:t>thành</a:t>
            </a:r>
            <a:r>
              <a:rPr lang="en-US" sz="2200" dirty="0"/>
              <a:t> </a:t>
            </a:r>
            <a:r>
              <a:rPr lang="en-US" sz="2200" dirty="0" err="1"/>
              <a:t>công</a:t>
            </a:r>
            <a:r>
              <a:rPr lang="en-US" sz="2200" dirty="0"/>
              <a:t>) </a:t>
            </a:r>
            <a:r>
              <a:rPr lang="en-US" sz="2200" dirty="0" err="1"/>
              <a:t>là</a:t>
            </a:r>
            <a:r>
              <a:rPr lang="en-US" sz="2200" dirty="0"/>
              <a:t> 1 </a:t>
            </a:r>
            <a:r>
              <a:rPr lang="en-US" sz="2200" dirty="0" err="1"/>
              <a:t>chu</a:t>
            </a:r>
            <a:r>
              <a:rPr lang="en-US" sz="2200" dirty="0"/>
              <a:t> </a:t>
            </a:r>
            <a:r>
              <a:rPr lang="en-US" sz="2200" dirty="0" err="1"/>
              <a:t>kỳ</a:t>
            </a:r>
            <a:r>
              <a:rPr lang="en-US" sz="2200" dirty="0"/>
              <a:t> </a:t>
            </a:r>
            <a:r>
              <a:rPr lang="en-US" sz="2200" dirty="0" err="1"/>
              <a:t>xung</a:t>
            </a:r>
            <a:r>
              <a:rPr lang="en-US" sz="2200" dirty="0"/>
              <a:t> </a:t>
            </a:r>
            <a:r>
              <a:rPr lang="en-US" sz="2200" dirty="0" err="1"/>
              <a:t>nhịp</a:t>
            </a:r>
            <a:r>
              <a:rPr lang="en-US" sz="2200" dirty="0"/>
              <a:t>. </a:t>
            </a:r>
            <a:r>
              <a:rPr lang="en-US" sz="2200" dirty="0" err="1"/>
              <a:t>Giả</a:t>
            </a:r>
            <a:r>
              <a:rPr lang="en-US" sz="2200" dirty="0"/>
              <a:t> </a:t>
            </a:r>
            <a:r>
              <a:rPr lang="en-US" sz="2200" dirty="0" err="1"/>
              <a:t>sử</a:t>
            </a:r>
            <a:r>
              <a:rPr lang="en-US" sz="2200" dirty="0"/>
              <a:t> </a:t>
            </a:r>
            <a:r>
              <a:rPr lang="en-US" sz="2200" dirty="0" err="1"/>
              <a:t>trừng</a:t>
            </a:r>
            <a:r>
              <a:rPr lang="en-US" sz="2200" dirty="0"/>
              <a:t> </a:t>
            </a:r>
            <a:r>
              <a:rPr lang="en-US" sz="2200" dirty="0" err="1"/>
              <a:t>phạt</a:t>
            </a:r>
            <a:r>
              <a:rPr lang="en-US" sz="2200" dirty="0"/>
              <a:t> </a:t>
            </a:r>
            <a:r>
              <a:rPr lang="en-US" sz="2200" dirty="0" err="1"/>
              <a:t>thất</a:t>
            </a:r>
            <a:r>
              <a:rPr lang="en-US" sz="2200" dirty="0"/>
              <a:t> </a:t>
            </a:r>
            <a:r>
              <a:rPr lang="en-US" sz="2200" dirty="0" err="1"/>
              <a:t>bại</a:t>
            </a:r>
            <a:r>
              <a:rPr lang="en-US" sz="2200" dirty="0"/>
              <a:t> </a:t>
            </a:r>
            <a:r>
              <a:rPr lang="en-US" sz="2200" dirty="0" err="1"/>
              <a:t>đọc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ghi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như</a:t>
            </a:r>
            <a:r>
              <a:rPr lang="en-US" sz="2200" dirty="0"/>
              <a:t> </a:t>
            </a:r>
            <a:r>
              <a:rPr lang="en-US" sz="2200" dirty="0" err="1"/>
              <a:t>nhau</a:t>
            </a:r>
            <a:r>
              <a:rPr lang="en-US" sz="2200" dirty="0"/>
              <a:t>. </a:t>
            </a:r>
            <a:r>
              <a:rPr lang="en-US" sz="2200" dirty="0" err="1"/>
              <a:t>Hãy</a:t>
            </a:r>
            <a:r>
              <a:rPr lang="en-US" sz="2200" dirty="0"/>
              <a:t> </a:t>
            </a:r>
            <a:r>
              <a:rPr lang="en-US" sz="2200" dirty="0" err="1"/>
              <a:t>tính</a:t>
            </a:r>
            <a:r>
              <a:rPr lang="en-US" sz="2200" dirty="0"/>
              <a:t> AMAT.</a:t>
            </a:r>
          </a:p>
          <a:p>
            <a:r>
              <a:rPr lang="en-US" sz="2200" dirty="0" err="1"/>
              <a:t>Thời</a:t>
            </a:r>
            <a:r>
              <a:rPr lang="en-US" sz="2200" dirty="0"/>
              <a:t> </a:t>
            </a:r>
            <a:r>
              <a:rPr lang="en-US" sz="2200" dirty="0" err="1"/>
              <a:t>gian</a:t>
            </a:r>
            <a:r>
              <a:rPr lang="en-US" sz="2200" dirty="0"/>
              <a:t> </a:t>
            </a:r>
            <a:r>
              <a:rPr lang="en-US" sz="2200" dirty="0" err="1"/>
              <a:t>truy</a:t>
            </a:r>
            <a:r>
              <a:rPr lang="en-US" sz="2200" dirty="0"/>
              <a:t> </a:t>
            </a:r>
            <a:r>
              <a:rPr lang="en-US" sz="2200" dirty="0" err="1"/>
              <a:t>cập</a:t>
            </a:r>
            <a:r>
              <a:rPr lang="en-US" sz="2200" dirty="0"/>
              <a:t> </a:t>
            </a:r>
            <a:r>
              <a:rPr lang="en-US" sz="2200" dirty="0" err="1"/>
              <a:t>bộ</a:t>
            </a:r>
            <a:r>
              <a:rPr lang="en-US" sz="2200" dirty="0"/>
              <a:t> </a:t>
            </a:r>
            <a:r>
              <a:rPr lang="en-US" sz="2200" dirty="0" err="1"/>
              <a:t>nhớ</a:t>
            </a:r>
            <a:r>
              <a:rPr lang="en-US" sz="2200" dirty="0"/>
              <a:t> </a:t>
            </a:r>
            <a:r>
              <a:rPr lang="en-US" sz="2200" dirty="0" err="1"/>
              <a:t>trung</a:t>
            </a:r>
            <a:r>
              <a:rPr lang="en-US" sz="2200" dirty="0"/>
              <a:t> </a:t>
            </a:r>
            <a:r>
              <a:rPr lang="en-US" sz="2200" dirty="0" err="1"/>
              <a:t>bình</a:t>
            </a:r>
            <a:r>
              <a:rPr lang="en-US" sz="2200" dirty="0"/>
              <a:t> </a:t>
            </a:r>
            <a:r>
              <a:rPr lang="en-US" sz="2200" dirty="0" err="1"/>
              <a:t>sẽ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: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61648" r="19972" b="20739"/>
          <a:stretch/>
        </p:blipFill>
        <p:spPr bwMode="auto">
          <a:xfrm>
            <a:off x="492096" y="5001490"/>
            <a:ext cx="8443826" cy="1510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8584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327" y="304800"/>
            <a:ext cx="8839200" cy="12192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THAY THẾ KHỐI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1981200"/>
            <a:ext cx="87630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Theo 3 </a:t>
            </a:r>
            <a:r>
              <a:rPr lang="en-US" sz="2200" dirty="0" err="1" smtClean="0"/>
              <a:t>mô</a:t>
            </a:r>
            <a:r>
              <a:rPr lang="en-US" sz="2200" dirty="0" smtClean="0"/>
              <a:t> </a:t>
            </a:r>
            <a:r>
              <a:rPr lang="en-US" sz="2200" dirty="0" err="1" smtClean="0"/>
              <a:t>hình</a:t>
            </a:r>
            <a:r>
              <a:rPr lang="en-US" sz="2200" dirty="0" smtClean="0"/>
              <a:t>: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200" dirty="0" err="1"/>
              <a:t>Mô</a:t>
            </a:r>
            <a:r>
              <a:rPr lang="en-US" sz="2200" dirty="0"/>
              <a:t> </a:t>
            </a:r>
            <a:r>
              <a:rPr lang="en-US" sz="2200" dirty="0" err="1"/>
              <a:t>hình</a:t>
            </a:r>
            <a:r>
              <a:rPr lang="en-US" sz="2200" dirty="0"/>
              <a:t> </a:t>
            </a:r>
            <a:r>
              <a:rPr lang="en-US" sz="2200" dirty="0" err="1"/>
              <a:t>ánh</a:t>
            </a:r>
            <a:r>
              <a:rPr lang="en-US" sz="2200" dirty="0"/>
              <a:t> </a:t>
            </a:r>
            <a:r>
              <a:rPr lang="en-US" sz="2200" dirty="0" err="1"/>
              <a:t>xạ</a:t>
            </a:r>
            <a:r>
              <a:rPr lang="en-US" sz="2200" dirty="0"/>
              <a:t> </a:t>
            </a:r>
            <a:r>
              <a:rPr lang="en-US" sz="2200" dirty="0" err="1"/>
              <a:t>trực</a:t>
            </a:r>
            <a:r>
              <a:rPr lang="en-US" sz="2200" dirty="0"/>
              <a:t> </a:t>
            </a:r>
            <a:r>
              <a:rPr lang="en-US" sz="2200" dirty="0" err="1"/>
              <a:t>tiếp</a:t>
            </a:r>
            <a:r>
              <a:rPr lang="en-US" sz="2200" dirty="0"/>
              <a:t>: </a:t>
            </a:r>
          </a:p>
          <a:p>
            <a:r>
              <a:rPr lang="en-US" sz="2200" dirty="0" smtClean="0"/>
              <a:t>	(</a:t>
            </a:r>
            <a:r>
              <a:rPr lang="en-US" sz="2200" dirty="0"/>
              <a:t>block number) modulo (number of </a:t>
            </a:r>
            <a:r>
              <a:rPr lang="en-US" sz="2200" i="1" dirty="0"/>
              <a:t>blocks</a:t>
            </a:r>
            <a:r>
              <a:rPr lang="en-US" sz="2200" dirty="0"/>
              <a:t> in the cache)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200" dirty="0" err="1"/>
              <a:t>Kết</a:t>
            </a:r>
            <a:r>
              <a:rPr lang="en-US" sz="2200" dirty="0"/>
              <a:t> </a:t>
            </a:r>
            <a:r>
              <a:rPr lang="en-US" sz="2200" dirty="0" err="1"/>
              <a:t>hợp</a:t>
            </a:r>
            <a:r>
              <a:rPr lang="en-US" sz="2200" dirty="0"/>
              <a:t> </a:t>
            </a:r>
            <a:r>
              <a:rPr lang="en-US" sz="2200" dirty="0" err="1"/>
              <a:t>hoàn</a:t>
            </a:r>
            <a:r>
              <a:rPr lang="en-US" sz="2200" dirty="0"/>
              <a:t> </a:t>
            </a:r>
            <a:r>
              <a:rPr lang="en-US" sz="2200" dirty="0" err="1"/>
              <a:t>toàn</a:t>
            </a:r>
            <a:r>
              <a:rPr lang="en-US" sz="2200" dirty="0"/>
              <a:t>: </a:t>
            </a:r>
            <a:r>
              <a:rPr lang="en-US" sz="2200" dirty="0" err="1"/>
              <a:t>mỗi</a:t>
            </a:r>
            <a:r>
              <a:rPr lang="en-US" sz="2200" dirty="0"/>
              <a:t> </a:t>
            </a:r>
            <a:r>
              <a:rPr lang="en-US" sz="2200" dirty="0" err="1"/>
              <a:t>khối</a:t>
            </a:r>
            <a:r>
              <a:rPr lang="en-US" sz="2200" dirty="0"/>
              <a:t> </a:t>
            </a:r>
            <a:r>
              <a:rPr lang="en-US" sz="2200" dirty="0" err="1"/>
              <a:t>được</a:t>
            </a:r>
            <a:r>
              <a:rPr lang="en-US" sz="2200" dirty="0"/>
              <a:t> </a:t>
            </a:r>
            <a:r>
              <a:rPr lang="en-US" sz="2200" dirty="0" err="1"/>
              <a:t>đặt</a:t>
            </a:r>
            <a:r>
              <a:rPr lang="en-US" sz="2200" dirty="0"/>
              <a:t> </a:t>
            </a:r>
            <a:r>
              <a:rPr lang="en-US" sz="2200" dirty="0" err="1"/>
              <a:t>vào</a:t>
            </a:r>
            <a:r>
              <a:rPr lang="en-US" sz="2200" dirty="0"/>
              <a:t> </a:t>
            </a:r>
            <a:r>
              <a:rPr lang="en-US" sz="2200" dirty="0" err="1"/>
              <a:t>bất</a:t>
            </a:r>
            <a:r>
              <a:rPr lang="en-US" sz="2200" dirty="0"/>
              <a:t> </a:t>
            </a:r>
            <a:r>
              <a:rPr lang="en-US" sz="2200" dirty="0" err="1"/>
              <a:t>kỳ</a:t>
            </a:r>
            <a:r>
              <a:rPr lang="en-US" sz="2200" dirty="0"/>
              <a:t> </a:t>
            </a:r>
            <a:r>
              <a:rPr lang="en-US" sz="2200" dirty="0" err="1"/>
              <a:t>vị</a:t>
            </a:r>
            <a:r>
              <a:rPr lang="en-US" sz="2200" dirty="0"/>
              <a:t> </a:t>
            </a:r>
            <a:r>
              <a:rPr lang="en-US" sz="2200" dirty="0" err="1"/>
              <a:t>trí</a:t>
            </a:r>
            <a:r>
              <a:rPr lang="en-US" sz="2200" dirty="0"/>
              <a:t> </a:t>
            </a:r>
            <a:r>
              <a:rPr lang="en-US" sz="2200" dirty="0" err="1"/>
              <a:t>nào</a:t>
            </a:r>
            <a:r>
              <a:rPr lang="en-US" sz="2200" dirty="0"/>
              <a:t> </a:t>
            </a:r>
            <a:r>
              <a:rPr lang="en-US" sz="2200" dirty="0" err="1"/>
              <a:t>trong</a:t>
            </a:r>
            <a:r>
              <a:rPr lang="en-US" sz="2200" dirty="0"/>
              <a:t> cache</a:t>
            </a:r>
            <a:r>
              <a:rPr lang="en-US" sz="2200" dirty="0" smtClean="0"/>
              <a:t>.</a:t>
            </a:r>
            <a:endParaRPr lang="en-US" sz="2200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200" dirty="0"/>
              <a:t> </a:t>
            </a:r>
            <a:r>
              <a:rPr lang="en-US" sz="2200" dirty="0" err="1"/>
              <a:t>Kết</a:t>
            </a:r>
            <a:r>
              <a:rPr lang="en-US" sz="2200" dirty="0"/>
              <a:t> </a:t>
            </a:r>
            <a:r>
              <a:rPr lang="en-US" sz="2200" dirty="0" err="1"/>
              <a:t>hợp</a:t>
            </a:r>
            <a:r>
              <a:rPr lang="en-US" sz="2200" dirty="0"/>
              <a:t> </a:t>
            </a:r>
            <a:r>
              <a:rPr lang="en-US" sz="2200" dirty="0" err="1"/>
              <a:t>theo</a:t>
            </a:r>
            <a:r>
              <a:rPr lang="en-US" sz="2200" dirty="0"/>
              <a:t> </a:t>
            </a:r>
            <a:r>
              <a:rPr lang="en-US" sz="2200" dirty="0" err="1"/>
              <a:t>tập</a:t>
            </a:r>
            <a:r>
              <a:rPr lang="en-US" sz="2200" dirty="0"/>
              <a:t> </a:t>
            </a:r>
            <a:r>
              <a:rPr lang="en-US" sz="2200" dirty="0" err="1"/>
              <a:t>hợp</a:t>
            </a:r>
            <a:r>
              <a:rPr lang="en-US" sz="2200" dirty="0" smtClean="0"/>
              <a:t>:</a:t>
            </a:r>
            <a:endParaRPr lang="en-US" sz="2200" dirty="0"/>
          </a:p>
          <a:p>
            <a:r>
              <a:rPr lang="en-US" sz="2200" dirty="0" smtClean="0"/>
              <a:t>	(</a:t>
            </a:r>
            <a:r>
              <a:rPr lang="en-US" sz="2200" dirty="0" err="1"/>
              <a:t>số</a:t>
            </a:r>
            <a:r>
              <a:rPr lang="en-US" sz="2200" dirty="0"/>
              <a:t> </a:t>
            </a:r>
            <a:r>
              <a:rPr lang="en-US" sz="2200" dirty="0" err="1"/>
              <a:t>khối</a:t>
            </a:r>
            <a:r>
              <a:rPr lang="en-US" sz="2200" dirty="0"/>
              <a:t>) modulo (</a:t>
            </a:r>
            <a:r>
              <a:rPr lang="en-US" sz="2200" dirty="0" err="1"/>
              <a:t>số</a:t>
            </a:r>
            <a:r>
              <a:rPr lang="en-US" sz="2200" dirty="0"/>
              <a:t> </a:t>
            </a:r>
            <a:r>
              <a:rPr lang="en-US" sz="2200" dirty="0" err="1"/>
              <a:t>tập</a:t>
            </a:r>
            <a:r>
              <a:rPr lang="en-US" sz="2200" dirty="0"/>
              <a:t> </a:t>
            </a:r>
            <a:r>
              <a:rPr lang="en-US" sz="2200" dirty="0" err="1"/>
              <a:t>hợp</a:t>
            </a:r>
            <a:r>
              <a:rPr lang="en-US" sz="2200" dirty="0"/>
              <a:t> </a:t>
            </a:r>
            <a:r>
              <a:rPr lang="en-US" sz="2200" dirty="0" err="1"/>
              <a:t>trong</a:t>
            </a:r>
            <a:r>
              <a:rPr lang="en-US" sz="2200" dirty="0"/>
              <a:t> cache)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50585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327" y="304800"/>
            <a:ext cx="8839200" cy="12192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THAY THẾ KHỐI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93" t="28288" r="15886" b="14773"/>
          <a:stretch/>
        </p:blipFill>
        <p:spPr bwMode="auto">
          <a:xfrm>
            <a:off x="0" y="1447800"/>
            <a:ext cx="9143999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081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0"/>
            <a:ext cx="8839200" cy="12192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THAY THẾ KHỐI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1371600"/>
            <a:ext cx="8686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Ví</a:t>
            </a:r>
            <a:r>
              <a:rPr lang="en-US" sz="2400" dirty="0" smtClean="0"/>
              <a:t> </a:t>
            </a:r>
            <a:r>
              <a:rPr lang="en-US" sz="2400" dirty="0" err="1" smtClean="0"/>
              <a:t>dụ</a:t>
            </a:r>
            <a:r>
              <a:rPr lang="en-US" sz="2400" dirty="0" smtClean="0"/>
              <a:t>: </a:t>
            </a:r>
            <a:r>
              <a:rPr lang="en-US" sz="2400" dirty="0" err="1"/>
              <a:t>xét</a:t>
            </a:r>
            <a:r>
              <a:rPr lang="en-US" sz="2400" dirty="0"/>
              <a:t> </a:t>
            </a:r>
            <a:r>
              <a:rPr lang="en-US" sz="2400" dirty="0" err="1"/>
              <a:t>ba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nhớ</a:t>
            </a:r>
            <a:r>
              <a:rPr lang="en-US" sz="2400" dirty="0"/>
              <a:t> cache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bốn</a:t>
            </a:r>
            <a:r>
              <a:rPr lang="en-US" sz="2400" dirty="0"/>
              <a:t> </a:t>
            </a:r>
            <a:r>
              <a:rPr lang="en-US" sz="2400" dirty="0" err="1"/>
              <a:t>khối</a:t>
            </a:r>
            <a:r>
              <a:rPr lang="en-US" sz="2400" dirty="0"/>
              <a:t> (</a:t>
            </a: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khối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). Cache </a:t>
            </a:r>
            <a:r>
              <a:rPr lang="en-US" sz="2400" dirty="0" err="1"/>
              <a:t>thứ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kiểu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đầy</a:t>
            </a:r>
            <a:r>
              <a:rPr lang="en-US" sz="2400" dirty="0"/>
              <a:t> </a:t>
            </a:r>
            <a:r>
              <a:rPr lang="en-US" sz="2400" dirty="0" err="1"/>
              <a:t>đủ</a:t>
            </a:r>
            <a:r>
              <a:rPr lang="en-US" sz="2400" dirty="0"/>
              <a:t>, cache </a:t>
            </a:r>
            <a:r>
              <a:rPr lang="en-US" sz="2400" dirty="0" err="1"/>
              <a:t>thứ</a:t>
            </a:r>
            <a:r>
              <a:rPr lang="en-US" sz="2400" dirty="0"/>
              <a:t> </a:t>
            </a:r>
            <a:r>
              <a:rPr lang="en-US" sz="2400" dirty="0" err="1"/>
              <a:t>hai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kiểu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(</a:t>
            </a: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hai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) </a:t>
            </a:r>
            <a:r>
              <a:rPr lang="en-US" sz="2400" dirty="0" err="1"/>
              <a:t>và</a:t>
            </a:r>
            <a:r>
              <a:rPr lang="en-US" sz="2400" dirty="0"/>
              <a:t> cache </a:t>
            </a:r>
            <a:r>
              <a:rPr lang="en-US" sz="2400" dirty="0" err="1"/>
              <a:t>thứ</a:t>
            </a:r>
            <a:r>
              <a:rPr lang="en-US" sz="2400" dirty="0"/>
              <a:t> </a:t>
            </a:r>
            <a:r>
              <a:rPr lang="en-US" sz="2400" dirty="0" err="1"/>
              <a:t>ba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kiểu</a:t>
            </a:r>
            <a:r>
              <a:rPr lang="en-US" sz="2400" dirty="0"/>
              <a:t> </a:t>
            </a:r>
            <a:r>
              <a:rPr lang="en-US" sz="2400" dirty="0" err="1"/>
              <a:t>ánh</a:t>
            </a:r>
            <a:r>
              <a:rPr lang="en-US" sz="2400" dirty="0"/>
              <a:t> </a:t>
            </a:r>
            <a:r>
              <a:rPr lang="en-US" sz="2400" dirty="0" err="1"/>
              <a:t>xạ</a:t>
            </a:r>
            <a:r>
              <a:rPr lang="en-US" sz="2400" dirty="0"/>
              <a:t> </a:t>
            </a:r>
            <a:r>
              <a:rPr lang="en-US" sz="2400" dirty="0" err="1"/>
              <a:t>trực</a:t>
            </a:r>
            <a:r>
              <a:rPr lang="en-US" sz="2400" dirty="0"/>
              <a:t> </a:t>
            </a:r>
            <a:r>
              <a:rPr lang="en-US" sz="2400" dirty="0" err="1"/>
              <a:t>tiếp</a:t>
            </a:r>
            <a:r>
              <a:rPr lang="en-US" sz="2400" dirty="0"/>
              <a:t>. </a:t>
            </a:r>
            <a:r>
              <a:rPr lang="en-US" sz="2400" dirty="0" err="1"/>
              <a:t>Hãy</a:t>
            </a:r>
            <a:r>
              <a:rPr lang="en-US" sz="2400" dirty="0"/>
              <a:t> </a:t>
            </a:r>
            <a:r>
              <a:rPr lang="en-US" sz="2400" dirty="0" err="1"/>
              <a:t>xét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lần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thất</a:t>
            </a:r>
            <a:r>
              <a:rPr lang="en-US" sz="2400" dirty="0"/>
              <a:t> </a:t>
            </a:r>
            <a:r>
              <a:rPr lang="en-US" sz="2400" dirty="0" err="1"/>
              <a:t>bại</a:t>
            </a:r>
            <a:r>
              <a:rPr lang="en-US" sz="2400" dirty="0"/>
              <a:t> cache </a:t>
            </a:r>
            <a:r>
              <a:rPr lang="en-US" sz="2400" dirty="0" err="1"/>
              <a:t>tương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ba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lần</a:t>
            </a:r>
            <a:r>
              <a:rPr lang="en-US" sz="2400" dirty="0"/>
              <a:t> </a:t>
            </a:r>
            <a:r>
              <a:rPr lang="en-US" sz="2400" dirty="0" err="1"/>
              <a:t>lượt</a:t>
            </a:r>
            <a:r>
              <a:rPr lang="en-US" sz="2400" dirty="0"/>
              <a:t> </a:t>
            </a:r>
            <a:r>
              <a:rPr lang="en-US" sz="2400" dirty="0" err="1"/>
              <a:t>truy</a:t>
            </a:r>
            <a:r>
              <a:rPr lang="en-US" sz="2400" dirty="0"/>
              <a:t> </a:t>
            </a:r>
            <a:r>
              <a:rPr lang="en-US" sz="2400" dirty="0" err="1"/>
              <a:t>cập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địa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 0,8,0,6,8</a:t>
            </a:r>
            <a:r>
              <a:rPr lang="en-US" sz="2400" dirty="0" smtClean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 err="1" smtClean="0"/>
              <a:t>Trường</a:t>
            </a:r>
            <a:r>
              <a:rPr lang="en-US" sz="2400" dirty="0" smtClean="0"/>
              <a:t> </a:t>
            </a:r>
            <a:r>
              <a:rPr lang="en-US" sz="2400" dirty="0" err="1" smtClean="0"/>
              <a:t>hợp</a:t>
            </a:r>
            <a:r>
              <a:rPr lang="en-US" sz="2400" dirty="0" smtClean="0"/>
              <a:t> </a:t>
            </a:r>
            <a:r>
              <a:rPr lang="en-US" sz="2400" dirty="0" err="1" smtClean="0"/>
              <a:t>ánh</a:t>
            </a:r>
            <a:r>
              <a:rPr lang="en-US" sz="2400" dirty="0" smtClean="0"/>
              <a:t> </a:t>
            </a:r>
            <a:r>
              <a:rPr lang="en-US" sz="2400" dirty="0" err="1" smtClean="0"/>
              <a:t>xạ</a:t>
            </a:r>
            <a:r>
              <a:rPr lang="en-US" sz="2400" dirty="0" smtClean="0"/>
              <a:t> </a:t>
            </a:r>
            <a:r>
              <a:rPr lang="en-US" sz="2400" dirty="0" err="1" smtClean="0"/>
              <a:t>trực</a:t>
            </a:r>
            <a:r>
              <a:rPr lang="en-US" sz="2400" dirty="0" smtClean="0"/>
              <a:t> </a:t>
            </a:r>
            <a:r>
              <a:rPr lang="en-US" sz="2400" dirty="0" err="1" smtClean="0"/>
              <a:t>tiếp</a:t>
            </a:r>
            <a:r>
              <a:rPr lang="en-US" sz="2400" dirty="0" smtClean="0"/>
              <a:t>: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2" t="48047" r="29722" b="31060"/>
          <a:stretch/>
        </p:blipFill>
        <p:spPr bwMode="auto">
          <a:xfrm>
            <a:off x="1752599" y="4267200"/>
            <a:ext cx="5148429" cy="1951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93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0"/>
            <a:ext cx="8839200" cy="12192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THAY THẾ KHỐI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41" t="29890" r="17736" b="14489"/>
          <a:stretch/>
        </p:blipFill>
        <p:spPr bwMode="auto">
          <a:xfrm>
            <a:off x="158484" y="1392382"/>
            <a:ext cx="8992443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4070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0"/>
            <a:ext cx="8839200" cy="12192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THAY THẾ KHỐI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914400"/>
            <a:ext cx="8839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200" dirty="0" err="1" smtClean="0"/>
              <a:t>Trường</a:t>
            </a:r>
            <a:r>
              <a:rPr lang="en-US" sz="2200" dirty="0" smtClean="0"/>
              <a:t> </a:t>
            </a:r>
            <a:r>
              <a:rPr lang="en-US" sz="2200" dirty="0" err="1" smtClean="0"/>
              <a:t>hợp</a:t>
            </a:r>
            <a:r>
              <a:rPr lang="en-US" sz="2200" dirty="0" smtClean="0"/>
              <a:t> cache </a:t>
            </a:r>
            <a:r>
              <a:rPr lang="en-US" sz="2200" dirty="0" err="1" smtClean="0"/>
              <a:t>được</a:t>
            </a:r>
            <a:r>
              <a:rPr lang="en-US" sz="2200" dirty="0" smtClean="0"/>
              <a:t> </a:t>
            </a:r>
            <a:r>
              <a:rPr lang="en-US" sz="2200" dirty="0" err="1" smtClean="0"/>
              <a:t>tổ</a:t>
            </a:r>
            <a:r>
              <a:rPr lang="en-US" sz="2200" dirty="0" smtClean="0"/>
              <a:t> </a:t>
            </a:r>
            <a:r>
              <a:rPr lang="en-US" sz="2200" dirty="0" err="1" smtClean="0"/>
              <a:t>chức</a:t>
            </a:r>
            <a:r>
              <a:rPr lang="en-US" sz="2200" dirty="0" smtClean="0"/>
              <a:t> </a:t>
            </a:r>
            <a:r>
              <a:rPr lang="en-US" sz="2200" dirty="0" err="1" smtClean="0"/>
              <a:t>theo</a:t>
            </a:r>
            <a:r>
              <a:rPr lang="en-US" sz="2200" dirty="0" smtClean="0"/>
              <a:t> </a:t>
            </a:r>
            <a:r>
              <a:rPr lang="en-US" sz="2200" dirty="0" err="1" smtClean="0"/>
              <a:t>kiểu</a:t>
            </a:r>
            <a:r>
              <a:rPr lang="en-US" sz="2200" dirty="0" smtClean="0"/>
              <a:t> </a:t>
            </a:r>
            <a:r>
              <a:rPr lang="en-US" sz="2200" dirty="0" err="1" smtClean="0"/>
              <a:t>kết</a:t>
            </a:r>
            <a:r>
              <a:rPr lang="en-US" sz="2200" dirty="0" smtClean="0"/>
              <a:t> </a:t>
            </a:r>
            <a:r>
              <a:rPr lang="en-US" sz="2200" dirty="0" err="1" smtClean="0"/>
              <a:t>hợp</a:t>
            </a:r>
            <a:r>
              <a:rPr lang="en-US" sz="2200" dirty="0" smtClean="0"/>
              <a:t> </a:t>
            </a:r>
            <a:r>
              <a:rPr lang="en-US" sz="2200" dirty="0" err="1" smtClean="0"/>
              <a:t>theo</a:t>
            </a:r>
            <a:r>
              <a:rPr lang="en-US" sz="2200" dirty="0" smtClean="0"/>
              <a:t> </a:t>
            </a:r>
            <a:r>
              <a:rPr lang="en-US" sz="2200" dirty="0" err="1" smtClean="0"/>
              <a:t>tập</a:t>
            </a:r>
            <a:r>
              <a:rPr lang="en-US" sz="2200" dirty="0" smtClean="0"/>
              <a:t> </a:t>
            </a:r>
            <a:r>
              <a:rPr lang="en-US" sz="2200" dirty="0" err="1" smtClean="0"/>
              <a:t>hợp</a:t>
            </a:r>
            <a:r>
              <a:rPr lang="en-US" sz="2200" dirty="0" smtClean="0"/>
              <a:t>: chia </a:t>
            </a:r>
            <a:r>
              <a:rPr lang="en-US" sz="2200" dirty="0" err="1" smtClean="0"/>
              <a:t>thành</a:t>
            </a:r>
            <a:r>
              <a:rPr lang="en-US" sz="2200" dirty="0" smtClean="0"/>
              <a:t> </a:t>
            </a:r>
            <a:r>
              <a:rPr lang="en-US" sz="2200" dirty="0" err="1" smtClean="0"/>
              <a:t>hai</a:t>
            </a:r>
            <a:r>
              <a:rPr lang="en-US" sz="2200" dirty="0" smtClean="0"/>
              <a:t> </a:t>
            </a:r>
            <a:r>
              <a:rPr lang="en-US" sz="2200" dirty="0" err="1" smtClean="0"/>
              <a:t>tập</a:t>
            </a:r>
            <a:r>
              <a:rPr lang="en-US" sz="2200" dirty="0" smtClean="0"/>
              <a:t> </a:t>
            </a:r>
            <a:r>
              <a:rPr lang="en-US" sz="2200" dirty="0" err="1" smtClean="0"/>
              <a:t>hợp</a:t>
            </a:r>
            <a:r>
              <a:rPr lang="en-US" sz="2200" dirty="0" smtClean="0"/>
              <a:t> (</a:t>
            </a:r>
            <a:r>
              <a:rPr lang="en-US" sz="2200" dirty="0" err="1" smtClean="0"/>
              <a:t>mỗi</a:t>
            </a:r>
            <a:r>
              <a:rPr lang="en-US" sz="2200" dirty="0" smtClean="0"/>
              <a:t> </a:t>
            </a:r>
            <a:r>
              <a:rPr lang="en-US" sz="2200" dirty="0" err="1" smtClean="0"/>
              <a:t>tập</a:t>
            </a:r>
            <a:r>
              <a:rPr lang="en-US" sz="2200" dirty="0" smtClean="0"/>
              <a:t> </a:t>
            </a:r>
            <a:r>
              <a:rPr lang="en-US" sz="2200" dirty="0" err="1" smtClean="0"/>
              <a:t>hợp</a:t>
            </a:r>
            <a:r>
              <a:rPr lang="en-US" sz="2200" dirty="0" smtClean="0"/>
              <a:t> </a:t>
            </a:r>
            <a:r>
              <a:rPr lang="en-US" sz="2200" dirty="0" err="1" smtClean="0"/>
              <a:t>có</a:t>
            </a:r>
            <a:r>
              <a:rPr lang="en-US" sz="2200" dirty="0" smtClean="0"/>
              <a:t> </a:t>
            </a:r>
            <a:r>
              <a:rPr lang="en-US" sz="2200" dirty="0" err="1" smtClean="0"/>
              <a:t>hai</a:t>
            </a:r>
            <a:r>
              <a:rPr lang="en-US" sz="2200" dirty="0" smtClean="0"/>
              <a:t> </a:t>
            </a:r>
            <a:r>
              <a:rPr lang="en-US" sz="2200" dirty="0" err="1" smtClean="0"/>
              <a:t>phần</a:t>
            </a:r>
            <a:r>
              <a:rPr lang="en-US" sz="2200" dirty="0" smtClean="0"/>
              <a:t> </a:t>
            </a:r>
            <a:r>
              <a:rPr lang="en-US" sz="2200" dirty="0" err="1" smtClean="0"/>
              <a:t>tử</a:t>
            </a:r>
            <a:r>
              <a:rPr lang="en-US" sz="2200" dirty="0" smtClean="0"/>
              <a:t>), </a:t>
            </a:r>
            <a:r>
              <a:rPr lang="en-US" sz="2200" dirty="0" err="1" smtClean="0"/>
              <a:t>cần</a:t>
            </a:r>
            <a:r>
              <a:rPr lang="en-US" sz="2200" dirty="0" smtClean="0"/>
              <a:t> </a:t>
            </a:r>
            <a:r>
              <a:rPr lang="en-US" sz="2200" dirty="0" err="1" smtClean="0"/>
              <a:t>xác</a:t>
            </a:r>
            <a:r>
              <a:rPr lang="en-US" sz="2200" dirty="0" smtClean="0"/>
              <a:t> </a:t>
            </a:r>
            <a:r>
              <a:rPr lang="en-US" sz="2200" dirty="0" err="1" smtClean="0"/>
              <a:t>định</a:t>
            </a:r>
            <a:r>
              <a:rPr lang="en-US" sz="2200" dirty="0" smtClean="0"/>
              <a:t> </a:t>
            </a:r>
            <a:r>
              <a:rPr lang="en-US" sz="2200" dirty="0" err="1" smtClean="0"/>
              <a:t>chỉ</a:t>
            </a:r>
            <a:r>
              <a:rPr lang="en-US" sz="2200" dirty="0" smtClean="0"/>
              <a:t> </a:t>
            </a:r>
            <a:r>
              <a:rPr lang="en-US" sz="2200" dirty="0" err="1" smtClean="0"/>
              <a:t>số</a:t>
            </a:r>
            <a:r>
              <a:rPr lang="en-US" sz="2200" dirty="0" smtClean="0"/>
              <a:t> </a:t>
            </a:r>
            <a:r>
              <a:rPr lang="en-US" sz="2200" dirty="0" err="1" smtClean="0"/>
              <a:t>tập</a:t>
            </a:r>
            <a:r>
              <a:rPr lang="en-US" sz="2200" dirty="0" smtClean="0"/>
              <a:t> </a:t>
            </a:r>
            <a:r>
              <a:rPr lang="en-US" sz="2200" dirty="0" err="1" smtClean="0"/>
              <a:t>hợp</a:t>
            </a:r>
            <a:r>
              <a:rPr lang="en-US" sz="2200" dirty="0" smtClean="0"/>
              <a:t> </a:t>
            </a:r>
            <a:r>
              <a:rPr lang="en-US" sz="2200" dirty="0" err="1" smtClean="0"/>
              <a:t>khi</a:t>
            </a:r>
            <a:r>
              <a:rPr lang="en-US" sz="2200" dirty="0" smtClean="0"/>
              <a:t> </a:t>
            </a:r>
            <a:r>
              <a:rPr lang="en-US" sz="2200" dirty="0" err="1" smtClean="0"/>
              <a:t>một</a:t>
            </a:r>
            <a:r>
              <a:rPr lang="en-US" sz="2200" dirty="0" smtClean="0"/>
              <a:t> </a:t>
            </a:r>
            <a:r>
              <a:rPr lang="en-US" sz="2200" dirty="0" err="1" smtClean="0"/>
              <a:t>địa</a:t>
            </a:r>
            <a:r>
              <a:rPr lang="en-US" sz="2200" dirty="0" smtClean="0"/>
              <a:t> </a:t>
            </a:r>
            <a:r>
              <a:rPr lang="en-US" sz="2200" dirty="0" err="1" smtClean="0"/>
              <a:t>chỉ</a:t>
            </a:r>
            <a:r>
              <a:rPr lang="en-US" sz="2200" dirty="0" smtClean="0"/>
              <a:t> </a:t>
            </a:r>
            <a:r>
              <a:rPr lang="en-US" sz="2200" dirty="0" err="1" smtClean="0"/>
              <a:t>được</a:t>
            </a:r>
            <a:r>
              <a:rPr lang="en-US" sz="2200" dirty="0" smtClean="0"/>
              <a:t> </a:t>
            </a:r>
            <a:r>
              <a:rPr lang="en-US" sz="2200" dirty="0" err="1" smtClean="0"/>
              <a:t>truy</a:t>
            </a:r>
            <a:r>
              <a:rPr lang="en-US" sz="2200" dirty="0" smtClean="0"/>
              <a:t> </a:t>
            </a:r>
            <a:r>
              <a:rPr lang="en-US" sz="2200" dirty="0" err="1" smtClean="0"/>
              <a:t>cập</a:t>
            </a:r>
            <a:r>
              <a:rPr lang="en-US" sz="2200" dirty="0" smtClean="0"/>
              <a:t>:</a:t>
            </a:r>
            <a:endParaRPr lang="en-US" sz="2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12" t="50001" r="30894" b="31249"/>
          <a:stretch/>
        </p:blipFill>
        <p:spPr bwMode="auto">
          <a:xfrm>
            <a:off x="2209800" y="2147455"/>
            <a:ext cx="4477328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0" t="30209" r="17843" b="30966"/>
          <a:stretch/>
        </p:blipFill>
        <p:spPr bwMode="auto">
          <a:xfrm>
            <a:off x="399163" y="3740728"/>
            <a:ext cx="8345673" cy="3082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2170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0"/>
            <a:ext cx="8839200" cy="12192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THAY THẾ KHỐI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6255" y="1145232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400" dirty="0" err="1"/>
              <a:t>Trường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cache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tổ</a:t>
            </a:r>
            <a:r>
              <a:rPr lang="en-US" sz="2400" dirty="0"/>
              <a:t> </a:t>
            </a: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đầy</a:t>
            </a:r>
            <a:r>
              <a:rPr lang="en-US" sz="2400" dirty="0"/>
              <a:t> </a:t>
            </a:r>
            <a:r>
              <a:rPr lang="en-US" sz="2400" dirty="0" err="1"/>
              <a:t>đủ</a:t>
            </a:r>
            <a:r>
              <a:rPr lang="en-US" sz="2400" dirty="0"/>
              <a:t>:</a:t>
            </a:r>
            <a:endParaRPr lang="en-US" sz="2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88" t="23633" r="17861" b="24432"/>
          <a:stretch/>
        </p:blipFill>
        <p:spPr bwMode="auto">
          <a:xfrm>
            <a:off x="303022" y="2133600"/>
            <a:ext cx="8537956" cy="420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5249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0"/>
            <a:ext cx="8839200" cy="12192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XÁC ĐỊNH KHỐI TRONG CACHE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6255" y="990600"/>
            <a:ext cx="8839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khối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cache, ta </a:t>
            </a:r>
            <a:r>
              <a:rPr lang="en-US" sz="2400" dirty="0" err="1"/>
              <a:t>dựa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nhớ</a:t>
            </a:r>
            <a:r>
              <a:rPr lang="en-US" sz="2400" dirty="0"/>
              <a:t> cache: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: </a:t>
            </a: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khối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cache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này</a:t>
            </a:r>
            <a:r>
              <a:rPr lang="en-US" sz="2400" dirty="0"/>
              <a:t>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bao</a:t>
            </a:r>
            <a:r>
              <a:rPr lang="en-US" sz="2400" dirty="0"/>
              <a:t> </a:t>
            </a:r>
            <a:r>
              <a:rPr lang="en-US" sz="2400" dirty="0" err="1"/>
              <a:t>gồm</a:t>
            </a:r>
            <a:r>
              <a:rPr lang="en-US" sz="2400" dirty="0"/>
              <a:t> </a:t>
            </a:r>
            <a:r>
              <a:rPr lang="en-US" sz="2400" dirty="0" err="1"/>
              <a:t>ba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: </a:t>
            </a:r>
            <a:r>
              <a:rPr lang="en-US" sz="2400" dirty="0" err="1"/>
              <a:t>thẻ</a:t>
            </a:r>
            <a:r>
              <a:rPr lang="en-US" sz="2400" dirty="0"/>
              <a:t> (</a:t>
            </a:r>
            <a:r>
              <a:rPr lang="en-US" sz="2400" i="1" dirty="0"/>
              <a:t>tag</a:t>
            </a:r>
            <a:r>
              <a:rPr lang="en-US" sz="2400" dirty="0"/>
              <a:t>),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(</a:t>
            </a:r>
            <a:r>
              <a:rPr lang="en-US" sz="2400" i="1" dirty="0"/>
              <a:t>index</a:t>
            </a:r>
            <a:r>
              <a:rPr lang="en-US" sz="2400" dirty="0"/>
              <a:t>)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dời</a:t>
            </a:r>
            <a:r>
              <a:rPr lang="en-US" sz="2400" dirty="0"/>
              <a:t> </a:t>
            </a:r>
            <a:r>
              <a:rPr lang="en-US" sz="2400" dirty="0" err="1"/>
              <a:t>khối</a:t>
            </a:r>
            <a:r>
              <a:rPr lang="en-US" sz="2400" dirty="0"/>
              <a:t> (</a:t>
            </a:r>
            <a:r>
              <a:rPr lang="en-US" sz="2400" i="1" dirty="0"/>
              <a:t>block offset</a:t>
            </a:r>
            <a:r>
              <a:rPr lang="en-US" sz="2400" dirty="0"/>
              <a:t>).</a:t>
            </a:r>
            <a:endParaRPr lang="en-US" sz="2200" dirty="0"/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-19049" y="311727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2401" y="3702368"/>
            <a:ext cx="89777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200" dirty="0" err="1"/>
              <a:t>Ánh</a:t>
            </a:r>
            <a:r>
              <a:rPr lang="en-US" sz="2200" dirty="0"/>
              <a:t> </a:t>
            </a:r>
            <a:r>
              <a:rPr lang="en-US" sz="2200" dirty="0" err="1"/>
              <a:t>xạ</a:t>
            </a:r>
            <a:r>
              <a:rPr lang="en-US" sz="2200" dirty="0"/>
              <a:t> </a:t>
            </a:r>
            <a:r>
              <a:rPr lang="en-US" sz="2200" dirty="0" err="1"/>
              <a:t>trực</a:t>
            </a:r>
            <a:r>
              <a:rPr lang="en-US" sz="2200" dirty="0"/>
              <a:t> </a:t>
            </a:r>
            <a:r>
              <a:rPr lang="en-US" sz="2200" dirty="0" err="1"/>
              <a:t>tiếp</a:t>
            </a:r>
            <a:r>
              <a:rPr lang="en-US" sz="2200" dirty="0"/>
              <a:t>: </a:t>
            </a:r>
            <a:r>
              <a:rPr lang="en-US" sz="2200" dirty="0" err="1"/>
              <a:t>cũng</a:t>
            </a:r>
            <a:r>
              <a:rPr lang="en-US" sz="2200" dirty="0"/>
              <a:t> </a:t>
            </a:r>
            <a:r>
              <a:rPr lang="en-US" sz="2200" dirty="0" err="1"/>
              <a:t>giống</a:t>
            </a:r>
            <a:r>
              <a:rPr lang="en-US" sz="2200" dirty="0"/>
              <a:t> </a:t>
            </a:r>
            <a:r>
              <a:rPr lang="en-US" sz="2200" dirty="0" err="1"/>
              <a:t>như</a:t>
            </a:r>
            <a:r>
              <a:rPr lang="en-US" sz="2200" dirty="0"/>
              <a:t> </a:t>
            </a:r>
            <a:r>
              <a:rPr lang="en-US" sz="2200" dirty="0" err="1"/>
              <a:t>kiểu</a:t>
            </a:r>
            <a:r>
              <a:rPr lang="en-US" sz="2200" dirty="0"/>
              <a:t> </a:t>
            </a:r>
            <a:r>
              <a:rPr lang="en-US" sz="2200" dirty="0" err="1"/>
              <a:t>kết</a:t>
            </a:r>
            <a:r>
              <a:rPr lang="en-US" sz="2200" dirty="0"/>
              <a:t> </a:t>
            </a:r>
            <a:r>
              <a:rPr lang="en-US" sz="2200" dirty="0" err="1"/>
              <a:t>hợp</a:t>
            </a:r>
            <a:r>
              <a:rPr lang="en-US" sz="2200" dirty="0"/>
              <a:t> </a:t>
            </a:r>
            <a:r>
              <a:rPr lang="en-US" sz="2200" dirty="0" err="1"/>
              <a:t>theo</a:t>
            </a:r>
            <a:r>
              <a:rPr lang="en-US" sz="2200" dirty="0"/>
              <a:t> </a:t>
            </a:r>
            <a:r>
              <a:rPr lang="en-US" sz="2200" dirty="0" err="1"/>
              <a:t>tập</a:t>
            </a:r>
            <a:r>
              <a:rPr lang="en-US" sz="2200" dirty="0"/>
              <a:t> </a:t>
            </a:r>
            <a:r>
              <a:rPr lang="en-US" sz="2200" dirty="0" err="1"/>
              <a:t>hợp</a:t>
            </a:r>
            <a:r>
              <a:rPr lang="en-US" sz="2200" dirty="0"/>
              <a:t>, </a:t>
            </a:r>
            <a:r>
              <a:rPr lang="en-US" sz="2200" dirty="0" err="1"/>
              <a:t>mỗi</a:t>
            </a:r>
            <a:r>
              <a:rPr lang="en-US" sz="2200" dirty="0"/>
              <a:t> </a:t>
            </a:r>
            <a:r>
              <a:rPr lang="en-US" sz="2200" dirty="0" err="1"/>
              <a:t>khối</a:t>
            </a:r>
            <a:r>
              <a:rPr lang="en-US" sz="2200" dirty="0"/>
              <a:t> </a:t>
            </a:r>
            <a:r>
              <a:rPr lang="en-US" sz="2200" dirty="0" err="1"/>
              <a:t>trong</a:t>
            </a:r>
            <a:r>
              <a:rPr lang="en-US" sz="2200" dirty="0"/>
              <a:t> </a:t>
            </a:r>
            <a:r>
              <a:rPr lang="en-US" sz="2200" dirty="0" err="1"/>
              <a:t>bộ</a:t>
            </a:r>
            <a:r>
              <a:rPr lang="en-US" sz="2200" dirty="0"/>
              <a:t> </a:t>
            </a:r>
            <a:r>
              <a:rPr lang="en-US" sz="2200" dirty="0" err="1"/>
              <a:t>nhớ</a:t>
            </a:r>
            <a:r>
              <a:rPr lang="en-US" sz="2200" dirty="0"/>
              <a:t> cache </a:t>
            </a:r>
            <a:r>
              <a:rPr lang="en-US" sz="2200" dirty="0" err="1"/>
              <a:t>cũng</a:t>
            </a:r>
            <a:r>
              <a:rPr lang="en-US" sz="2200" dirty="0"/>
              <a:t> </a:t>
            </a:r>
            <a:r>
              <a:rPr lang="en-US" sz="2200" dirty="0" err="1"/>
              <a:t>bao</a:t>
            </a:r>
            <a:r>
              <a:rPr lang="en-US" sz="2200" dirty="0"/>
              <a:t> </a:t>
            </a:r>
            <a:r>
              <a:rPr lang="en-US" sz="2200" dirty="0" err="1"/>
              <a:t>gồm</a:t>
            </a:r>
            <a:r>
              <a:rPr lang="en-US" sz="2200" dirty="0"/>
              <a:t> </a:t>
            </a:r>
            <a:r>
              <a:rPr lang="en-US" sz="2200" dirty="0" err="1"/>
              <a:t>ba</a:t>
            </a:r>
            <a:r>
              <a:rPr lang="en-US" sz="2200" dirty="0"/>
              <a:t> </a:t>
            </a:r>
            <a:r>
              <a:rPr lang="en-US" sz="2200" dirty="0" err="1"/>
              <a:t>phần</a:t>
            </a:r>
            <a:r>
              <a:rPr lang="en-US" sz="2200" dirty="0"/>
              <a:t>: </a:t>
            </a:r>
            <a:r>
              <a:rPr lang="en-US" sz="2200" dirty="0" err="1"/>
              <a:t>thẻ</a:t>
            </a:r>
            <a:r>
              <a:rPr lang="en-US" sz="2200" dirty="0"/>
              <a:t>, </a:t>
            </a:r>
            <a:r>
              <a:rPr lang="en-US" sz="2200" dirty="0" err="1"/>
              <a:t>chỉ</a:t>
            </a:r>
            <a:r>
              <a:rPr lang="en-US" sz="2200" dirty="0"/>
              <a:t> </a:t>
            </a:r>
            <a:r>
              <a:rPr lang="en-US" sz="2200" dirty="0" err="1"/>
              <a:t>số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độ</a:t>
            </a:r>
            <a:r>
              <a:rPr lang="en-US" sz="2200" dirty="0"/>
              <a:t> </a:t>
            </a:r>
            <a:r>
              <a:rPr lang="en-US" sz="2200" dirty="0" err="1"/>
              <a:t>dời</a:t>
            </a:r>
            <a:r>
              <a:rPr lang="en-US" sz="2200" dirty="0"/>
              <a:t> </a:t>
            </a:r>
            <a:r>
              <a:rPr lang="en-US" sz="2200" dirty="0" err="1"/>
              <a:t>khối</a:t>
            </a:r>
            <a:endParaRPr lang="en-US" sz="2200" dirty="0"/>
          </a:p>
        </p:txBody>
      </p:sp>
      <p:pic>
        <p:nvPicPr>
          <p:cNvPr id="8" name="Picture 1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697"/>
          <a:stretch/>
        </p:blipFill>
        <p:spPr bwMode="auto">
          <a:xfrm>
            <a:off x="152401" y="4684930"/>
            <a:ext cx="9144000" cy="505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52400" y="5190619"/>
            <a:ext cx="89777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200" dirty="0" err="1"/>
              <a:t>Kết</a:t>
            </a:r>
            <a:r>
              <a:rPr lang="en-US" sz="2200" dirty="0"/>
              <a:t> </a:t>
            </a:r>
            <a:r>
              <a:rPr lang="en-US" sz="2200" dirty="0" err="1"/>
              <a:t>hợp</a:t>
            </a:r>
            <a:r>
              <a:rPr lang="en-US" sz="2200" dirty="0"/>
              <a:t> </a:t>
            </a:r>
            <a:r>
              <a:rPr lang="en-US" sz="2200" dirty="0" err="1"/>
              <a:t>đầy</a:t>
            </a:r>
            <a:r>
              <a:rPr lang="en-US" sz="2200" dirty="0"/>
              <a:t> </a:t>
            </a:r>
            <a:r>
              <a:rPr lang="en-US" sz="2200" dirty="0" err="1"/>
              <a:t>đủ</a:t>
            </a:r>
            <a:r>
              <a:rPr lang="en-US" sz="2200" dirty="0"/>
              <a:t>: </a:t>
            </a:r>
            <a:r>
              <a:rPr lang="en-US" sz="2200" dirty="0" err="1"/>
              <a:t>trong</a:t>
            </a:r>
            <a:r>
              <a:rPr lang="en-US" sz="2200" dirty="0"/>
              <a:t> </a:t>
            </a:r>
            <a:r>
              <a:rPr lang="en-US" sz="2200" dirty="0" err="1"/>
              <a:t>trường</a:t>
            </a:r>
            <a:r>
              <a:rPr lang="en-US" sz="2200" dirty="0"/>
              <a:t> </a:t>
            </a:r>
            <a:r>
              <a:rPr lang="en-US" sz="2200" dirty="0" err="1"/>
              <a:t>hợp</a:t>
            </a:r>
            <a:r>
              <a:rPr lang="en-US" sz="2200" dirty="0"/>
              <a:t> </a:t>
            </a:r>
            <a:r>
              <a:rPr lang="en-US" sz="2200" dirty="0" err="1"/>
              <a:t>này</a:t>
            </a:r>
            <a:r>
              <a:rPr lang="en-US" sz="2200" dirty="0"/>
              <a:t> do </a:t>
            </a:r>
            <a:r>
              <a:rPr lang="en-US" sz="2200" dirty="0" err="1"/>
              <a:t>chỉ</a:t>
            </a:r>
            <a:r>
              <a:rPr lang="en-US" sz="2200" dirty="0"/>
              <a:t> </a:t>
            </a:r>
            <a:r>
              <a:rPr lang="en-US" sz="2200" dirty="0" err="1"/>
              <a:t>có</a:t>
            </a:r>
            <a:r>
              <a:rPr lang="en-US" sz="2200" dirty="0"/>
              <a:t> </a:t>
            </a: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tập</a:t>
            </a:r>
            <a:r>
              <a:rPr lang="en-US" sz="2200" dirty="0"/>
              <a:t> </a:t>
            </a:r>
            <a:r>
              <a:rPr lang="en-US" sz="2200" dirty="0" err="1"/>
              <a:t>hợp</a:t>
            </a:r>
            <a:r>
              <a:rPr lang="en-US" sz="2200" dirty="0"/>
              <a:t> </a:t>
            </a:r>
            <a:r>
              <a:rPr lang="en-US" sz="2200" dirty="0" err="1"/>
              <a:t>duy</a:t>
            </a:r>
            <a:r>
              <a:rPr lang="en-US" sz="2200" dirty="0"/>
              <a:t> </a:t>
            </a:r>
            <a:r>
              <a:rPr lang="en-US" sz="2200" dirty="0" err="1"/>
              <a:t>nhất</a:t>
            </a:r>
            <a:r>
              <a:rPr lang="en-US" sz="2200" dirty="0"/>
              <a:t> </a:t>
            </a:r>
            <a:r>
              <a:rPr lang="en-US" sz="2200" dirty="0" err="1"/>
              <a:t>sẽ</a:t>
            </a:r>
            <a:r>
              <a:rPr lang="en-US" sz="2200" dirty="0"/>
              <a:t> </a:t>
            </a:r>
            <a:r>
              <a:rPr lang="en-US" sz="2200" dirty="0" err="1"/>
              <a:t>không</a:t>
            </a:r>
            <a:r>
              <a:rPr lang="en-US" sz="2200" dirty="0"/>
              <a:t> </a:t>
            </a:r>
            <a:r>
              <a:rPr lang="en-US" sz="2200" dirty="0" err="1"/>
              <a:t>có</a:t>
            </a:r>
            <a:r>
              <a:rPr lang="en-US" sz="2200" dirty="0"/>
              <a:t> </a:t>
            </a:r>
            <a:r>
              <a:rPr lang="en-US" sz="2200" dirty="0" err="1"/>
              <a:t>phần</a:t>
            </a:r>
            <a:r>
              <a:rPr lang="en-US" sz="2200" dirty="0"/>
              <a:t> </a:t>
            </a:r>
            <a:r>
              <a:rPr lang="en-US" sz="2200" dirty="0" err="1"/>
              <a:t>chỉ</a:t>
            </a:r>
            <a:r>
              <a:rPr lang="en-US" sz="2200" dirty="0"/>
              <a:t> </a:t>
            </a:r>
            <a:r>
              <a:rPr lang="en-US" sz="2200" dirty="0" err="1"/>
              <a:t>số</a:t>
            </a:r>
            <a:r>
              <a:rPr lang="en-US" sz="2200" dirty="0"/>
              <a:t>.</a:t>
            </a:r>
            <a:endParaRPr lang="en-US" sz="2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" y="6064312"/>
            <a:ext cx="9105900" cy="440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3066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255" y="152400"/>
            <a:ext cx="8839200" cy="12192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THAY THẾ KHỐI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6255" y="1524000"/>
            <a:ext cx="8839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thất</a:t>
            </a:r>
            <a:r>
              <a:rPr lang="en-US" sz="2400" dirty="0"/>
              <a:t> </a:t>
            </a:r>
            <a:r>
              <a:rPr lang="en-US" sz="2400" dirty="0" err="1"/>
              <a:t>bại</a:t>
            </a:r>
            <a:r>
              <a:rPr lang="en-US" sz="2400" dirty="0"/>
              <a:t> cache </a:t>
            </a:r>
            <a:r>
              <a:rPr lang="en-US" sz="2400" dirty="0" err="1"/>
              <a:t>xảy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khối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nhớ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/>
              <a:t>thế</a:t>
            </a:r>
            <a:r>
              <a:rPr lang="en-US" sz="2400" dirty="0"/>
              <a:t> </a:t>
            </a:r>
            <a:r>
              <a:rPr lang="en-US" sz="2400" dirty="0" err="1"/>
              <a:t>khối</a:t>
            </a:r>
            <a:r>
              <a:rPr lang="en-US" sz="2400" dirty="0"/>
              <a:t> </a:t>
            </a:r>
            <a:r>
              <a:rPr lang="en-US" sz="2400" dirty="0" err="1"/>
              <a:t>này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nhớ</a:t>
            </a:r>
            <a:r>
              <a:rPr lang="en-US" sz="2400" dirty="0"/>
              <a:t> cache. </a:t>
            </a:r>
            <a:endParaRPr lang="en-US" sz="24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err="1" smtClean="0"/>
              <a:t>Đối</a:t>
            </a:r>
            <a:r>
              <a:rPr lang="en-US" sz="2400" dirty="0" smtClean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ánh</a:t>
            </a:r>
            <a:r>
              <a:rPr lang="en-US" sz="2400" dirty="0"/>
              <a:t> </a:t>
            </a:r>
            <a:r>
              <a:rPr lang="en-US" sz="2400" dirty="0" err="1"/>
              <a:t>xạ</a:t>
            </a:r>
            <a:r>
              <a:rPr lang="en-US" sz="2400" dirty="0"/>
              <a:t> </a:t>
            </a:r>
            <a:r>
              <a:rPr lang="en-US" sz="2400" dirty="0" err="1"/>
              <a:t>trực</a:t>
            </a:r>
            <a:r>
              <a:rPr lang="en-US" sz="2400" dirty="0"/>
              <a:t> </a:t>
            </a:r>
            <a:r>
              <a:rPr lang="en-US" sz="2400" dirty="0" err="1"/>
              <a:t>tiếp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lựa</a:t>
            </a:r>
            <a:r>
              <a:rPr lang="en-US" sz="2400" dirty="0"/>
              <a:t> </a:t>
            </a:r>
            <a:r>
              <a:rPr lang="en-US" sz="2400" dirty="0" err="1"/>
              <a:t>chọn</a:t>
            </a:r>
            <a:r>
              <a:rPr lang="en-US" sz="2400" dirty="0"/>
              <a:t> </a:t>
            </a:r>
            <a:r>
              <a:rPr lang="en-US" sz="2400" dirty="0" err="1"/>
              <a:t>duy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khối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 smtClean="0"/>
              <a:t>thế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err="1" smtClean="0"/>
              <a:t>Trong</a:t>
            </a:r>
            <a:r>
              <a:rPr lang="en-US" sz="2400" dirty="0" smtClean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đầy</a:t>
            </a:r>
            <a:r>
              <a:rPr lang="en-US" sz="2400" dirty="0"/>
              <a:t> </a:t>
            </a:r>
            <a:r>
              <a:rPr lang="en-US" sz="2400" dirty="0" err="1"/>
              <a:t>đủ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lựa</a:t>
            </a:r>
            <a:r>
              <a:rPr lang="en-US" sz="2400" dirty="0"/>
              <a:t> </a:t>
            </a:r>
            <a:r>
              <a:rPr lang="en-US" sz="2400" dirty="0" err="1"/>
              <a:t>chọn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khối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/>
              <a:t>thế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err="1"/>
              <a:t>T</a:t>
            </a:r>
            <a:r>
              <a:rPr lang="en-US" sz="2400" dirty="0" err="1" smtClean="0"/>
              <a:t>rong</a:t>
            </a:r>
            <a:r>
              <a:rPr lang="en-US" sz="2400" dirty="0" smtClean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lựa</a:t>
            </a:r>
            <a:r>
              <a:rPr lang="en-US" sz="2400" dirty="0"/>
              <a:t> </a:t>
            </a:r>
            <a:r>
              <a:rPr lang="en-US" sz="2400" dirty="0" err="1"/>
              <a:t>chọn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khối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tương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/>
              <a:t>thế</a:t>
            </a:r>
            <a:r>
              <a:rPr lang="en-US" sz="2400" dirty="0"/>
              <a:t>. </a:t>
            </a:r>
            <a:r>
              <a:rPr lang="en-US" sz="2400" dirty="0" err="1"/>
              <a:t>Chiến</a:t>
            </a:r>
            <a:r>
              <a:rPr lang="en-US" sz="2400" dirty="0"/>
              <a:t> </a:t>
            </a:r>
            <a:r>
              <a:rPr lang="en-US" sz="2400" dirty="0" err="1"/>
              <a:t>thuật</a:t>
            </a:r>
            <a:r>
              <a:rPr lang="en-US" sz="2400" dirty="0"/>
              <a:t>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/>
              <a:t>thế</a:t>
            </a:r>
            <a:r>
              <a:rPr lang="en-US" sz="2400" dirty="0"/>
              <a:t> </a:t>
            </a:r>
            <a:r>
              <a:rPr lang="en-US" sz="2400" dirty="0" err="1"/>
              <a:t>thường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/>
              <a:t>thế</a:t>
            </a:r>
            <a:r>
              <a:rPr lang="en-US" sz="2400" dirty="0"/>
              <a:t> </a:t>
            </a:r>
            <a:r>
              <a:rPr lang="en-US" sz="2400" dirty="0" err="1"/>
              <a:t>khối</a:t>
            </a:r>
            <a:r>
              <a:rPr lang="en-US" sz="2400" dirty="0"/>
              <a:t> </a:t>
            </a:r>
            <a:r>
              <a:rPr lang="en-US" sz="2400" dirty="0" err="1"/>
              <a:t>ít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gần</a:t>
            </a:r>
            <a:r>
              <a:rPr lang="en-US" sz="2400" dirty="0"/>
              <a:t> </a:t>
            </a:r>
            <a:r>
              <a:rPr lang="en-US" sz="2400" dirty="0" err="1"/>
              <a:t>đây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r>
              <a:rPr lang="en-US" sz="2400" dirty="0"/>
              <a:t> (</a:t>
            </a:r>
            <a:r>
              <a:rPr lang="en-US" sz="2400" i="1" dirty="0"/>
              <a:t>least recently used</a:t>
            </a:r>
            <a:r>
              <a:rPr lang="en-US" sz="2400" dirty="0"/>
              <a:t> – LRU). Theo LRU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khối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/>
              <a:t>thế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khối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dài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961467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76200"/>
            <a:ext cx="8839200" cy="12192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THAY THẾ KHỐI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1143000"/>
            <a:ext cx="88392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nhớ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cache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gồm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4K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mỗi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4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địa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kích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thước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32 bit.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Hãy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bit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thẻ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tags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nhớ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cache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mô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ánh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trực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4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đầy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đủ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200" b="1" u="sng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mỗi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4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nên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mỗi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16 (=2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byte,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địa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offet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4 bit.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32 – 4 = 28 bit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thẻ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tag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index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Mô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ánh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trực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nên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12 bit (log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(4K) = 12).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bit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thẻ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(28 – 12) × 4K = 16 × 4K = 64Kbit.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ết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2K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bit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thẻ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(28 – 11) × 2 × 2K = 34 × 2K = 68Kbit.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4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1K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bit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thẻ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(28 – 10) × 4 × 1K = 72 × 1K = 72Kbit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Mô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đầy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đủ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4K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thẻ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28 bit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bit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thẻ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28 × 4K × 1 = 112Kbit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075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76200"/>
            <a:ext cx="8839200" cy="12192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CACHE NHIỀU MỨC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327" y="1447800"/>
            <a:ext cx="8839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giảm</a:t>
            </a:r>
            <a:r>
              <a:rPr lang="en-US" sz="2400" dirty="0"/>
              <a:t> </a:t>
            </a:r>
            <a:r>
              <a:rPr lang="en-US" sz="2400" dirty="0" err="1"/>
              <a:t>trừng</a:t>
            </a:r>
            <a:r>
              <a:rPr lang="en-US" sz="2400" dirty="0"/>
              <a:t> </a:t>
            </a:r>
            <a:r>
              <a:rPr lang="en-US" sz="2400" dirty="0" err="1"/>
              <a:t>phạt</a:t>
            </a:r>
            <a:r>
              <a:rPr lang="en-US" sz="2400" dirty="0"/>
              <a:t> </a:t>
            </a:r>
            <a:r>
              <a:rPr lang="en-US" sz="2400" dirty="0" err="1"/>
              <a:t>thất</a:t>
            </a:r>
            <a:r>
              <a:rPr lang="en-US" sz="2400" dirty="0"/>
              <a:t> </a:t>
            </a:r>
            <a:r>
              <a:rPr lang="en-US" sz="2400" dirty="0" err="1"/>
              <a:t>bại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khuynh</a:t>
            </a:r>
            <a:r>
              <a:rPr lang="en-US" sz="2400" dirty="0"/>
              <a:t> </a:t>
            </a:r>
            <a:r>
              <a:rPr lang="en-US" sz="2400" dirty="0" err="1"/>
              <a:t>hướng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mức</a:t>
            </a:r>
            <a:r>
              <a:rPr lang="en-US" sz="2400" dirty="0"/>
              <a:t> </a:t>
            </a:r>
            <a:r>
              <a:rPr lang="en-US" sz="2400" dirty="0" smtClean="0"/>
              <a:t>cache.</a:t>
            </a:r>
          </a:p>
          <a:p>
            <a:r>
              <a:rPr lang="en-US" sz="2400" dirty="0" err="1"/>
              <a:t>V</a:t>
            </a:r>
            <a:r>
              <a:rPr lang="en-US" sz="2400" dirty="0" err="1" smtClean="0"/>
              <a:t>í</a:t>
            </a:r>
            <a:r>
              <a:rPr lang="en-US" sz="2400" dirty="0" smtClean="0"/>
              <a:t> </a:t>
            </a:r>
            <a:r>
              <a:rPr lang="en-US" sz="2400" dirty="0" err="1"/>
              <a:t>dụ</a:t>
            </a:r>
            <a:r>
              <a:rPr lang="en-US" sz="2400" dirty="0"/>
              <a:t> </a:t>
            </a:r>
            <a:r>
              <a:rPr lang="en-US" sz="2400" dirty="0" err="1"/>
              <a:t>như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: </a:t>
            </a:r>
            <a:r>
              <a:rPr lang="en-US" sz="2400" dirty="0" err="1"/>
              <a:t>Giả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chúng</a:t>
            </a:r>
            <a:r>
              <a:rPr lang="en-US" sz="2400" dirty="0"/>
              <a:t> ta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CPI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sở</a:t>
            </a:r>
            <a:r>
              <a:rPr lang="en-US" sz="2400" dirty="0"/>
              <a:t> (</a:t>
            </a:r>
            <a:r>
              <a:rPr lang="en-US" sz="2400" i="1" dirty="0"/>
              <a:t>base CPI</a:t>
            </a:r>
            <a:r>
              <a:rPr lang="en-US" sz="2400" dirty="0"/>
              <a:t>) </a:t>
            </a:r>
            <a:r>
              <a:rPr lang="en-US" sz="2400" dirty="0" err="1"/>
              <a:t>là</a:t>
            </a:r>
            <a:r>
              <a:rPr lang="en-US" sz="2400" dirty="0"/>
              <a:t> 1.0, </a:t>
            </a:r>
            <a:r>
              <a:rPr lang="en-US" sz="2400" dirty="0" err="1"/>
              <a:t>giả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truy</a:t>
            </a:r>
            <a:r>
              <a:rPr lang="en-US" sz="2400" dirty="0"/>
              <a:t> </a:t>
            </a:r>
            <a:r>
              <a:rPr lang="en-US" sz="2400" dirty="0" err="1"/>
              <a:t>cập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cache </a:t>
            </a:r>
            <a:r>
              <a:rPr lang="en-US" sz="2400" dirty="0" err="1"/>
              <a:t>sơ</a:t>
            </a:r>
            <a:r>
              <a:rPr lang="en-US" sz="2400" dirty="0"/>
              <a:t> </a:t>
            </a:r>
            <a:r>
              <a:rPr lang="en-US" sz="2400" dirty="0" err="1"/>
              <a:t>cấp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tỷ</a:t>
            </a:r>
            <a:r>
              <a:rPr lang="en-US" sz="2400" dirty="0"/>
              <a:t> </a:t>
            </a:r>
            <a:r>
              <a:rPr lang="en-US" sz="2400" dirty="0" err="1"/>
              <a:t>lệ</a:t>
            </a:r>
            <a:r>
              <a:rPr lang="en-US" sz="2400" dirty="0"/>
              <a:t> </a:t>
            </a:r>
            <a:r>
              <a:rPr lang="en-US" sz="2400" dirty="0" err="1"/>
              <a:t>xung</a:t>
            </a:r>
            <a:r>
              <a:rPr lang="en-US" sz="2400" dirty="0"/>
              <a:t> </a:t>
            </a:r>
            <a:r>
              <a:rPr lang="en-US" sz="2400" dirty="0" err="1"/>
              <a:t>nhịp</a:t>
            </a:r>
            <a:r>
              <a:rPr lang="en-US" sz="2400" dirty="0"/>
              <a:t> (</a:t>
            </a:r>
            <a:r>
              <a:rPr lang="en-US" sz="2400" i="1" dirty="0"/>
              <a:t>clock rate</a:t>
            </a:r>
            <a:r>
              <a:rPr lang="en-US" sz="2400" dirty="0"/>
              <a:t>) </a:t>
            </a:r>
            <a:r>
              <a:rPr lang="en-US" sz="2400" dirty="0" err="1"/>
              <a:t>là</a:t>
            </a:r>
            <a:r>
              <a:rPr lang="en-US" sz="2400" dirty="0"/>
              <a:t> 4GHz. </a:t>
            </a:r>
            <a:r>
              <a:rPr lang="en-US" sz="2400" dirty="0" err="1"/>
              <a:t>Giả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truy</a:t>
            </a:r>
            <a:r>
              <a:rPr lang="en-US" sz="2400" dirty="0"/>
              <a:t> </a:t>
            </a:r>
            <a:r>
              <a:rPr lang="en-US" sz="2400" dirty="0" err="1"/>
              <a:t>cập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nhớ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100 ns, </a:t>
            </a:r>
            <a:r>
              <a:rPr lang="en-US" sz="2400" dirty="0" err="1"/>
              <a:t>bao</a:t>
            </a:r>
            <a:r>
              <a:rPr lang="en-US" sz="2400" dirty="0"/>
              <a:t> </a:t>
            </a:r>
            <a:r>
              <a:rPr lang="en-US" sz="2400" dirty="0" err="1"/>
              <a:t>gồm</a:t>
            </a:r>
            <a:r>
              <a:rPr lang="en-US" sz="2400" dirty="0"/>
              <a:t> </a:t>
            </a: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thất</a:t>
            </a:r>
            <a:r>
              <a:rPr lang="en-US" sz="2400" dirty="0"/>
              <a:t> </a:t>
            </a:r>
            <a:r>
              <a:rPr lang="en-US" sz="2400" dirty="0" err="1"/>
              <a:t>bại</a:t>
            </a:r>
            <a:r>
              <a:rPr lang="en-US" sz="2400" dirty="0"/>
              <a:t>. </a:t>
            </a:r>
            <a:r>
              <a:rPr lang="en-US" sz="2400" dirty="0" err="1"/>
              <a:t>Giả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tỷ</a:t>
            </a:r>
            <a:r>
              <a:rPr lang="en-US" sz="2400" dirty="0"/>
              <a:t> </a:t>
            </a:r>
            <a:r>
              <a:rPr lang="en-US" sz="2400" dirty="0" err="1"/>
              <a:t>lệ</a:t>
            </a:r>
            <a:r>
              <a:rPr lang="en-US" sz="2400" dirty="0"/>
              <a:t> </a:t>
            </a:r>
            <a:r>
              <a:rPr lang="en-US" sz="2400" dirty="0" err="1"/>
              <a:t>thất</a:t>
            </a:r>
            <a:r>
              <a:rPr lang="en-US" sz="2400" dirty="0"/>
              <a:t> </a:t>
            </a:r>
            <a:r>
              <a:rPr lang="en-US" sz="2400" dirty="0" err="1"/>
              <a:t>bại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lệnh</a:t>
            </a:r>
            <a:r>
              <a:rPr lang="en-US" sz="2400" dirty="0"/>
              <a:t> ở cache </a:t>
            </a:r>
            <a:r>
              <a:rPr lang="en-US" sz="2400" dirty="0" err="1"/>
              <a:t>sơ</a:t>
            </a:r>
            <a:r>
              <a:rPr lang="en-US" sz="2400" dirty="0"/>
              <a:t> </a:t>
            </a:r>
            <a:r>
              <a:rPr lang="en-US" sz="2400" dirty="0" err="1"/>
              <a:t>cấp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2%. </a:t>
            </a:r>
            <a:r>
              <a:rPr lang="en-US" sz="2400" dirty="0" err="1"/>
              <a:t>Hỏi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nhanh</a:t>
            </a:r>
            <a:r>
              <a:rPr lang="en-US" sz="2400" dirty="0"/>
              <a:t> </a:t>
            </a:r>
            <a:r>
              <a:rPr lang="en-US" sz="2400" dirty="0" err="1"/>
              <a:t>hơn</a:t>
            </a:r>
            <a:r>
              <a:rPr lang="en-US" sz="2400" dirty="0"/>
              <a:t> </a:t>
            </a:r>
            <a:r>
              <a:rPr lang="en-US" sz="2400" dirty="0" err="1"/>
              <a:t>bao</a:t>
            </a:r>
            <a:r>
              <a:rPr lang="en-US" sz="2400" dirty="0"/>
              <a:t> </a:t>
            </a:r>
            <a:r>
              <a:rPr lang="en-US" sz="2400" dirty="0" err="1"/>
              <a:t>nhiêu</a:t>
            </a:r>
            <a:r>
              <a:rPr lang="en-US" sz="2400" dirty="0"/>
              <a:t> </a:t>
            </a:r>
            <a:r>
              <a:rPr lang="en-US" sz="2400" dirty="0" err="1"/>
              <a:t>lần</a:t>
            </a:r>
            <a:r>
              <a:rPr lang="en-US" sz="2400" dirty="0"/>
              <a:t>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chúng</a:t>
            </a:r>
            <a:r>
              <a:rPr lang="en-US" sz="2400" dirty="0"/>
              <a:t> ta </a:t>
            </a:r>
            <a:r>
              <a:rPr lang="en-US" sz="2400" dirty="0" err="1"/>
              <a:t>bổ</a:t>
            </a:r>
            <a:r>
              <a:rPr lang="en-US" sz="2400" dirty="0"/>
              <a:t> sung </a:t>
            </a:r>
            <a:r>
              <a:rPr lang="en-US" sz="2400" dirty="0" err="1"/>
              <a:t>thêm</a:t>
            </a:r>
            <a:r>
              <a:rPr lang="en-US" sz="2400" dirty="0"/>
              <a:t> cache </a:t>
            </a:r>
            <a:r>
              <a:rPr lang="en-US" sz="2400" dirty="0" err="1"/>
              <a:t>mức</a:t>
            </a:r>
            <a:r>
              <a:rPr lang="en-US" sz="2400" dirty="0"/>
              <a:t> 2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truy</a:t>
            </a:r>
            <a:r>
              <a:rPr lang="en-US" sz="2400" dirty="0"/>
              <a:t> </a:t>
            </a:r>
            <a:r>
              <a:rPr lang="en-US" sz="2400" dirty="0" err="1"/>
              <a:t>cập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5 ns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trường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cũng</a:t>
            </a:r>
            <a:r>
              <a:rPr lang="en-US" sz="2400" dirty="0"/>
              <a:t> </a:t>
            </a:r>
            <a:r>
              <a:rPr lang="en-US" sz="2400" dirty="0" err="1"/>
              <a:t>như</a:t>
            </a:r>
            <a:r>
              <a:rPr lang="en-US" sz="2400" dirty="0"/>
              <a:t> </a:t>
            </a:r>
            <a:r>
              <a:rPr lang="en-US" sz="2400" dirty="0" err="1"/>
              <a:t>thất</a:t>
            </a:r>
            <a:r>
              <a:rPr lang="en-US" sz="2400" dirty="0"/>
              <a:t> </a:t>
            </a:r>
            <a:r>
              <a:rPr lang="en-US" sz="2400" dirty="0" err="1"/>
              <a:t>bại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cache </a:t>
            </a:r>
            <a:r>
              <a:rPr lang="en-US" sz="2400" dirty="0" err="1"/>
              <a:t>này</a:t>
            </a:r>
            <a:r>
              <a:rPr lang="en-US" sz="2400" dirty="0"/>
              <a:t> </a:t>
            </a:r>
            <a:r>
              <a:rPr lang="en-US" sz="2400" dirty="0" err="1"/>
              <a:t>đủ</a:t>
            </a:r>
            <a:r>
              <a:rPr lang="en-US" sz="2400" dirty="0"/>
              <a:t> </a:t>
            </a:r>
            <a:r>
              <a:rPr lang="en-US" sz="2400" dirty="0" err="1"/>
              <a:t>lớn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giảm</a:t>
            </a:r>
            <a:r>
              <a:rPr lang="en-US" sz="2400" dirty="0"/>
              <a:t> </a:t>
            </a:r>
            <a:r>
              <a:rPr lang="en-US" sz="2400" dirty="0" err="1"/>
              <a:t>tỷ</a:t>
            </a:r>
            <a:r>
              <a:rPr lang="en-US" sz="2400" dirty="0"/>
              <a:t> </a:t>
            </a:r>
            <a:r>
              <a:rPr lang="en-US" sz="2400" dirty="0" err="1"/>
              <a:t>lệ</a:t>
            </a:r>
            <a:r>
              <a:rPr lang="en-US" sz="2400" dirty="0"/>
              <a:t> </a:t>
            </a:r>
            <a:r>
              <a:rPr lang="en-US" sz="2400" dirty="0" err="1"/>
              <a:t>thất</a:t>
            </a:r>
            <a:r>
              <a:rPr lang="en-US" sz="2400" dirty="0"/>
              <a:t> </a:t>
            </a:r>
            <a:r>
              <a:rPr lang="en-US" sz="2400" dirty="0" err="1"/>
              <a:t>bại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nhớ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0.5%?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567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76200"/>
            <a:ext cx="8839200" cy="12192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CACHE NHIỀU MỨC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t="50123" r="31153" b="24147"/>
          <a:stretch/>
        </p:blipFill>
        <p:spPr bwMode="auto">
          <a:xfrm>
            <a:off x="304800" y="1427018"/>
            <a:ext cx="6707912" cy="219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54" t="23201" r="16245" b="44034"/>
          <a:stretch/>
        </p:blipFill>
        <p:spPr bwMode="auto">
          <a:xfrm>
            <a:off x="50599" y="3886200"/>
            <a:ext cx="9054149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710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76200"/>
            <a:ext cx="8839200" cy="12192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CACHE NHIỀU MỨC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87" t="34374" r="16215" b="16478"/>
          <a:stretch/>
        </p:blipFill>
        <p:spPr bwMode="auto">
          <a:xfrm>
            <a:off x="152400" y="1524000"/>
            <a:ext cx="8915400" cy="4038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304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1427</Words>
  <Application>Microsoft Office PowerPoint</Application>
  <PresentationFormat>On-screen Show (4:3)</PresentationFormat>
  <Paragraphs>68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Chương 4: Bộ nhớ</vt:lpstr>
      <vt:lpstr>Giới thiệu</vt:lpstr>
      <vt:lpstr>Bộ nhớ cache</vt:lpstr>
      <vt:lpstr>Bộ nhớ cache</vt:lpstr>
      <vt:lpstr>Bộ nhớ cache</vt:lpstr>
      <vt:lpstr>Truy cập bộ nhớ cache</vt:lpstr>
      <vt:lpstr>Xử lý ghi</vt:lpstr>
      <vt:lpstr>ĐO LƯỜNG VÀ CẢI TIẾN HIỆU SUẤT CACHE</vt:lpstr>
      <vt:lpstr>ĐO LƯỜNG VÀ CẢI TIẾN HIỆU SUẤT CACHE</vt:lpstr>
      <vt:lpstr>ĐO LƯỜNG VÀ CẢI TIẾN HIỆU SUẤT CACHE</vt:lpstr>
      <vt:lpstr>ĐO LƯỜNG VÀ CẢI TIẾN HIỆU SUẤT CACHE</vt:lpstr>
      <vt:lpstr>THAY THẾ KHỐI</vt:lpstr>
      <vt:lpstr>THAY THẾ KHỐI</vt:lpstr>
      <vt:lpstr>THAY THẾ KHỐI</vt:lpstr>
      <vt:lpstr>THAY THẾ KHỐI</vt:lpstr>
      <vt:lpstr>THAY THẾ KHỐI</vt:lpstr>
      <vt:lpstr>THAY THẾ KHỐI</vt:lpstr>
      <vt:lpstr>XÁC ĐỊNH KHỐI TRONG CACHE</vt:lpstr>
      <vt:lpstr>THAY THẾ KHỐI</vt:lpstr>
      <vt:lpstr>THAY THẾ KHỐI</vt:lpstr>
      <vt:lpstr>CACHE NHIỀU MỨC</vt:lpstr>
      <vt:lpstr>CACHE NHIỀU MỨC</vt:lpstr>
      <vt:lpstr>CACHE NHIỀU MỨC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4: Bộ nhớ</dc:title>
  <dc:creator>USER</dc:creator>
  <cp:lastModifiedBy>Guest_pc</cp:lastModifiedBy>
  <cp:revision>12</cp:revision>
  <dcterms:created xsi:type="dcterms:W3CDTF">2006-08-16T00:00:00Z</dcterms:created>
  <dcterms:modified xsi:type="dcterms:W3CDTF">2016-11-15T12:19:12Z</dcterms:modified>
</cp:coreProperties>
</file>